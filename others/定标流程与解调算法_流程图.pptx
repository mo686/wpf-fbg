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766E"/>
                </a:solidFill>
                <a:latin typeface="Microsoft YaHei"/>
              </a:rPr>
              <a:t>定标阶段流程图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00" y="720000"/>
            <a:ext cx="1620000" cy="54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</a:rPr>
              <a:t>系统初始化
连接激光器/VNA/Zynq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1548000"/>
            <a:ext cx="162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设置 MRR 电压
V = V_ref (1.25V)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0000" y="2376000"/>
            <a:ext cx="162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设置激光器波长
λ = λ_ref + Δλᵢ/1000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3204000"/>
            <a:ext cx="162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等待波长稳定
(1 秒)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0000" y="4032000"/>
            <a:ext cx="162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VNA 测量 S21
6001点, 10MHz~30GHz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4860000"/>
            <a:ext cx="162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保存 CSV 文件
delta_lambda_{Δλ}.csv</a:t>
            </a:r>
          </a:p>
        </p:txBody>
      </p:sp>
      <p:sp>
        <p:nvSpPr>
          <p:cNvPr id="9" name="Diamond 8"/>
          <p:cNvSpPr/>
          <p:nvPr/>
        </p:nvSpPr>
        <p:spPr>
          <a:xfrm>
            <a:off x="1530000" y="5688000"/>
            <a:ext cx="1440000" cy="720000"/>
          </a:xfrm>
          <a:prstGeom prst="diamond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所有 Δλ
完成?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0000" y="1440000"/>
            <a:ext cx="1800000" cy="5400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移动平均平滑 (N=5)
提取谐振峰频率 f_peak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0000" y="2268000"/>
            <a:ext cx="1800000" cy="72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</a:rPr>
              <a:t>构建定标映射表
T = {(Δλᵢ, f_peak_i, Curve_i)}
按 f_peak 升序排列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720000"/>
            <a:ext cx="2340000" cy="18000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定标参数
━━━━━━━━━━━━━━
λ_ref = 1551.85 nm
V_ref = 1.25 V
Δλ 范围: -160 ~ +160 pm
Δλ 步长: 2 pm (161条)
VNA: 10MHz~30GHz, 6001点
功率: -10 dBm
IF BW: 1000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5939999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否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5939999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766E"/>
                </a:solidFill>
                <a:latin typeface="Microsoft YaHei"/>
              </a:rPr>
              <a:t>是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2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766E"/>
                </a:solidFill>
                <a:latin typeface="Microsoft YaHei"/>
              </a:rPr>
              <a:t>解调阶段流程图（归一化互相关匹配法）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720000"/>
            <a:ext cx="1800000" cy="54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</a:rPr>
              <a:t>① 加载实测 S21 曲线
(多电压扫描数据)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511999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② 提取实测峰值频率
f_meas = argmax M̃(f)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2303998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③ 二分查找 K 条候选
定标曲线 (K=3)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3095997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④ 频率轴插值对齐
Δf = 0.01 GHz, 线性插值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887996"/>
            <a:ext cx="1800000" cy="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⑤ 归一化互相关
ρ = Σ(a-ā)(b-b̄)/(n·σₐ·σᵦ)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4679995"/>
            <a:ext cx="1800000" cy="5400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⑥ 选择全局 ρ_max
对应 Δλ* 和 V*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5471994"/>
            <a:ext cx="1800000" cy="540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</a:rPr>
              <a:t>⑦ 温度计算
T = T₀ + Δλ*/α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720000"/>
            <a:ext cx="2520000" cy="12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归一化互相关系数 (NCC)
━━━━━━━━━━━━━━━━━━━━
        Σᵢ (aᵢ - ā)(bᵢ - b̄)
ρ = ─────────────────────
          n · σₐ · σᵦ
ρ ∈ [-1, 1]
ρ → 1: 曲线形状高度相似
ρ &gt; 0.9: 高置信度匹配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2232000"/>
            <a:ext cx="2520000" cy="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F2937"/>
                </a:solidFill>
                <a:latin typeface="Microsoft YaHei"/>
              </a:rPr>
              <a:t>温度解调公式
━━━━━━━━━━━━━━━━━━━━
Δλ = α · ΔT    (α = 9.08 pm/°C)
T = T₀ + Δλ*/α  (T₀ = 20°C)
λ_FBG = λ_ref + Δλ/1000 (nm)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0" y="3312000"/>
            <a:ext cx="2520000" cy="1007999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算法特点
━━━━━━━━━━━━━━━━━━━━
✓ 全频段形状匹配，鲁棒性强
✓ 归一化处理，对幅度变化不敏感
✓ 二分查找预筛选，计算高效
✓ 多电压扫描，提高可靠性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766E"/>
                </a:solidFill>
                <a:latin typeface="Microsoft YaHei"/>
              </a:rPr>
              <a:t>FBG+MRR 温度传感系统 — 数据流框图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2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766E"/>
                </a:solidFill>
                <a:latin typeface="Microsoft YaHei"/>
              </a:rPr>
              <a:t>【定标阶段】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0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可调谐激光器
λ = λ_ref + Δλ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0000" y="90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FBG
(波长滤波)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60000" y="90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MRR
(V = V_ref)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0" y="90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VNA
(S21 测量)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40000" y="90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定标映射表
Δλ ↔ f_peak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111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111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0" y="111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0000" y="111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1800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59E0B"/>
                </a:solidFill>
                <a:latin typeface="Microsoft YaHei"/>
              </a:rPr>
              <a:t>【解调阶段】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198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Zynq 电压控制
(V 扫描)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0000" y="198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MRR
(电压调谐)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0000" y="198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VNA
(S21 测量)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0" y="1980000"/>
            <a:ext cx="1440000" cy="6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归一化互相关
曲线匹配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000" y="1980000"/>
            <a:ext cx="1440000" cy="648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温度输出
T = T₀+Δλ/α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219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9E0B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219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9E0B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219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9E0B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000" y="2196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9E0B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0" y="1548000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Microsoft YaHei"/>
              </a:rPr>
              <a:t>↓ 定标表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