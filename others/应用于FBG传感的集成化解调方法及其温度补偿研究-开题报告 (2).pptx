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1.svg" ContentType="image/svg+xml"/>
  <Override PartName="/ppt/media/image25.svg" ContentType="image/svg+xml"/>
  <Override PartName="/ppt/media/image27.svg" ContentType="image/svg+xml"/>
  <Override PartName="/ppt/media/image29.svg" ContentType="image/svg+xml"/>
  <Override PartName="/ppt/media/image4.svg" ContentType="image/svg+xml"/>
  <Override PartName="/ppt/media/image46.svg" ContentType="image/svg+xml"/>
  <Override PartName="/ppt/media/image48.svg" ContentType="image/svg+xml"/>
  <Override PartName="/ppt/media/image50.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 id="2147483672" r:id="rId9"/>
  </p:sldMasterIdLst>
  <p:notesMasterIdLst>
    <p:notesMasterId r:id="rId11"/>
  </p:notesMasterIdLst>
  <p:sldIdLst>
    <p:sldId id="256" r:id="rId10"/>
    <p:sldId id="257" r:id="rId12"/>
    <p:sldId id="259" r:id="rId13"/>
    <p:sldId id="261" r:id="rId14"/>
    <p:sldId id="271" r:id="rId15"/>
    <p:sldId id="272" r:id="rId16"/>
    <p:sldId id="263" r:id="rId17"/>
    <p:sldId id="264" r:id="rId18"/>
    <p:sldId id="275" r:id="rId19"/>
    <p:sldId id="273" r:id="rId20"/>
    <p:sldId id="274" r:id="rId21"/>
    <p:sldId id="265" r:id="rId22"/>
    <p:sldId id="268" r:id="rId23"/>
    <p:sldId id="276" r:id="rId2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9" userDrawn="1">
          <p15:clr>
            <a:srgbClr val="747775"/>
          </p15:clr>
        </p15:guide>
        <p15:guide id="2" pos="2884"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E2E5"/>
    <a:srgbClr val="3656A9"/>
    <a:srgbClr val="1E6EBE"/>
    <a:srgbClr val="00529B"/>
    <a:srgbClr val="0A60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p:scale>
          <a:sx n="75" d="100"/>
          <a:sy n="75" d="100"/>
        </p:scale>
        <p:origin x="300" y="-172"/>
      </p:cViewPr>
      <p:guideLst>
        <p:guide orient="horz" pos="1629"/>
        <p:guide pos="288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notesMaster" Target="notesMasters/notesMaster1.xml"/><Relationship Id="rId10" Type="http://schemas.openxmlformats.org/officeDocument/2006/relationships/slide" Target="slides/slid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下午好。我是研究生朱梓潇，我的论文题目是《应用于FBG传感的集成化解调方法及其温度补偿研究》。本次报告将围绕研究背景、核心内容、可行性分析以及研究计划等方面展开。首先，请允许我介绍本课题的研究背景与意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光纤布拉格光栅，简称FBG，是一种极具潜力的光学传感器。它具有抗电磁干扰、灵敏度高、体积小和易于组网等显著优点，因此被广泛应用于结构健康监测、航空航天和电力系统等关键领域。然而，要充分发挥FBG的性能，核心挑战在于如何精确地解调其反射光波长的微小变化。解调系统的精度和稳定性，是决定整个传感系统性能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尽管AWG解调技术取得了长足进步，但仍面临两大瓶颈。首先是温度稳定性差，AWG芯片本身对温度敏感，导致解调结果产生漂移。传统的恒温方案功耗和体积过大，而现有的补偿方法精度有限且适用场景窄。其次，传统光域解调的精度已接近物理极限。为了突破这一瓶颈，我们将目光投向了微波光子学技术，它有望通过将光信号转换为微波信号来实现更高的测量精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研究内容的第一部分，是设计一套基于参考FBG的温度补偿方案。我们的目标是解决AWG解调系统在变温环境下的精度劣化问题。技术上，我们引入一个恒温封装的参考FBG，通过监测它的表观波长变化来实时计算并补偿AWG芯片的温度漂移。这个方案基于我们课题组成熟的研究基础，仅需增加一个参考通道和相应算法，技术路径清晰，具备高度可行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研究内容的第一部分，是设计一套基于参考FBG的温度补偿方案。我们的目标是解决AWG解调系统在变温环境下的精度劣化问题。技术上，我们引入一个恒温封装的参考FBG，通过监测它的表观波长变化来实时计算并补偿AWG芯片的温度漂移。这个方案基于我们课题组成熟的研究基础，仅需增加一个参考通道和相应算法，技术路径清晰，具备高度可行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研究内容的第一部分，是设计一套基于参考FBG的温度补偿方案。我们的目标是解决AWG解调系统在变温环境下的精度劣化问题。技术上，我们引入一个恒温封装的参考FBG，通过监测它的表观波长变化来实时计算并补偿AWG芯片的温度漂移。这个方案基于我们课题组成熟的研究基础，仅需增加一个参考通道和相应算法，技术路径清晰，具备高度可行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研究内容的第二部分，是探索基于微波光子滤波器的解调系统。我们的目标是突破传统光域解调的精度极限。</a:t>
            </a:r>
            <a:endParaRPr lang="en-US" sz="1400" b="0" i="0" u="none" strike="noStrike">
              <a:solidFill>
                <a:srgbClr val="000000"/>
              </a:solidFill>
            </a:endParaRPr>
          </a:p>
          <a:p>
            <a:pPr indent="0" algn="l">
              <a:lnSpc>
                <a:spcPct val="100000"/>
              </a:lnSpc>
            </a:pPr>
            <a:r>
              <a:rPr lang="en-US" sz="1400" b="0" i="0" u="none" strike="noStrike">
                <a:solidFill>
                  <a:srgbClr val="000000"/>
                </a:solidFill>
              </a:rPr>
              <a:t>技术上，我们利用微环谐振器构建微波光子滤波器，巧妙地将光波长的变化转换为易于高精度测量的微波频率变化。为了保证解调精度，我们还设计了一套三级判决的解调算法，结合了峰值预筛选、互相关匹配和多功率择优。</a:t>
            </a:r>
            <a:endParaRPr lang="en-US" sz="1400" b="0" i="0" u="none" strike="noStrike">
              <a:solidFill>
                <a:srgbClr val="000000"/>
              </a:solidFill>
            </a:endParaRPr>
          </a:p>
          <a:p>
            <a:pPr indent="0" algn="l">
              <a:lnSpc>
                <a:spcPct val="100000"/>
              </a:lnSpc>
            </a:pPr>
            <a:r>
              <a:rPr lang="en-US" sz="1400" b="0" i="0" u="none" strike="noStrike">
                <a:solidFill>
                  <a:srgbClr val="000000"/>
                </a:solidFill>
              </a:rPr>
              <a:t>关于方案的可行性，我们从原理上论证了利用电域测量仪器可以轻松获得Hz级的分辨率，从而对应光域的亚皮米级精度。同时，我们也已经完成了实验平台的搭建，初步的实验结果也充分证明了这一方案在提升解调精度方面的巨大潜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搭建的微波光子解调系统链路图。通过自动化控制，我们实现了全流程的自动测量。实验结果非常令人振奋：我们不仅成功实现了温度传感功能，更在宽温区内获得了优于1pm的解调分辨率，最优可达0.2pm，这充分展示了该方案的超高精度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搭建的微波光子解调系统链路图。通过自动化控制，我们实现了全流程的自动测量。实验结果非常令人振奋：我们不仅成功实现了温度传感功能，更在宽温区内获得了优于1pm的解调分辨率，最优可达0.2pm，这充分展示了该方案的超高精度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搭建的微波光子解调系统链路图。通过自动化控制，我们实现了全流程的自动测量。实验结果非常令人振奋：我们不仅成功实现了温度传感功能，更在宽温区内获得了优于1pm的解调分辨率，最优可达0.2pm，这充分展示了该方案的超高精度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搭建的微波光子解调系统链路图。通过自动化控制，我们实现了全流程的自动测量。实验结果非常令人振奋：我们不仅成功实现了温度传感功能，更在宽温区内获得了优于1pm的解调分辨率，最优可达0.2pm，这充分展示了该方案的超高精度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关于论文的实施计划，我们已经完成了第一阶段的理论研究和方案设计。目前正处于第二阶段，即系统搭建与实验验证阶段，两个方案的实验工作都在进行中。接下来，我们将进入第三阶段，进行系统性的数据采集和论文撰写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对本次开题报告进行总结。本课题聚焦于FBG解调技术中的温度稳定性和精度极限两大挑战，提出了两个解决方案：一是通过参考FBG实现实时温度补偿，提升工程实用性；二是利用微波光子学技术探索更高精度的解调路径。前期的研究基础和初步实验结果，充分证明了我们研究方案的可行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下午好。我是研究生朱梓潇，我的论文题目是《应用于FBG传感的集成化解调方法及其温度补偿研究》。本次报告将围绕研究背景、核心内容、可行性分析以及研究计划等方面展开。首先，请允许我介绍本课题的研究背景与意义。</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1" Type="http://schemas.openxmlformats.org/officeDocument/2006/relationships/notesSlide" Target="../notesSlides/notesSlide2.xml"/><Relationship Id="rId20" Type="http://schemas.openxmlformats.org/officeDocument/2006/relationships/slideLayout" Target="../slideLayouts/slideLayout12.xml"/><Relationship Id="rId2" Type="http://schemas.openxmlformats.org/officeDocument/2006/relationships/image" Target="../media/image3.png"/><Relationship Id="rId19" Type="http://schemas.openxmlformats.org/officeDocument/2006/relationships/image" Target="../media/image1.png"/><Relationship Id="rId18" Type="http://schemas.openxmlformats.org/officeDocument/2006/relationships/image" Target="../media/image19.jpeg"/><Relationship Id="rId17" Type="http://schemas.openxmlformats.org/officeDocument/2006/relationships/image" Target="../media/image18.svg"/><Relationship Id="rId16" Type="http://schemas.openxmlformats.org/officeDocument/2006/relationships/image" Target="../media/image17.png"/><Relationship Id="rId15" Type="http://schemas.openxmlformats.org/officeDocument/2006/relationships/image" Target="../media/image16.svg"/><Relationship Id="rId14" Type="http://schemas.openxmlformats.org/officeDocument/2006/relationships/image" Target="../media/image15.png"/><Relationship Id="rId13" Type="http://schemas.openxmlformats.org/officeDocument/2006/relationships/image" Target="../media/image14.svg"/><Relationship Id="rId12" Type="http://schemas.openxmlformats.org/officeDocument/2006/relationships/image" Target="../media/image13.png"/><Relationship Id="rId11" Type="http://schemas.openxmlformats.org/officeDocument/2006/relationships/image" Target="../media/image12.svg"/><Relationship Id="rId10" Type="http://schemas.openxmlformats.org/officeDocument/2006/relationships/image" Target="../media/image11.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2.xml"/><Relationship Id="rId7" Type="http://schemas.openxmlformats.org/officeDocument/2006/relationships/image" Target="../media/image1.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21.svg"/><Relationship Id="rId1" Type="http://schemas.openxmlformats.org/officeDocument/2006/relationships/image" Target="../media/image20.png"/></Relationships>
</file>

<file path=ppt/slides/_rels/slide4.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image" Target="../media/image31.png"/><Relationship Id="rId7" Type="http://schemas.openxmlformats.org/officeDocument/2006/relationships/image" Target="../media/image30.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 Id="rId3" Type="http://schemas.openxmlformats.org/officeDocument/2006/relationships/image" Target="../media/image26.png"/><Relationship Id="rId2" Type="http://schemas.openxmlformats.org/officeDocument/2006/relationships/image" Target="../media/image25.svg"/><Relationship Id="rId14" Type="http://schemas.openxmlformats.org/officeDocument/2006/relationships/notesSlide" Target="../notesSlides/notesSlide4.xml"/><Relationship Id="rId13" Type="http://schemas.openxmlformats.org/officeDocument/2006/relationships/slideLayout" Target="../slideLayouts/slideLayout12.xml"/><Relationship Id="rId12" Type="http://schemas.openxmlformats.org/officeDocument/2006/relationships/image" Target="../media/image34.jpeg"/><Relationship Id="rId11" Type="http://schemas.openxmlformats.org/officeDocument/2006/relationships/image" Target="../media/image33.jpeg"/><Relationship Id="rId10" Type="http://schemas.openxmlformats.org/officeDocument/2006/relationships/image" Target="../media/image32.jpeg"/><Relationship Id="rId1" Type="http://schemas.openxmlformats.org/officeDocument/2006/relationships/image" Target="../media/image24.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3.xml"/><Relationship Id="rId3"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4.xml"/><Relationship Id="rId5" Type="http://schemas.openxmlformats.org/officeDocument/2006/relationships/image" Target="../media/image34.jpeg"/><Relationship Id="rId4" Type="http://schemas.openxmlformats.org/officeDocument/2006/relationships/image" Target="../media/image33.jpeg"/><Relationship Id="rId3" Type="http://schemas.openxmlformats.org/officeDocument/2006/relationships/image" Target="../media/image32.jpeg"/><Relationship Id="rId2" Type="http://schemas.openxmlformats.org/officeDocument/2006/relationships/image" Target="../media/image36.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2.xml"/><Relationship Id="rId7" Type="http://schemas.openxmlformats.org/officeDocument/2006/relationships/image" Target="../media/image29.svg"/><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7.xml"/><Relationship Id="rId2" Type="http://schemas.openxmlformats.org/officeDocument/2006/relationships/image" Target="../media/image39.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image" Target="../media/image41.png"/><Relationship Id="rId7" Type="http://schemas.openxmlformats.org/officeDocument/2006/relationships/image" Target="../media/image40.png"/><Relationship Id="rId6" Type="http://schemas.openxmlformats.org/officeDocument/2006/relationships/image" Target="../media/image1.png"/><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10.xml"/><Relationship Id="rId13" Type="http://schemas.openxmlformats.org/officeDocument/2006/relationships/slideLayout" Target="../slideLayouts/slideLayout15.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6.xml"/><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2.xml"/><Relationship Id="rId2" Type="http://schemas.openxmlformats.org/officeDocument/2006/relationships/tags" Target="../tags/tag10.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image" Target="../media/image46.svg"/><Relationship Id="rId31" Type="http://schemas.openxmlformats.org/officeDocument/2006/relationships/notesSlide" Target="../notesSlides/notesSlide13.xml"/><Relationship Id="rId30" Type="http://schemas.openxmlformats.org/officeDocument/2006/relationships/slideLayout" Target="../slideLayouts/slideLayout12.xml"/><Relationship Id="rId3" Type="http://schemas.openxmlformats.org/officeDocument/2006/relationships/image" Target="../media/image45.png"/><Relationship Id="rId29" Type="http://schemas.openxmlformats.org/officeDocument/2006/relationships/image" Target="../media/image1.png"/><Relationship Id="rId28" Type="http://schemas.openxmlformats.org/officeDocument/2006/relationships/tags" Target="../tags/tag30.xml"/><Relationship Id="rId27" Type="http://schemas.openxmlformats.org/officeDocument/2006/relationships/tags" Target="../tags/tag29.xml"/><Relationship Id="rId26" Type="http://schemas.openxmlformats.org/officeDocument/2006/relationships/tags" Target="../tags/tag28.xml"/><Relationship Id="rId25" Type="http://schemas.openxmlformats.org/officeDocument/2006/relationships/image" Target="../media/image50.svg"/><Relationship Id="rId24" Type="http://schemas.openxmlformats.org/officeDocument/2006/relationships/image" Target="../media/image49.png"/><Relationship Id="rId23" Type="http://schemas.openxmlformats.org/officeDocument/2006/relationships/tags" Target="../tags/tag27.xml"/><Relationship Id="rId22" Type="http://schemas.openxmlformats.org/officeDocument/2006/relationships/tags" Target="../tags/tag26.xml"/><Relationship Id="rId21" Type="http://schemas.openxmlformats.org/officeDocument/2006/relationships/tags" Target="../tags/tag25.xml"/><Relationship Id="rId20" Type="http://schemas.openxmlformats.org/officeDocument/2006/relationships/tags" Target="../tags/tag24.xml"/><Relationship Id="rId2" Type="http://schemas.openxmlformats.org/officeDocument/2006/relationships/tags" Target="../tags/tag12.xml"/><Relationship Id="rId19" Type="http://schemas.openxmlformats.org/officeDocument/2006/relationships/tags" Target="../tags/tag23.xml"/><Relationship Id="rId18" Type="http://schemas.openxmlformats.org/officeDocument/2006/relationships/image" Target="../media/image48.svg"/><Relationship Id="rId17" Type="http://schemas.openxmlformats.org/officeDocument/2006/relationships/image" Target="../media/image47.png"/><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image" Target="../media/image21.svg"/><Relationship Id="rId10" Type="http://schemas.openxmlformats.org/officeDocument/2006/relationships/image" Target="../media/image20.png"/><Relationship Id="rId1" Type="http://schemas.openxmlformats.org/officeDocument/2006/relationships/tags" Target="../tags/tag1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8.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2" name="AutoShape 2"/>
          <p:cNvSpPr/>
          <p:nvPr/>
        </p:nvSpPr>
        <p:spPr>
          <a:xfrm>
            <a:off x="0" y="2232025"/>
            <a:ext cx="12192000" cy="1778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508000" y="2486025"/>
            <a:ext cx="11176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a:solidFill>
                  <a:srgbClr val="FFFFFF"/>
                </a:solidFill>
                <a:latin typeface="Noto Sans SC" panose="020B0200000000000000" charset="-122"/>
                <a:ea typeface="Noto Sans SC" panose="020B0200000000000000" charset="-122"/>
                <a:cs typeface="Noto Sans SC" panose="020B0200000000000000" charset="-122"/>
              </a:rPr>
              <a:t>面向FBG传感的片上高精度、高稳定性解调方法研究</a:t>
            </a:r>
            <a:endParaRPr lang="en-US" sz="36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4" name="AutoShape 4"/>
          <p:cNvSpPr/>
          <p:nvPr/>
        </p:nvSpPr>
        <p:spPr>
          <a:xfrm>
            <a:off x="3904615" y="4481195"/>
            <a:ext cx="4382770" cy="1397000"/>
          </a:xfrm>
          <a:prstGeom prst="roundRect">
            <a:avLst>
              <a:gd name="adj" fmla="val 10909"/>
            </a:avLst>
          </a:prstGeom>
          <a:solidFill>
            <a:srgbClr val="FFFFFF">
              <a:alpha val="100000"/>
            </a:srgbClr>
          </a:solidFill>
          <a:ln w="12700" cap="flat" cmpd="sng">
            <a:solidFill>
              <a:srgbClr val="00529B">
                <a:alpha val="100000"/>
              </a:srgbClr>
            </a:solidFill>
            <a:prstDash val="solid"/>
            <a:round/>
          </a:ln>
        </p:spPr>
        <p:txBody>
          <a:bodyPr vert="horz" wrap="square" lIns="0" tIns="0" rIns="0" bIns="0" rtlCol="0" anchor="ctr" anchorCtr="0"/>
          <a:lstStyle/>
          <a:p>
            <a:pPr algn="ctr">
              <a:defRPr/>
            </a:pPr>
          </a:p>
        </p:txBody>
      </p:sp>
      <p:sp>
        <p:nvSpPr>
          <p:cNvPr id="5" name="AutoShape 5"/>
          <p:cNvSpPr/>
          <p:nvPr/>
        </p:nvSpPr>
        <p:spPr>
          <a:xfrm>
            <a:off x="4456430" y="4671695"/>
            <a:ext cx="3189605" cy="1016000"/>
          </a:xfrm>
          <a:prstGeom prst="rect">
            <a:avLst/>
          </a:prstGeom>
          <a:noFill/>
          <a:ln w="12700" cap="flat" cmpd="sng">
            <a:noFill/>
            <a:prstDash val="solid"/>
            <a:round/>
          </a:ln>
        </p:spPr>
        <p:txBody>
          <a:bodyPr vert="horz" wrap="square" lIns="0" tIns="0" rIns="0" bIns="0" rtlCol="0" anchor="ctr" anchorCtr="0"/>
          <a:lstStyle/>
          <a:p>
            <a:pPr algn="ctr">
              <a:lnSpc>
                <a:spcPct val="125000"/>
              </a:lnSpc>
              <a:buSzTx/>
              <a:defRPr/>
            </a:pPr>
            <a:r>
              <a:rPr lang="en-US" sz="1800">
                <a:solidFill>
                  <a:srgbClr val="00529B"/>
                </a:solidFill>
                <a:latin typeface="Noto Sans SC" panose="020B0200000000000000" charset="-122"/>
                <a:ea typeface="Noto Sans SC" panose="020B0200000000000000" charset="-122"/>
                <a:cs typeface="Noto Sans SC" panose="020B0200000000000000" charset="-122"/>
              </a:rPr>
              <a:t>汇报人：</a:t>
            </a:r>
            <a:r>
              <a:rPr lang="en-US" sz="1800" i="0" u="none" strike="noStrike">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朱梓潇  </a:t>
            </a:r>
            <a:r>
              <a:rPr lang="en-US" sz="1800" i="0" u="none" strike="noStrike">
                <a:solidFill>
                  <a:srgbClr val="00529B"/>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241934</a:t>
            </a:r>
            <a:endParaRPr lang="en-US" sz="1800" i="0" u="none" strike="noStrike">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gn="ctr">
              <a:lnSpc>
                <a:spcPct val="125000"/>
              </a:lnSpc>
              <a:buSzTx/>
              <a:defRPr/>
            </a:pPr>
            <a:r>
              <a:rPr lang="en-US" sz="180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导师：胡国华 教授</a:t>
            </a:r>
            <a:endParaRPr lang="en-US" sz="1800" b="0" i="0" u="none" strike="noStrike">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sz="180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日期：</a:t>
            </a:r>
            <a:r>
              <a:rPr lang="en-US" sz="1800">
                <a:solidFill>
                  <a:srgbClr val="00529B"/>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2026</a:t>
            </a:r>
            <a:r>
              <a:rPr lang="en-US" sz="180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年</a:t>
            </a:r>
            <a:r>
              <a:rPr lang="en-US" sz="1800">
                <a:solidFill>
                  <a:srgbClr val="00529B"/>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5</a:t>
            </a:r>
            <a:r>
              <a:rPr lang="en-US" sz="180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月</a:t>
            </a:r>
            <a:r>
              <a:rPr lang="en-US" sz="1800">
                <a:solidFill>
                  <a:srgbClr val="00529B"/>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22</a:t>
            </a:r>
            <a:r>
              <a:rPr lang="en-US" sz="180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日</a:t>
            </a:r>
            <a:endParaRPr lang="en-US" altLang="en-US" sz="1800" b="1" i="0" u="none" strike="noStrike">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图片 10"/>
          <p:cNvPicPr>
            <a:picLocks noChangeAspect="1"/>
          </p:cNvPicPr>
          <p:nvPr/>
        </p:nvPicPr>
        <p:blipFill>
          <a:blip r:embed="rId1" cstate="print"/>
          <a:stretch>
            <a:fillRect/>
          </a:stretch>
        </p:blipFill>
        <p:spPr>
          <a:xfrm>
            <a:off x="4359275" y="738505"/>
            <a:ext cx="3473450" cy="11049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10" name="AutoShape 10"/>
          <p:cNvSpPr/>
          <p:nvPr/>
        </p:nvSpPr>
        <p:spPr>
          <a:xfrm>
            <a:off x="762000" y="72263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研究背景与意义</a:t>
            </a:r>
            <a:endParaRPr lang="en-US" sz="1100" dirty="0"/>
          </a:p>
        </p:txBody>
      </p:sp>
      <p:sp>
        <p:nvSpPr>
          <p:cNvPr id="11" name="AutoShape 11"/>
          <p:cNvSpPr/>
          <p:nvPr/>
        </p:nvSpPr>
        <p:spPr>
          <a:xfrm>
            <a:off x="762000" y="1611630"/>
            <a:ext cx="5207000" cy="2286000"/>
          </a:xfrm>
          <a:prstGeom prst="roundRect">
            <a:avLst>
              <a:gd name="adj" fmla="val 4444"/>
            </a:avLst>
          </a:prstGeom>
          <a:solidFill>
            <a:srgbClr val="FFFFFF">
              <a:alpha val="100000"/>
            </a:srgbClr>
          </a:solidFill>
          <a:ln w="12700" cap="flat" cmpd="sng">
            <a:solidFill>
              <a:srgbClr val="00529B">
                <a:alpha val="3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p>
        </p:txBody>
      </p:sp>
      <p:pic>
        <p:nvPicPr>
          <p:cNvPr id="12" name="Picture 1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38630"/>
            <a:ext cx="508000" cy="508000"/>
          </a:xfrm>
          <a:prstGeom prst="rect">
            <a:avLst/>
          </a:prstGeom>
        </p:spPr>
      </p:pic>
      <p:sp>
        <p:nvSpPr>
          <p:cNvPr id="13" name="AutoShape 13"/>
          <p:cNvSpPr/>
          <p:nvPr/>
        </p:nvSpPr>
        <p:spPr>
          <a:xfrm>
            <a:off x="1651000" y="1683597"/>
            <a:ext cx="1955800" cy="56303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FBG传感器</a:t>
            </a:r>
            <a:endParaRPr lang="en-US" sz="2400" dirty="0"/>
          </a:p>
        </p:txBody>
      </p:sp>
      <p:sp>
        <p:nvSpPr>
          <p:cNvPr id="14" name="AutoShape 14"/>
          <p:cNvSpPr/>
          <p:nvPr/>
        </p:nvSpPr>
        <p:spPr>
          <a:xfrm>
            <a:off x="762000" y="4151630"/>
            <a:ext cx="5207000" cy="2286000"/>
          </a:xfrm>
          <a:prstGeom prst="roundRect">
            <a:avLst>
              <a:gd name="adj" fmla="val 4444"/>
            </a:avLst>
          </a:prstGeom>
          <a:solidFill>
            <a:srgbClr val="FFFFFF">
              <a:alpha val="100000"/>
            </a:srgbClr>
          </a:solidFill>
          <a:ln w="12700" cap="flat" cmpd="sng">
            <a:solidFill>
              <a:srgbClr val="00529B">
                <a:alpha val="3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p>
        </p:txBody>
      </p:sp>
      <p:sp>
        <p:nvSpPr>
          <p:cNvPr id="15" name="AutoShape 15"/>
          <p:cNvSpPr/>
          <p:nvPr/>
        </p:nvSpPr>
        <p:spPr>
          <a:xfrm>
            <a:off x="1016000" y="434213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24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关键技术优势</a:t>
            </a:r>
            <a:endParaRPr lang="en-US" sz="2400" dirty="0"/>
          </a:p>
        </p:txBody>
      </p:sp>
      <p:pic>
        <p:nvPicPr>
          <p:cNvPr id="16" name="Picture 1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913630"/>
            <a:ext cx="304800" cy="304800"/>
          </a:xfrm>
          <a:prstGeom prst="rect">
            <a:avLst/>
          </a:prstGeom>
        </p:spPr>
      </p:pic>
      <p:sp>
        <p:nvSpPr>
          <p:cNvPr id="17" name="AutoShape 17"/>
          <p:cNvSpPr/>
          <p:nvPr/>
        </p:nvSpPr>
        <p:spPr>
          <a:xfrm>
            <a:off x="1397000" y="488823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抗电磁干扰</a:t>
            </a:r>
            <a:endParaRPr lang="en-US" sz="1600" dirty="0"/>
          </a:p>
          <a:p>
            <a:pPr indent="0" algn="l">
              <a:lnSpc>
                <a:spcPct val="125000"/>
              </a:lnSpc>
            </a:pPr>
            <a:r>
              <a:rPr lang="en-US" sz="16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适应高压强电磁环境</a:t>
            </a:r>
            <a:endParaRPr lang="en-US" sz="16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8" name="Picture 1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302000" y="4913630"/>
            <a:ext cx="304800" cy="304800"/>
          </a:xfrm>
          <a:prstGeom prst="rect">
            <a:avLst/>
          </a:prstGeom>
        </p:spPr>
      </p:pic>
      <p:sp>
        <p:nvSpPr>
          <p:cNvPr id="19" name="AutoShape 19"/>
          <p:cNvSpPr/>
          <p:nvPr/>
        </p:nvSpPr>
        <p:spPr>
          <a:xfrm>
            <a:off x="3683000" y="488823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超高灵敏度</a:t>
            </a:r>
            <a:endParaRPr lang="en-US" sz="1600" dirty="0"/>
          </a:p>
          <a:p>
            <a:pPr indent="0" algn="l">
              <a:lnSpc>
                <a:spcPct val="125000"/>
              </a:lnSpc>
            </a:pPr>
            <a:r>
              <a:rPr lang="zh-CN" altLang="en-US" sz="1600"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皮</a:t>
            </a:r>
            <a:r>
              <a:rPr lang="en-US" sz="16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米级物理量探测</a:t>
            </a:r>
            <a:endParaRPr lang="en-US" sz="16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548630"/>
            <a:ext cx="304800" cy="304800"/>
          </a:xfrm>
          <a:prstGeom prst="rect">
            <a:avLst/>
          </a:prstGeom>
        </p:spPr>
      </p:pic>
      <p:sp>
        <p:nvSpPr>
          <p:cNvPr id="21" name="AutoShape 21"/>
          <p:cNvSpPr/>
          <p:nvPr/>
        </p:nvSpPr>
        <p:spPr>
          <a:xfrm>
            <a:off x="1397000" y="552323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微小易集成</a:t>
            </a:r>
            <a:endParaRPr lang="en-US" sz="1600" dirty="0"/>
          </a:p>
          <a:p>
            <a:pPr indent="0" algn="l">
              <a:lnSpc>
                <a:spcPct val="125000"/>
              </a:lnSpc>
            </a:pPr>
            <a:r>
              <a:rPr lang="en-US" sz="16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便于复杂结构部署</a:t>
            </a:r>
            <a:endParaRPr lang="en-US" sz="16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302000" y="5548630"/>
            <a:ext cx="304800" cy="304800"/>
          </a:xfrm>
          <a:prstGeom prst="rect">
            <a:avLst/>
          </a:prstGeom>
        </p:spPr>
      </p:pic>
      <p:sp>
        <p:nvSpPr>
          <p:cNvPr id="23" name="AutoShape 23"/>
          <p:cNvSpPr/>
          <p:nvPr/>
        </p:nvSpPr>
        <p:spPr>
          <a:xfrm>
            <a:off x="3683000" y="5523230"/>
            <a:ext cx="190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err="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易于复用组网</a:t>
            </a:r>
            <a:endParaRPr lang="en-US" sz="1600" dirty="0"/>
          </a:p>
          <a:p>
            <a:pPr indent="0" algn="l">
              <a:lnSpc>
                <a:spcPct val="125000"/>
              </a:lnSpc>
            </a:pPr>
            <a:r>
              <a:rPr lang="en-US" sz="1600" b="0" i="0" u="none" strike="noStrike" dirty="0" err="1">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单纤多栅分布式监测</a:t>
            </a:r>
            <a:endParaRPr lang="en-US" sz="16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6223000" y="1611630"/>
            <a:ext cx="5207000" cy="2286000"/>
          </a:xfrm>
          <a:prstGeom prst="roundRect">
            <a:avLst>
              <a:gd name="adj" fmla="val 4444"/>
            </a:avLst>
          </a:prstGeom>
          <a:solidFill>
            <a:srgbClr val="FFFFFF">
              <a:alpha val="100000"/>
            </a:srgbClr>
          </a:solidFill>
          <a:ln w="12700" cap="flat" cmpd="sng">
            <a:solidFill>
              <a:srgbClr val="00529B">
                <a:alpha val="3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p>
        </p:txBody>
      </p:sp>
      <p:sp>
        <p:nvSpPr>
          <p:cNvPr id="25" name="AutoShape 25"/>
          <p:cNvSpPr/>
          <p:nvPr/>
        </p:nvSpPr>
        <p:spPr>
          <a:xfrm>
            <a:off x="6477000" y="180213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24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典型应用场景</a:t>
            </a:r>
            <a:endParaRPr lang="en-US" sz="2400" dirty="0"/>
          </a:p>
        </p:txBody>
      </p:sp>
      <p:sp>
        <p:nvSpPr>
          <p:cNvPr id="26" name="AutoShape 26"/>
          <p:cNvSpPr/>
          <p:nvPr/>
        </p:nvSpPr>
        <p:spPr>
          <a:xfrm>
            <a:off x="6477000" y="2437130"/>
            <a:ext cx="1524000" cy="1229360"/>
          </a:xfrm>
          <a:prstGeom prst="roundRect">
            <a:avLst>
              <a:gd name="adj" fmla="val 6666"/>
            </a:avLst>
          </a:prstGeom>
          <a:solidFill>
            <a:srgbClr val="EBF5FF">
              <a:alpha val="100000"/>
            </a:srgbClr>
          </a:solidFill>
          <a:ln w="25400" cap="flat" cmpd="sng">
            <a:noFill/>
            <a:prstDash val="solid"/>
            <a:round/>
          </a:ln>
        </p:spPr>
        <p:txBody>
          <a:bodyPr vert="horz" wrap="square" lIns="0" tIns="0" rIns="0" bIns="0" rtlCol="0" anchor="ctr" anchorCtr="0"/>
          <a:lstStyle/>
          <a:p>
            <a:pPr algn="ctr">
              <a:defRPr/>
            </a:pPr>
          </a:p>
        </p:txBody>
      </p:sp>
      <p:pic>
        <p:nvPicPr>
          <p:cNvPr id="27" name="Picture 2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78600" y="2564130"/>
            <a:ext cx="254000" cy="254000"/>
          </a:xfrm>
          <a:prstGeom prst="rect">
            <a:avLst/>
          </a:prstGeom>
        </p:spPr>
      </p:pic>
      <p:sp>
        <p:nvSpPr>
          <p:cNvPr id="28" name="AutoShape 28"/>
          <p:cNvSpPr/>
          <p:nvPr/>
        </p:nvSpPr>
        <p:spPr>
          <a:xfrm>
            <a:off x="6858000" y="2593763"/>
            <a:ext cx="1143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结构健康</a:t>
            </a:r>
            <a:endParaRPr lang="en-US" sz="1800" dirty="0"/>
          </a:p>
          <a:p>
            <a:pPr indent="0" algn="l">
              <a:lnSpc>
                <a:spcPct val="125000"/>
              </a:lnSpc>
            </a:pPr>
            <a:r>
              <a:rPr lang="en-US" sz="18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桥梁</a:t>
            </a:r>
            <a:r>
              <a:rPr lang="en-US" sz="18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大坝监测</a:t>
            </a:r>
            <a:endParaRPr lang="en-US" sz="18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nvSpPr>
        <p:spPr>
          <a:xfrm>
            <a:off x="8128000" y="2437130"/>
            <a:ext cx="1524000" cy="1228725"/>
          </a:xfrm>
          <a:prstGeom prst="roundRect">
            <a:avLst>
              <a:gd name="adj" fmla="val 6666"/>
            </a:avLst>
          </a:prstGeom>
          <a:solidFill>
            <a:srgbClr val="EBF5FF">
              <a:alpha val="100000"/>
            </a:srgbClr>
          </a:solidFill>
          <a:ln w="25400" cap="flat" cmpd="sng">
            <a:noFill/>
            <a:prstDash val="solid"/>
            <a:round/>
          </a:ln>
        </p:spPr>
        <p:txBody>
          <a:bodyPr vert="horz" wrap="square" lIns="0" tIns="0" rIns="0" bIns="0" rtlCol="0" anchor="ctr" anchorCtr="0"/>
          <a:lstStyle/>
          <a:p>
            <a:pPr algn="ctr">
              <a:defRPr/>
            </a:pPr>
          </a:p>
        </p:txBody>
      </p:sp>
      <p:pic>
        <p:nvPicPr>
          <p:cNvPr id="30" name="Picture 30"/>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29600" y="2564130"/>
            <a:ext cx="254000" cy="254000"/>
          </a:xfrm>
          <a:prstGeom prst="rect">
            <a:avLst/>
          </a:prstGeom>
        </p:spPr>
      </p:pic>
      <p:sp>
        <p:nvSpPr>
          <p:cNvPr id="31" name="AutoShape 31"/>
          <p:cNvSpPr/>
          <p:nvPr/>
        </p:nvSpPr>
        <p:spPr>
          <a:xfrm>
            <a:off x="8509000" y="2593763"/>
            <a:ext cx="1143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航空航天</a:t>
            </a:r>
            <a:endParaRPr lang="en-US" sz="1800" dirty="0"/>
          </a:p>
          <a:p>
            <a:pPr indent="0" algn="l">
              <a:lnSpc>
                <a:spcPct val="125000"/>
              </a:lnSpc>
            </a:pPr>
            <a:r>
              <a:rPr lang="en-US" sz="18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飞行器</a:t>
            </a:r>
            <a:endParaRPr lang="en-US" sz="18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8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监测</a:t>
            </a:r>
            <a:endParaRPr lang="en-US" sz="18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32"/>
          <p:cNvSpPr/>
          <p:nvPr/>
        </p:nvSpPr>
        <p:spPr>
          <a:xfrm>
            <a:off x="9753600" y="2437130"/>
            <a:ext cx="1524000" cy="1228725"/>
          </a:xfrm>
          <a:prstGeom prst="roundRect">
            <a:avLst>
              <a:gd name="adj" fmla="val 6666"/>
            </a:avLst>
          </a:prstGeom>
          <a:solidFill>
            <a:srgbClr val="EBF5FF">
              <a:alpha val="100000"/>
            </a:srgbClr>
          </a:solidFill>
          <a:ln w="25400" cap="flat" cmpd="sng">
            <a:noFill/>
            <a:prstDash val="solid"/>
            <a:round/>
          </a:ln>
        </p:spPr>
        <p:txBody>
          <a:bodyPr vert="horz" wrap="square" lIns="0" tIns="0" rIns="0" bIns="0" rtlCol="0" anchor="ctr" anchorCtr="0"/>
          <a:lstStyle/>
          <a:p>
            <a:pPr algn="ctr">
              <a:defRPr/>
            </a:pPr>
          </a:p>
        </p:txBody>
      </p:sp>
      <p:pic>
        <p:nvPicPr>
          <p:cNvPr id="33" name="Picture 33"/>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779000" y="2593763"/>
            <a:ext cx="254000" cy="254000"/>
          </a:xfrm>
          <a:prstGeom prst="rect">
            <a:avLst/>
          </a:prstGeom>
        </p:spPr>
      </p:pic>
      <p:sp>
        <p:nvSpPr>
          <p:cNvPr id="34" name="AutoShape 34"/>
          <p:cNvSpPr/>
          <p:nvPr/>
        </p:nvSpPr>
        <p:spPr>
          <a:xfrm>
            <a:off x="10058400" y="2593763"/>
            <a:ext cx="1143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电力能源</a:t>
            </a:r>
            <a:endParaRPr lang="en-US" sz="1800" dirty="0"/>
          </a:p>
          <a:p>
            <a:pPr indent="0" algn="l">
              <a:lnSpc>
                <a:spcPct val="125000"/>
              </a:lnSpc>
            </a:pPr>
            <a:r>
              <a:rPr lang="en-US" sz="18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电缆</a:t>
            </a:r>
            <a:r>
              <a:rPr lang="en-US" sz="18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0" i="0" u="none" strike="noStrike" dirty="0" err="1">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变电站</a:t>
            </a:r>
            <a:endParaRPr lang="en-US" sz="1800" b="0" i="0" u="none" strike="noStrike" dirty="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5" name="AutoShape 35"/>
          <p:cNvSpPr/>
          <p:nvPr/>
        </p:nvSpPr>
        <p:spPr>
          <a:xfrm>
            <a:off x="6223000" y="4151630"/>
            <a:ext cx="5207000" cy="2286000"/>
          </a:xfrm>
          <a:prstGeom prst="roundRect">
            <a:avLst>
              <a:gd name="adj" fmla="val 4444"/>
            </a:avLst>
          </a:prstGeom>
          <a:solidFill>
            <a:srgbClr val="FFFFFF">
              <a:alpha val="100000"/>
            </a:srgbClr>
          </a:solidFill>
          <a:ln w="12700" cap="flat" cmpd="sng">
            <a:solidFill>
              <a:srgbClr val="00529B">
                <a:alpha val="3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endParaRPr dirty="0"/>
          </a:p>
        </p:txBody>
      </p:sp>
      <p:pic>
        <p:nvPicPr>
          <p:cNvPr id="36" name="Picture 3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4532630"/>
            <a:ext cx="508000" cy="508000"/>
          </a:xfrm>
          <a:prstGeom prst="rect">
            <a:avLst/>
          </a:prstGeom>
        </p:spPr>
      </p:pic>
      <p:sp>
        <p:nvSpPr>
          <p:cNvPr id="38" name="AutoShape 3"/>
          <p:cNvSpPr/>
          <p:nvPr/>
        </p:nvSpPr>
        <p:spPr>
          <a:xfrm>
            <a:off x="0" y="0"/>
            <a:ext cx="12192000" cy="508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sp>
        <p:nvSpPr>
          <p:cNvPr id="39" name="AutoShape 4"/>
          <p:cNvSpPr/>
          <p:nvPr/>
        </p:nvSpPr>
        <p:spPr>
          <a:xfrm>
            <a:off x="204216" y="0"/>
            <a:ext cx="1397000" cy="508000"/>
          </a:xfrm>
          <a:prstGeom prst="rect">
            <a:avLst/>
          </a:prstGeom>
          <a:solidFill>
            <a:srgbClr val="1E6EBE"/>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5"/>
          <p:cNvSpPr/>
          <p:nvPr/>
        </p:nvSpPr>
        <p:spPr>
          <a:xfrm>
            <a:off x="1855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dirty="0">
                <a:solidFill>
                  <a:srgbClr val="FFFFFF"/>
                </a:solidFill>
                <a:latin typeface="Noto Sans SC" panose="020B0200000000000000" charset="-122"/>
                <a:ea typeface="Noto Sans SC" panose="020B0200000000000000" charset="-122"/>
                <a:sym typeface="Noto Sans SC" panose="020B0200000000000000" charset="-122"/>
              </a:rPr>
              <a:t>研究挑战</a:t>
            </a:r>
            <a:endParaRPr lang="zh-CN" altLang="en-US" sz="1800" dirty="0">
              <a:solidFill>
                <a:srgbClr val="FFFFFF"/>
              </a:solidFill>
              <a:latin typeface="Noto Sans SC" panose="020B0200000000000000" charset="-122"/>
              <a:ea typeface="Noto Sans SC" panose="020B0200000000000000" charset="-122"/>
              <a:sym typeface="Noto Sans SC" panose="020B0200000000000000" charset="-122"/>
            </a:endParaRPr>
          </a:p>
        </p:txBody>
      </p:sp>
      <p:sp>
        <p:nvSpPr>
          <p:cNvPr id="41" name="AutoShape 6"/>
          <p:cNvSpPr/>
          <p:nvPr/>
        </p:nvSpPr>
        <p:spPr>
          <a:xfrm>
            <a:off x="3506216" y="0"/>
            <a:ext cx="1397000" cy="508000"/>
          </a:xfrm>
          <a:prstGeom prst="roundRect">
            <a:avLst>
              <a:gd name="adj" fmla="val 0"/>
            </a:avLst>
          </a:prstGeom>
          <a:solidFill>
            <a:srgbClr val="00529B"/>
          </a:solidFill>
          <a:ln w="25400" cap="flat" cmpd="sng">
            <a:noFill/>
            <a:prstDash val="solid"/>
            <a:round/>
          </a:ln>
        </p:spPr>
        <p:txBody>
          <a:bodyPr vert="horz" wrap="square" lIns="0" tIns="0" rIns="0" bIns="0" rtlCol="0" anchor="ctr" anchorCtr="0"/>
          <a:lstStyle/>
          <a:p>
            <a:pPr indent="0" algn="ctr">
              <a:lnSpc>
                <a:spcPct val="125000"/>
              </a:lnSpc>
              <a:defRPr/>
            </a:pPr>
            <a:r>
              <a:rPr lang="en-US" sz="1800"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endPar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2" name="AutoShape 7"/>
          <p:cNvSpPr/>
          <p:nvPr/>
        </p:nvSpPr>
        <p:spPr>
          <a:xfrm>
            <a:off x="3506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43" name="AutoShape 8"/>
          <p:cNvSpPr/>
          <p:nvPr/>
        </p:nvSpPr>
        <p:spPr>
          <a:xfrm>
            <a:off x="5411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9"/>
          <p:cNvSpPr/>
          <p:nvPr/>
        </p:nvSpPr>
        <p:spPr>
          <a:xfrm>
            <a:off x="7189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安排</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5" name="AutoShape 10"/>
          <p:cNvSpPr/>
          <p:nvPr/>
        </p:nvSpPr>
        <p:spPr>
          <a:xfrm>
            <a:off x="870940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7" name="TextBox 46"/>
          <p:cNvSpPr txBox="1"/>
          <p:nvPr/>
        </p:nvSpPr>
        <p:spPr>
          <a:xfrm>
            <a:off x="1028701" y="2417539"/>
            <a:ext cx="4792133" cy="1099596"/>
          </a:xfrm>
          <a:prstGeom prst="rect">
            <a:avLst/>
          </a:prstGeom>
          <a:noFill/>
        </p:spPr>
        <p:txBody>
          <a:bodyPr wrap="square">
            <a:spAutoFit/>
          </a:bodyPr>
          <a:lstStyle/>
          <a:p>
            <a:pPr indent="0" algn="l">
              <a:lnSpc>
                <a:spcPct val="125000"/>
              </a:lnSpc>
            </a:pPr>
            <a:r>
              <a:rPr lang="en-US" sz="18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光纤布拉格光栅（FBG）传感器凭借抗干扰、高灵敏等优势，成为智能传感的核心基石，广泛支撑结构健康与工业监测</a:t>
            </a:r>
            <a:r>
              <a:rPr lang="en-US" sz="18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26" name="Picture 2"/>
          <p:cNvPicPr>
            <a:picLocks noChangeAspect="1" noChangeArrowheads="1"/>
          </p:cNvPicPr>
          <p:nvPr/>
        </p:nvPicPr>
        <p:blipFill rotWithShape="1">
          <a:blip r:embed="rId18">
            <a:extLst>
              <a:ext uri="{28A0092B-C50C-407E-A947-70E740481C1C}">
                <a14:useLocalDpi xmlns:a14="http://schemas.microsoft.com/office/drawing/2010/main" val="0"/>
              </a:ext>
            </a:extLst>
          </a:blip>
          <a:srcRect l="-19358" r="-14636"/>
          <a:stretch>
            <a:fillRect/>
          </a:stretch>
        </p:blipFill>
        <p:spPr bwMode="auto">
          <a:xfrm>
            <a:off x="6362700" y="4187190"/>
            <a:ext cx="4683760" cy="2200910"/>
          </a:xfrm>
          <a:prstGeom prst="rect">
            <a:avLst/>
          </a:prstGeom>
          <a:solidFill>
            <a:schemeClr val="bg1"/>
          </a:solidFill>
        </p:spPr>
      </p:pic>
      <p:pic>
        <p:nvPicPr>
          <p:cNvPr id="4" name="图片 3"/>
          <p:cNvPicPr>
            <a:picLocks noChangeAspect="1"/>
          </p:cNvPicPr>
          <p:nvPr/>
        </p:nvPicPr>
        <p:blipFill>
          <a:blip r:embed="rId19" cstate="print"/>
          <a:stretch>
            <a:fillRect/>
          </a:stretch>
        </p:blipFill>
        <p:spPr>
          <a:xfrm>
            <a:off x="10618470" y="43815"/>
            <a:ext cx="1321435" cy="4203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34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762000" y="650494"/>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02 </a:t>
            </a:r>
            <a:r>
              <a:rPr 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当前技术瓶颈与挑战</a:t>
            </a:r>
            <a:endParaRPr lang="en-US" sz="2800" dirty="0"/>
          </a:p>
        </p:txBody>
      </p:sp>
      <p:sp>
        <p:nvSpPr>
          <p:cNvPr id="12" name="AutoShape 12"/>
          <p:cNvSpPr/>
          <p:nvPr/>
        </p:nvSpPr>
        <p:spPr>
          <a:xfrm>
            <a:off x="762000" y="1386586"/>
            <a:ext cx="6717792" cy="2518156"/>
          </a:xfrm>
          <a:prstGeom prst="roundRect">
            <a:avLst>
              <a:gd name="adj" fmla="val 3333"/>
            </a:avLst>
          </a:prstGeom>
          <a:solidFill>
            <a:srgbClr val="FFFFFF">
              <a:alpha val="100000"/>
            </a:srgbClr>
          </a:solidFill>
          <a:ln w="12700" cap="flat" cmpd="sng">
            <a:solidFill>
              <a:srgbClr val="00529B">
                <a:alpha val="3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p>
        </p:txBody>
      </p:sp>
      <p:pic>
        <p:nvPicPr>
          <p:cNvPr id="13" name="Picture 1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704086"/>
            <a:ext cx="355600" cy="355600"/>
          </a:xfrm>
          <a:prstGeom prst="rect">
            <a:avLst/>
          </a:prstGeom>
        </p:spPr>
      </p:pic>
      <p:sp>
        <p:nvSpPr>
          <p:cNvPr id="14" name="AutoShape 14"/>
          <p:cNvSpPr/>
          <p:nvPr/>
        </p:nvSpPr>
        <p:spPr>
          <a:xfrm>
            <a:off x="1524000" y="1665986"/>
            <a:ext cx="4064000" cy="457200"/>
          </a:xfrm>
          <a:prstGeom prst="rect">
            <a:avLst/>
          </a:prstGeom>
          <a:solidFill>
            <a:srgbClr val="00529B">
              <a:alpha val="100000"/>
            </a:srgbClr>
          </a:solidFill>
          <a:ln w="12700" cap="flat" cmpd="sng">
            <a:noFill/>
            <a:prstDash val="solid"/>
            <a:round/>
          </a:ln>
        </p:spPr>
        <p:txBody>
          <a:bodyPr vert="horz" wrap="square" lIns="0" tIns="0" rIns="0" bIns="0" rtlCol="0" anchor="ctr" anchorCtr="0"/>
          <a:lstStyle/>
          <a:p>
            <a:pPr indent="0" algn="l">
              <a:lnSpc>
                <a:spcPct val="125000"/>
              </a:lnSpc>
              <a:defRPr/>
            </a:pPr>
            <a:r>
              <a:rPr lang="en-US" altLang="zh-CN" sz="24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4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挑战</a:t>
            </a:r>
            <a:r>
              <a:rPr lang="en-US" sz="24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一：温度稳定性差</a:t>
            </a:r>
            <a:endParaRPr lang="en-US" sz="2400" dirty="0"/>
          </a:p>
        </p:txBody>
      </p:sp>
      <p:sp>
        <p:nvSpPr>
          <p:cNvPr id="15" name="AutoShape 15"/>
          <p:cNvSpPr/>
          <p:nvPr/>
        </p:nvSpPr>
        <p:spPr>
          <a:xfrm>
            <a:off x="1016000" y="2284222"/>
            <a:ext cx="6463792" cy="1305306"/>
          </a:xfrm>
          <a:prstGeom prst="rect">
            <a:avLst/>
          </a:prstGeom>
          <a:noFill/>
          <a:ln w="12700" cap="flat" cmpd="sng">
            <a:noFill/>
            <a:prstDash val="solid"/>
            <a:round/>
          </a:ln>
        </p:spPr>
        <p:txBody>
          <a:bodyPr vert="horz" wrap="square" lIns="0" tIns="0" rIns="0" bIns="0" rtlCol="0" anchor="ctr" anchorCtr="0"/>
          <a:lstStyle/>
          <a:p>
            <a:pPr indent="0" algn="l">
              <a:lnSpc>
                <a:spcPct val="125000"/>
              </a:lnSpc>
              <a:spcBef>
                <a:spcPts val="600"/>
              </a:spcBef>
              <a:defRPr/>
            </a:pPr>
            <a:r>
              <a:rPr lang="en-US" sz="1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a:t>
            </a:r>
            <a:r>
              <a:rPr lang="en-US" sz="1800" b="0" i="0" u="none" strike="noStrike" dirty="0" err="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AWG芯片温敏性导致波长漂移，引入解调误差</a:t>
            </a:r>
            <a:r>
              <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dirty="0"/>
          </a:p>
          <a:p>
            <a:pPr indent="0" algn="l">
              <a:lnSpc>
                <a:spcPct val="125000"/>
              </a:lnSpc>
              <a:spcBef>
                <a:spcPts val="1200"/>
              </a:spcBef>
            </a:pPr>
            <a:r>
              <a:rPr lang="en-US" sz="1800" b="1" i="0" u="none" strike="noStrike" dirty="0">
                <a:solidFill>
                  <a:srgbClr val="1E6EBE"/>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dirty="0" err="1">
                <a:solidFill>
                  <a:srgbClr val="1E6EBE"/>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传统局限：</a:t>
            </a:r>
            <a:r>
              <a:rPr lang="en-US" sz="1800" b="0" i="0" u="none" strike="noStrike" dirty="0" err="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TEC恒温方案功耗高、体积大，难以适配便携场景</a:t>
            </a:r>
            <a:r>
              <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spcBef>
                <a:spcPts val="1200"/>
              </a:spcBef>
            </a:pPr>
            <a:r>
              <a:rPr lang="en-US" sz="1800" b="1" i="0" u="none" strike="noStrike" dirty="0">
                <a:solidFill>
                  <a:srgbClr val="4682B4"/>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dirty="0" err="1">
                <a:solidFill>
                  <a:srgbClr val="4682B4"/>
                </a:solidFill>
                <a:latin typeface="Noto Sans SC" panose="020B0200000000000000" charset="-122"/>
                <a:ea typeface="Noto Sans SC" panose="020B0200000000000000" charset="-122"/>
                <a:cs typeface="Noto Sans SC" panose="020B0200000000000000" charset="-122"/>
                <a:sym typeface="Noto Sans SC" panose="020B0200000000000000" charset="-122"/>
              </a:rPr>
              <a:t>现有补偿：</a:t>
            </a:r>
            <a:r>
              <a:rPr lang="en-US" sz="1800" b="0" i="0" u="none" strike="noStrike" dirty="0" err="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查表插值法精度提升有限，仅适用于温度缓变环境</a:t>
            </a:r>
            <a:r>
              <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762000" y="4094988"/>
            <a:ext cx="6717792" cy="2518156"/>
          </a:xfrm>
          <a:prstGeom prst="roundRect">
            <a:avLst>
              <a:gd name="adj" fmla="val 3333"/>
            </a:avLst>
          </a:prstGeom>
          <a:solidFill>
            <a:srgbClr val="FFFFFF">
              <a:alpha val="100000"/>
            </a:srgbClr>
          </a:solidFill>
          <a:ln w="12700" cap="flat" cmpd="sng">
            <a:solidFill>
              <a:srgbClr val="00529B">
                <a:alpha val="3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p>
        </p:txBody>
      </p:sp>
      <p:pic>
        <p:nvPicPr>
          <p:cNvPr id="17" name="Picture 1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412488"/>
            <a:ext cx="355600" cy="355600"/>
          </a:xfrm>
          <a:prstGeom prst="rect">
            <a:avLst/>
          </a:prstGeom>
        </p:spPr>
      </p:pic>
      <p:sp>
        <p:nvSpPr>
          <p:cNvPr id="18" name="AutoShape 18"/>
          <p:cNvSpPr/>
          <p:nvPr/>
        </p:nvSpPr>
        <p:spPr>
          <a:xfrm>
            <a:off x="1524000" y="4374388"/>
            <a:ext cx="4064000" cy="457200"/>
          </a:xfrm>
          <a:prstGeom prst="rect">
            <a:avLst/>
          </a:prstGeom>
          <a:solidFill>
            <a:srgbClr val="00529B">
              <a:alpha val="100000"/>
            </a:srgbClr>
          </a:solidFill>
          <a:ln w="12700" cap="flat" cmpd="sng">
            <a:noFill/>
            <a:prstDash val="solid"/>
            <a:round/>
          </a:ln>
        </p:spPr>
        <p:txBody>
          <a:bodyPr vert="horz" wrap="square" lIns="0" tIns="0" rIns="0" bIns="0" rtlCol="0" anchor="ctr" anchorCtr="0"/>
          <a:lstStyle/>
          <a:p>
            <a:pPr indent="0" algn="l">
              <a:lnSpc>
                <a:spcPct val="125000"/>
              </a:lnSpc>
              <a:defRPr/>
            </a:pPr>
            <a:r>
              <a:rPr lang="en-US" altLang="zh-CN" sz="24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4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挑战</a:t>
            </a:r>
            <a:r>
              <a:rPr lang="en-US" sz="24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二：光域解调精度极限</a:t>
            </a:r>
            <a:endParaRPr lang="en-US" sz="2400" dirty="0"/>
          </a:p>
        </p:txBody>
      </p:sp>
      <p:sp>
        <p:nvSpPr>
          <p:cNvPr id="19" name="AutoShape 19"/>
          <p:cNvSpPr/>
          <p:nvPr/>
        </p:nvSpPr>
        <p:spPr>
          <a:xfrm>
            <a:off x="1016000" y="4992624"/>
            <a:ext cx="6290056" cy="1504696"/>
          </a:xfrm>
          <a:prstGeom prst="rect">
            <a:avLst/>
          </a:prstGeom>
          <a:noFill/>
          <a:ln w="12700" cap="flat" cmpd="sng">
            <a:noFill/>
            <a:prstDash val="solid"/>
            <a:round/>
          </a:ln>
        </p:spPr>
        <p:txBody>
          <a:bodyPr vert="horz" wrap="square" lIns="0" tIns="0" rIns="0" bIns="0" rtlCol="0" anchor="ctr" anchorCtr="0"/>
          <a:lstStyle/>
          <a:p>
            <a:pPr indent="0" algn="l">
              <a:lnSpc>
                <a:spcPct val="125000"/>
              </a:lnSpc>
              <a:spcBef>
                <a:spcPts val="600"/>
              </a:spcBef>
              <a:defRPr/>
            </a:pPr>
            <a:r>
              <a:rPr lang="en-US" sz="1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物理</a:t>
            </a:r>
            <a:r>
              <a:rPr lang="zh-CN" altLang="en-US" sz="1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极限</a:t>
            </a:r>
            <a:r>
              <a:rPr lang="en-US" sz="1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0" i="0" u="none" strike="noStrike" dirty="0" err="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受限于滤波器分辨率与探测</a:t>
            </a:r>
            <a:r>
              <a:rPr lang="zh-CN" altLang="en-US" sz="1800"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信噪比</a:t>
            </a:r>
            <a:r>
              <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0" i="0" u="none" strike="noStrike" dirty="0" err="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单纯优化器件已近极限</a:t>
            </a:r>
            <a:r>
              <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dirty="0"/>
          </a:p>
          <a:p>
            <a:pPr indent="0" algn="l">
              <a:lnSpc>
                <a:spcPct val="125000"/>
              </a:lnSpc>
              <a:spcBef>
                <a:spcPts val="1200"/>
              </a:spcBef>
            </a:pPr>
            <a:r>
              <a:rPr lang="en-US" sz="1800" b="1" i="0" u="none" strike="noStrike" dirty="0" err="1">
                <a:solidFill>
                  <a:srgbClr val="1E6EBE"/>
                </a:solidFill>
                <a:latin typeface="Noto Sans SC" panose="020B0200000000000000" charset="-122"/>
                <a:ea typeface="Noto Sans SC" panose="020B0200000000000000" charset="-122"/>
                <a:cs typeface="Noto Sans SC" panose="020B0200000000000000" charset="-122"/>
                <a:sym typeface="Noto Sans SC" panose="020B0200000000000000" charset="-122"/>
              </a:rPr>
              <a:t>微波光子学</a:t>
            </a:r>
            <a:r>
              <a:rPr lang="zh-CN" altLang="en-US" sz="1800" b="1" dirty="0">
                <a:solidFill>
                  <a:srgbClr val="1E6EB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0" i="0" u="none" strike="noStrike" dirty="0" err="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光域波长变化“映射”至微波频域，利用微波高精度测量手段，突破光域解调分辨率限制</a:t>
            </a:r>
            <a:r>
              <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5" name="Picture 34"/>
          <p:cNvPicPr>
            <a:picLocks noChangeAspect="1"/>
          </p:cNvPicPr>
          <p:nvPr/>
        </p:nvPicPr>
        <p:blipFill>
          <a:blip r:embed="rId5"/>
          <a:stretch>
            <a:fillRect/>
          </a:stretch>
        </p:blipFill>
        <p:spPr>
          <a:xfrm>
            <a:off x="7684987" y="1493950"/>
            <a:ext cx="4261104" cy="2392582"/>
          </a:xfrm>
          <a:prstGeom prst="rect">
            <a:avLst/>
          </a:prstGeom>
        </p:spPr>
      </p:pic>
      <p:grpSp>
        <p:nvGrpSpPr>
          <p:cNvPr id="39" name="Group 38"/>
          <p:cNvGrpSpPr/>
          <p:nvPr/>
        </p:nvGrpSpPr>
        <p:grpSpPr>
          <a:xfrm>
            <a:off x="7632192" y="4102888"/>
            <a:ext cx="4470677" cy="2510256"/>
            <a:chOff x="1706807" y="1286382"/>
            <a:chExt cx="9584030" cy="5381371"/>
          </a:xfrm>
        </p:grpSpPr>
        <p:pic>
          <p:nvPicPr>
            <p:cNvPr id="37" name="Picture 36"/>
            <p:cNvPicPr>
              <a:picLocks noChangeAspect="1"/>
            </p:cNvPicPr>
            <p:nvPr/>
          </p:nvPicPr>
          <p:blipFill>
            <a:blip r:embed="rId6"/>
            <a:stretch>
              <a:fillRect/>
            </a:stretch>
          </p:blipFill>
          <p:spPr>
            <a:xfrm>
              <a:off x="1706807" y="1286382"/>
              <a:ext cx="9584030" cy="5381371"/>
            </a:xfrm>
            <a:prstGeom prst="rect">
              <a:avLst/>
            </a:prstGeom>
          </p:spPr>
        </p:pic>
        <p:sp>
          <p:nvSpPr>
            <p:cNvPr id="38" name="Rectangle 37"/>
            <p:cNvSpPr/>
            <p:nvPr/>
          </p:nvSpPr>
          <p:spPr>
            <a:xfrm>
              <a:off x="5672365" y="2535619"/>
              <a:ext cx="1883627" cy="739013"/>
            </a:xfrm>
            <a:prstGeom prst="rect">
              <a:avLst/>
            </a:prstGeom>
            <a:solidFill>
              <a:srgbClr val="0A60B0"/>
            </a:solidFill>
            <a:ln>
              <a:solidFill>
                <a:srgbClr val="0A60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800" b="1" dirty="0">
                  <a:latin typeface="+mj-ea"/>
                  <a:ea typeface="+mj-ea"/>
                </a:rPr>
                <a:t>微波光子学</a:t>
              </a:r>
              <a:endParaRPr lang="en-US" sz="800" b="1" dirty="0">
                <a:latin typeface="+mj-ea"/>
                <a:ea typeface="+mj-ea"/>
              </a:endParaRPr>
            </a:p>
          </p:txBody>
        </p:sp>
      </p:grpSp>
      <p:sp>
        <p:nvSpPr>
          <p:cNvPr id="20" name="AutoShape 3"/>
          <p:cNvSpPr/>
          <p:nvPr/>
        </p:nvSpPr>
        <p:spPr>
          <a:xfrm>
            <a:off x="0" y="0"/>
            <a:ext cx="12192000" cy="508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sp>
        <p:nvSpPr>
          <p:cNvPr id="21" name="AutoShape 4"/>
          <p:cNvSpPr/>
          <p:nvPr/>
        </p:nvSpPr>
        <p:spPr>
          <a:xfrm>
            <a:off x="204216" y="0"/>
            <a:ext cx="1397000" cy="508000"/>
          </a:xfrm>
          <a:prstGeom prst="rect">
            <a:avLst/>
          </a:prstGeom>
          <a:solidFill>
            <a:srgbClr val="00529B"/>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5"/>
          <p:cNvSpPr/>
          <p:nvPr/>
        </p:nvSpPr>
        <p:spPr>
          <a:xfrm>
            <a:off x="1855216" y="0"/>
            <a:ext cx="1397000" cy="508000"/>
          </a:xfrm>
          <a:prstGeom prst="rect">
            <a:avLst/>
          </a:prstGeom>
          <a:solidFill>
            <a:srgbClr val="1E6EBE"/>
          </a:solid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dirty="0">
                <a:solidFill>
                  <a:srgbClr val="FFFFFF"/>
                </a:solidFill>
                <a:latin typeface="Noto Sans SC" panose="020B0200000000000000" charset="-122"/>
                <a:ea typeface="Noto Sans SC" panose="020B0200000000000000" charset="-122"/>
                <a:sym typeface="Noto Sans SC" panose="020B0200000000000000" charset="-122"/>
              </a:rPr>
              <a:t>研究挑战</a:t>
            </a:r>
            <a:endParaRPr lang="zh-CN" altLang="en-US" sz="1800" dirty="0">
              <a:solidFill>
                <a:srgbClr val="FFFFFF"/>
              </a:solidFill>
              <a:latin typeface="Noto Sans SC" panose="020B0200000000000000" charset="-122"/>
              <a:ea typeface="Noto Sans SC" panose="020B0200000000000000" charset="-122"/>
              <a:sym typeface="Noto Sans SC" panose="020B0200000000000000" charset="-122"/>
            </a:endParaRPr>
          </a:p>
        </p:txBody>
      </p:sp>
      <p:sp>
        <p:nvSpPr>
          <p:cNvPr id="41" name="AutoShape 6"/>
          <p:cNvSpPr/>
          <p:nvPr/>
        </p:nvSpPr>
        <p:spPr>
          <a:xfrm>
            <a:off x="3506216" y="0"/>
            <a:ext cx="1397000" cy="508000"/>
          </a:xfrm>
          <a:prstGeom prst="roundRect">
            <a:avLst>
              <a:gd name="adj" fmla="val 0"/>
            </a:avLst>
          </a:prstGeom>
          <a:solidFill>
            <a:srgbClr val="00529B"/>
          </a:solidFill>
          <a:ln w="25400" cap="flat" cmpd="sng">
            <a:noFill/>
            <a:prstDash val="solid"/>
            <a:round/>
          </a:ln>
        </p:spPr>
        <p:txBody>
          <a:bodyPr vert="horz" wrap="square" lIns="0" tIns="0" rIns="0" bIns="0" rtlCol="0" anchor="ctr" anchorCtr="0"/>
          <a:lstStyle/>
          <a:p>
            <a:pPr indent="0" algn="ctr">
              <a:lnSpc>
                <a:spcPct val="125000"/>
              </a:lnSpc>
              <a:defRPr/>
            </a:pPr>
            <a:r>
              <a:rPr lang="en-US" sz="1800"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endPar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2" name="AutoShape 7"/>
          <p:cNvSpPr/>
          <p:nvPr/>
        </p:nvSpPr>
        <p:spPr>
          <a:xfrm>
            <a:off x="3506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43" name="AutoShape 8"/>
          <p:cNvSpPr/>
          <p:nvPr/>
        </p:nvSpPr>
        <p:spPr>
          <a:xfrm>
            <a:off x="5411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9"/>
          <p:cNvSpPr/>
          <p:nvPr/>
        </p:nvSpPr>
        <p:spPr>
          <a:xfrm>
            <a:off x="7189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安排</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5" name="AutoShape 10"/>
          <p:cNvSpPr/>
          <p:nvPr/>
        </p:nvSpPr>
        <p:spPr>
          <a:xfrm>
            <a:off x="870940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2" name="图片 21"/>
          <p:cNvPicPr>
            <a:picLocks noChangeAspect="1"/>
          </p:cNvPicPr>
          <p:nvPr/>
        </p:nvPicPr>
        <p:blipFill>
          <a:blip r:embed="rId7" cstate="print"/>
          <a:stretch>
            <a:fillRect/>
          </a:stretch>
        </p:blipFill>
        <p:spPr>
          <a:xfrm>
            <a:off x="10618470" y="43815"/>
            <a:ext cx="1321435" cy="4203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研究内容一</a:t>
            </a:r>
            <a:r>
              <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：基于参考</a:t>
            </a:r>
            <a:r>
              <a:rPr lang="en-US" altLang="zh-CN"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FBG</a:t>
            </a:r>
            <a:r>
              <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温度补偿的</a:t>
            </a:r>
            <a:r>
              <a:rPr lang="en-US" altLang="zh-CN"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AWG</a:t>
            </a:r>
            <a:r>
              <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解调系统研究</a:t>
            </a:r>
            <a:endPar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762000" y="1397000"/>
            <a:ext cx="3302000" cy="5268976"/>
          </a:xfrm>
          <a:prstGeom prst="roundRect">
            <a:avLst>
              <a:gd name="adj" fmla="val 0"/>
            </a:avLst>
          </a:prstGeom>
          <a:solidFill>
            <a:srgbClr val="FFFFFF">
              <a:alpha val="100000"/>
            </a:srgbClr>
          </a:solidFill>
          <a:ln w="12700" cap="flat" cmpd="sng">
            <a:solidFill>
              <a:srgbClr val="00529B">
                <a:alpha val="100000"/>
              </a:srgbClr>
            </a:solidFill>
            <a:prstDash val="solid"/>
            <a:round/>
          </a:ln>
        </p:spPr>
        <p:txBody>
          <a:bodyPr vert="horz" wrap="square" lIns="0" tIns="0" rIns="0" bIns="0" rtlCol="0" anchor="ctr" anchorCtr="0"/>
          <a:lstStyle/>
          <a:p>
            <a:pPr algn="ctr">
              <a:defRPr/>
            </a:pPr>
          </a:p>
        </p:txBody>
      </p:sp>
      <p:sp>
        <p:nvSpPr>
          <p:cNvPr id="4" name="AutoShape 4"/>
          <p:cNvSpPr/>
          <p:nvPr/>
        </p:nvSpPr>
        <p:spPr>
          <a:xfrm>
            <a:off x="762000" y="1397000"/>
            <a:ext cx="3302000" cy="762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7895" y="1587500"/>
            <a:ext cx="354965" cy="354965"/>
          </a:xfrm>
          <a:prstGeom prst="rect">
            <a:avLst/>
          </a:prstGeom>
        </p:spPr>
      </p:pic>
      <p:sp>
        <p:nvSpPr>
          <p:cNvPr id="6" name="AutoShape 6"/>
          <p:cNvSpPr/>
          <p:nvPr/>
        </p:nvSpPr>
        <p:spPr>
          <a:xfrm>
            <a:off x="1397000" y="1549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研究目标</a:t>
            </a:r>
            <a:endPar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952500" y="2413000"/>
            <a:ext cx="2921000" cy="1816608"/>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dirty="0" err="1">
                <a:solidFill>
                  <a:srgbClr val="505050"/>
                </a:solidFill>
                <a:latin typeface="Noto Sans SC" panose="020B0200000000000000" charset="-122"/>
                <a:ea typeface="Noto Sans SC" panose="020B0200000000000000" charset="-122"/>
                <a:sym typeface="Noto Sans SC" panose="020B0200000000000000" charset="-122"/>
              </a:rPr>
              <a:t>针对阵列波导光栅</a:t>
            </a:r>
            <a:r>
              <a:rPr lang="en-US" sz="1800" dirty="0">
                <a:solidFill>
                  <a:srgbClr val="505050"/>
                </a:solidFill>
                <a:latin typeface="Noto Sans SC" panose="020B0200000000000000" charset="-122"/>
                <a:ea typeface="Noto Sans SC" panose="020B0200000000000000" charset="-122"/>
                <a:sym typeface="Noto Sans SC" panose="020B0200000000000000" charset="-122"/>
              </a:rPr>
              <a:t>(AWG)</a:t>
            </a:r>
            <a:r>
              <a:rPr lang="en-US" sz="1800" dirty="0" err="1">
                <a:solidFill>
                  <a:srgbClr val="505050"/>
                </a:solidFill>
                <a:latin typeface="Noto Sans SC" panose="020B0200000000000000" charset="-122"/>
                <a:ea typeface="Noto Sans SC" panose="020B0200000000000000" charset="-122"/>
                <a:sym typeface="Noto Sans SC" panose="020B0200000000000000" charset="-122"/>
              </a:rPr>
              <a:t>解调系统在变温环境下的波长解调精度劣化问题，引入参考FBG消除温度漂移影响，提升复杂场景下系统的稳定性与测量精度</a:t>
            </a:r>
            <a:r>
              <a:rPr lang="en-US" sz="1800" dirty="0">
                <a:solidFill>
                  <a:srgbClr val="505050"/>
                </a:solidFill>
                <a:latin typeface="Noto Sans SC" panose="020B0200000000000000" charset="-122"/>
                <a:ea typeface="Noto Sans SC" panose="020B0200000000000000" charset="-122"/>
                <a:sym typeface="Noto Sans SC" panose="020B0200000000000000" charset="-122"/>
              </a:rPr>
              <a:t>。</a:t>
            </a:r>
            <a:endParaRPr lang="en-US" sz="1800" dirty="0">
              <a:solidFill>
                <a:srgbClr val="505050"/>
              </a:solidFill>
              <a:latin typeface="Noto Sans SC" panose="020B0200000000000000" charset="-122"/>
              <a:ea typeface="Noto Sans SC" panose="020B0200000000000000" charset="-122"/>
            </a:endParaRPr>
          </a:p>
        </p:txBody>
      </p:sp>
      <p:sp>
        <p:nvSpPr>
          <p:cNvPr id="8" name="AutoShape 8"/>
          <p:cNvSpPr/>
          <p:nvPr/>
        </p:nvSpPr>
        <p:spPr>
          <a:xfrm>
            <a:off x="4445000" y="1396999"/>
            <a:ext cx="3302000" cy="5268975"/>
          </a:xfrm>
          <a:prstGeom prst="roundRect">
            <a:avLst>
              <a:gd name="adj" fmla="val 0"/>
            </a:avLst>
          </a:prstGeom>
          <a:solidFill>
            <a:srgbClr val="FFFFFF">
              <a:alpha val="100000"/>
            </a:srgbClr>
          </a:solidFill>
          <a:ln w="12700" cap="flat" cmpd="sng">
            <a:solidFill>
              <a:srgbClr val="00529B">
                <a:alpha val="100000"/>
              </a:srgbClr>
            </a:solidFill>
            <a:prstDash val="solid"/>
            <a:round/>
          </a:ln>
        </p:spPr>
        <p:txBody>
          <a:bodyPr vert="horz" wrap="square" lIns="0" tIns="0" rIns="0" bIns="0" rtlCol="0" anchor="ctr" anchorCtr="0"/>
          <a:lstStyle/>
          <a:p>
            <a:pPr algn="ctr">
              <a:defRPr/>
            </a:pPr>
          </a:p>
        </p:txBody>
      </p:sp>
      <p:sp>
        <p:nvSpPr>
          <p:cNvPr id="9" name="AutoShape 9"/>
          <p:cNvSpPr/>
          <p:nvPr/>
        </p:nvSpPr>
        <p:spPr>
          <a:xfrm>
            <a:off x="4445000" y="1397000"/>
            <a:ext cx="3302000" cy="762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83430" y="1549400"/>
            <a:ext cx="444500" cy="444500"/>
          </a:xfrm>
          <a:prstGeom prst="rect">
            <a:avLst/>
          </a:prstGeom>
        </p:spPr>
      </p:pic>
      <p:sp>
        <p:nvSpPr>
          <p:cNvPr id="11" name="AutoShape 11"/>
          <p:cNvSpPr/>
          <p:nvPr/>
        </p:nvSpPr>
        <p:spPr>
          <a:xfrm>
            <a:off x="5123815" y="1549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技术方案设计</a:t>
            </a:r>
            <a:endPar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4635500" y="2413000"/>
            <a:ext cx="2857500" cy="1947333"/>
          </a:xfrm>
          <a:prstGeom prst="rect">
            <a:avLst/>
          </a:prstGeom>
          <a:noFill/>
          <a:ln w="12700" cap="flat" cmpd="sng">
            <a:noFill/>
            <a:prstDash val="solid"/>
            <a:round/>
          </a:ln>
        </p:spPr>
        <p:txBody>
          <a:bodyPr vert="horz" wrap="square" lIns="0" tIns="0" rIns="0" bIns="0" rtlCol="0" anchor="ctr" anchorCtr="0"/>
          <a:lstStyle/>
          <a:p>
            <a:pPr indent="0" algn="l">
              <a:lnSpc>
                <a:spcPct val="108000"/>
              </a:lnSpc>
              <a:spcBef>
                <a:spcPts val="600"/>
              </a:spcBef>
              <a:defRPr/>
            </a:pPr>
            <a:r>
              <a:rPr lang="en-US" sz="1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链路架构：</a:t>
            </a:r>
            <a:r>
              <a:rPr lang="en-US" sz="18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参考与传感FBG并行，构建双通道架构</a:t>
            </a:r>
            <a:r>
              <a:rPr lang="en-US" sz="18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dirty="0"/>
          </a:p>
          <a:p>
            <a:pPr indent="0" algn="l">
              <a:lnSpc>
                <a:spcPct val="108000"/>
              </a:lnSpc>
              <a:spcBef>
                <a:spcPts val="600"/>
              </a:spcBef>
            </a:pPr>
            <a:r>
              <a:rPr lang="en-US" sz="1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补偿原理：</a:t>
            </a:r>
            <a:r>
              <a:rPr lang="en-US" sz="18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监测参考FBG表观波长，实时计算漂移量</a:t>
            </a:r>
            <a:r>
              <a:rPr lang="en-US" sz="18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spcBef>
                <a:spcPts val="600"/>
              </a:spcBef>
            </a:pPr>
            <a:r>
              <a:rPr lang="en-US" sz="1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实时修正：</a:t>
            </a:r>
            <a:r>
              <a:rPr lang="en-US" sz="18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动态补偿解调结果，消除温度漂移影响</a:t>
            </a:r>
            <a:r>
              <a:rPr lang="en-US" sz="18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8128000" y="1397000"/>
            <a:ext cx="3302000" cy="5268974"/>
          </a:xfrm>
          <a:prstGeom prst="roundRect">
            <a:avLst>
              <a:gd name="adj" fmla="val 0"/>
            </a:avLst>
          </a:prstGeom>
          <a:solidFill>
            <a:srgbClr val="FFFFFF">
              <a:alpha val="100000"/>
            </a:srgbClr>
          </a:solidFill>
          <a:ln w="12700" cap="flat" cmpd="sng">
            <a:solidFill>
              <a:srgbClr val="00529B">
                <a:alpha val="100000"/>
              </a:srgbClr>
            </a:solidFill>
            <a:prstDash val="solid"/>
            <a:round/>
          </a:ln>
        </p:spPr>
        <p:txBody>
          <a:bodyPr vert="horz" wrap="square" lIns="0" tIns="0" rIns="0" bIns="0" rtlCol="0" anchor="ctr" anchorCtr="0"/>
          <a:lstStyle/>
          <a:p>
            <a:pPr algn="ctr">
              <a:defRPr/>
            </a:pPr>
          </a:p>
        </p:txBody>
      </p:sp>
      <p:sp>
        <p:nvSpPr>
          <p:cNvPr id="14" name="AutoShape 14"/>
          <p:cNvSpPr/>
          <p:nvPr/>
        </p:nvSpPr>
        <p:spPr>
          <a:xfrm>
            <a:off x="8128000" y="1397000"/>
            <a:ext cx="3302000" cy="762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1587500"/>
            <a:ext cx="400050" cy="400050"/>
          </a:xfrm>
          <a:prstGeom prst="rect">
            <a:avLst/>
          </a:prstGeom>
        </p:spPr>
      </p:pic>
      <p:sp>
        <p:nvSpPr>
          <p:cNvPr id="16" name="AutoShape 16"/>
          <p:cNvSpPr/>
          <p:nvPr/>
        </p:nvSpPr>
        <p:spPr>
          <a:xfrm>
            <a:off x="8763000" y="15494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可行性分析</a:t>
            </a:r>
            <a:endPar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8318500" y="2413000"/>
            <a:ext cx="2921000" cy="1947333"/>
          </a:xfrm>
          <a:prstGeom prst="rect">
            <a:avLst/>
          </a:prstGeom>
          <a:noFill/>
          <a:ln w="12700" cap="flat" cmpd="sng">
            <a:noFill/>
            <a:prstDash val="solid"/>
            <a:round/>
          </a:ln>
        </p:spPr>
        <p:txBody>
          <a:bodyPr vert="horz" wrap="square" lIns="0" tIns="0" rIns="0" bIns="0" rtlCol="0" anchor="ctr" anchorCtr="0"/>
          <a:lstStyle/>
          <a:p>
            <a:pPr indent="0" algn="l">
              <a:lnSpc>
                <a:spcPct val="108000"/>
              </a:lnSpc>
              <a:spcBef>
                <a:spcPts val="600"/>
              </a:spcBef>
              <a:defRPr/>
            </a:pPr>
            <a:r>
              <a:rPr lang="en-US" sz="1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前期基础：</a:t>
            </a:r>
            <a:r>
              <a:rPr lang="en-US" sz="18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恒温下已实现</a:t>
            </a:r>
            <a:r>
              <a:rPr lang="en-US" sz="1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0.31 </a:t>
            </a:r>
            <a:r>
              <a:rPr lang="en-US" sz="1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pm</a:t>
            </a:r>
            <a:r>
              <a:rPr lang="en-US" sz="18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解调精度，软硬件成熟</a:t>
            </a:r>
            <a:r>
              <a:rPr lang="en-US" sz="18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dirty="0"/>
          </a:p>
          <a:p>
            <a:pPr indent="0" algn="l">
              <a:lnSpc>
                <a:spcPct val="108000"/>
              </a:lnSpc>
              <a:spcBef>
                <a:spcPts val="800"/>
              </a:spcBef>
            </a:pPr>
            <a:r>
              <a:rPr lang="en-US" sz="1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技术路径：</a:t>
            </a:r>
            <a:r>
              <a:rPr lang="en-US" sz="1800" b="0" i="0" u="none" strike="noStrike" dirty="0" err="1">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仅需增加参考通道与补偿算法，无需重构硬件，实施难度低</a:t>
            </a:r>
            <a:r>
              <a:rPr lang="en-US" sz="18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6" name="Picture 9"/>
          <p:cNvPicPr>
            <a:picLocks noChangeAspect="1"/>
          </p:cNvPicPr>
          <p:nvPr/>
        </p:nvPicPr>
        <p:blipFill>
          <a:blip r:embed="rId7"/>
          <a:srcRect l="48992" t="51331" r="11866" b="-88"/>
          <a:stretch>
            <a:fillRect/>
          </a:stretch>
        </p:blipFill>
        <p:spPr>
          <a:xfrm>
            <a:off x="857250" y="4478845"/>
            <a:ext cx="3111500" cy="1937894"/>
          </a:xfrm>
          <a:prstGeom prst="rect">
            <a:avLst/>
          </a:prstGeom>
          <a:noFill/>
          <a:ln w="25400" cap="flat" cmpd="sng">
            <a:noFill/>
            <a:prstDash val="solid"/>
            <a:round/>
          </a:ln>
          <a:effectLst>
            <a:outerShdw blurRad="444500" dist="190500" dir="2700000" algn="tl" rotWithShape="0">
              <a:srgbClr val="000000">
                <a:alpha val="25000"/>
              </a:srgbClr>
            </a:outerShdw>
          </a:effectLst>
        </p:spPr>
      </p:pic>
      <p:sp>
        <p:nvSpPr>
          <p:cNvPr id="27" name="Rectangle 26"/>
          <p:cNvSpPr/>
          <p:nvPr/>
        </p:nvSpPr>
        <p:spPr>
          <a:xfrm>
            <a:off x="857250" y="4478845"/>
            <a:ext cx="95250" cy="1270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5"/>
          <p:cNvPicPr>
            <a:picLocks noChangeAspect="1"/>
          </p:cNvPicPr>
          <p:nvPr/>
        </p:nvPicPr>
        <p:blipFill>
          <a:blip r:embed="rId8"/>
          <a:srcRect t="-5283" b="-4233"/>
          <a:stretch>
            <a:fillRect/>
          </a:stretch>
        </p:blipFill>
        <p:spPr>
          <a:xfrm>
            <a:off x="4549775" y="4605867"/>
            <a:ext cx="3092450" cy="1693333"/>
          </a:xfrm>
          <a:prstGeom prst="rect">
            <a:avLst/>
          </a:prstGeom>
          <a:noFill/>
          <a:ln w="25400" cap="flat" cmpd="sng">
            <a:noFill/>
            <a:prstDash val="solid"/>
            <a:round/>
          </a:ln>
          <a:effectLst>
            <a:outerShdw blurRad="444500" dist="190500" dir="2700000" algn="tl" rotWithShape="0">
              <a:srgbClr val="000000">
                <a:alpha val="25000"/>
              </a:srgbClr>
            </a:outerShdw>
          </a:effectLst>
        </p:spPr>
      </p:pic>
      <p:sp>
        <p:nvSpPr>
          <p:cNvPr id="38" name="AutoShape 3"/>
          <p:cNvSpPr/>
          <p:nvPr/>
        </p:nvSpPr>
        <p:spPr>
          <a:xfrm>
            <a:off x="0" y="0"/>
            <a:ext cx="12192000" cy="508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sp>
        <p:nvSpPr>
          <p:cNvPr id="39" name="AutoShape 4"/>
          <p:cNvSpPr/>
          <p:nvPr/>
        </p:nvSpPr>
        <p:spPr>
          <a:xfrm>
            <a:off x="204216" y="0"/>
            <a:ext cx="1397000" cy="508000"/>
          </a:xfrm>
          <a:prstGeom prst="rect">
            <a:avLst/>
          </a:prstGeom>
          <a:solidFill>
            <a:srgbClr val="00529B"/>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5"/>
          <p:cNvSpPr/>
          <p:nvPr/>
        </p:nvSpPr>
        <p:spPr>
          <a:xfrm>
            <a:off x="1855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dirty="0">
                <a:solidFill>
                  <a:srgbClr val="FFFFFF"/>
                </a:solidFill>
                <a:latin typeface="Noto Sans SC" panose="020B0200000000000000" charset="-122"/>
                <a:ea typeface="Noto Sans SC" panose="020B0200000000000000" charset="-122"/>
                <a:sym typeface="Noto Sans SC" panose="020B0200000000000000" charset="-122"/>
              </a:rPr>
              <a:t>研究挑战</a:t>
            </a:r>
            <a:endParaRPr lang="zh-CN" altLang="en-US" sz="1800" dirty="0">
              <a:solidFill>
                <a:srgbClr val="FFFFFF"/>
              </a:solidFill>
              <a:latin typeface="Noto Sans SC" panose="020B0200000000000000" charset="-122"/>
              <a:ea typeface="Noto Sans SC" panose="020B0200000000000000" charset="-122"/>
              <a:sym typeface="Noto Sans SC" panose="020B0200000000000000" charset="-122"/>
            </a:endParaRPr>
          </a:p>
        </p:txBody>
      </p:sp>
      <p:sp>
        <p:nvSpPr>
          <p:cNvPr id="42" name="AutoShape 7"/>
          <p:cNvSpPr/>
          <p:nvPr/>
        </p:nvSpPr>
        <p:spPr>
          <a:xfrm>
            <a:off x="3506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43" name="AutoShape 8"/>
          <p:cNvSpPr/>
          <p:nvPr/>
        </p:nvSpPr>
        <p:spPr>
          <a:xfrm>
            <a:off x="5411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9"/>
          <p:cNvSpPr/>
          <p:nvPr/>
        </p:nvSpPr>
        <p:spPr>
          <a:xfrm>
            <a:off x="7189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安排</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5" name="AutoShape 10"/>
          <p:cNvSpPr/>
          <p:nvPr/>
        </p:nvSpPr>
        <p:spPr>
          <a:xfrm>
            <a:off x="870940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9" name="图片 28"/>
          <p:cNvPicPr>
            <a:picLocks noChangeAspect="1"/>
          </p:cNvPicPr>
          <p:nvPr/>
        </p:nvPicPr>
        <p:blipFill>
          <a:blip r:embed="rId9" cstate="print"/>
          <a:stretch>
            <a:fillRect/>
          </a:stretch>
        </p:blipFill>
        <p:spPr>
          <a:xfrm>
            <a:off x="10618470" y="43815"/>
            <a:ext cx="1321435" cy="420370"/>
          </a:xfrm>
          <a:prstGeom prst="rect">
            <a:avLst/>
          </a:prstGeom>
        </p:spPr>
      </p:pic>
      <p:pic>
        <p:nvPicPr>
          <p:cNvPr id="30" name="图片 29"/>
          <p:cNvPicPr/>
          <p:nvPr/>
        </p:nvPicPr>
        <p:blipFill>
          <a:blip r:embed="rId10"/>
          <a:stretch>
            <a:fillRect/>
          </a:stretch>
        </p:blipFill>
        <p:spPr>
          <a:xfrm>
            <a:off x="8223250" y="4611370"/>
            <a:ext cx="3109595" cy="371475"/>
          </a:xfrm>
          <a:prstGeom prst="rect">
            <a:avLst/>
          </a:prstGeom>
        </p:spPr>
      </p:pic>
      <p:pic>
        <p:nvPicPr>
          <p:cNvPr id="31" name="图片 30"/>
          <p:cNvPicPr/>
          <p:nvPr/>
        </p:nvPicPr>
        <p:blipFill>
          <a:blip r:embed="rId11"/>
          <a:stretch>
            <a:fillRect/>
          </a:stretch>
        </p:blipFill>
        <p:spPr>
          <a:xfrm>
            <a:off x="8255000" y="5165090"/>
            <a:ext cx="3077845" cy="374015"/>
          </a:xfrm>
          <a:prstGeom prst="rect">
            <a:avLst/>
          </a:prstGeom>
        </p:spPr>
      </p:pic>
      <p:pic>
        <p:nvPicPr>
          <p:cNvPr id="32" name="图片 31"/>
          <p:cNvPicPr/>
          <p:nvPr/>
        </p:nvPicPr>
        <p:blipFill>
          <a:blip r:embed="rId12"/>
          <a:stretch>
            <a:fillRect/>
          </a:stretch>
        </p:blipFill>
        <p:spPr>
          <a:xfrm>
            <a:off x="8444865" y="5721350"/>
            <a:ext cx="2597150" cy="357505"/>
          </a:xfrm>
          <a:prstGeom prst="rect">
            <a:avLst/>
          </a:prstGeom>
        </p:spPr>
      </p:pic>
      <p:sp>
        <p:nvSpPr>
          <p:cNvPr id="41" name="AutoShape 6"/>
          <p:cNvSpPr/>
          <p:nvPr/>
        </p:nvSpPr>
        <p:spPr>
          <a:xfrm>
            <a:off x="3506216" y="0"/>
            <a:ext cx="1397000" cy="508000"/>
          </a:xfrm>
          <a:prstGeom prst="roundRect">
            <a:avLst>
              <a:gd name="adj" fmla="val 0"/>
            </a:avLst>
          </a:prstGeom>
          <a:solidFill>
            <a:srgbClr val="1E6EBE"/>
          </a:solidFill>
          <a:ln w="25400" cap="flat" cmpd="sng">
            <a:noFill/>
            <a:prstDash val="solid"/>
            <a:round/>
          </a:ln>
        </p:spPr>
        <p:txBody>
          <a:bodyPr vert="horz" wrap="square" lIns="0" tIns="0" rIns="0" bIns="0" rtlCol="0" anchor="ctr" anchorCtr="0"/>
          <a:lstStyle/>
          <a:p>
            <a:pPr indent="0" algn="ctr">
              <a:lnSpc>
                <a:spcPct val="125000"/>
              </a:lnSpc>
              <a:defRPr/>
            </a:pPr>
            <a:r>
              <a:rPr lang="en-US" sz="1800"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endPar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研究内容一</a:t>
            </a:r>
            <a:r>
              <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：基于参考</a:t>
            </a:r>
            <a:r>
              <a:rPr lang="en-US" altLang="zh-CN"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FBG</a:t>
            </a:r>
            <a:r>
              <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温度补偿的</a:t>
            </a:r>
            <a:r>
              <a:rPr lang="en-US" altLang="zh-CN"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AWG</a:t>
            </a:r>
            <a:r>
              <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解调系统研究</a:t>
            </a:r>
            <a:endPar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 name="AutoShape 3"/>
          <p:cNvSpPr/>
          <p:nvPr/>
        </p:nvSpPr>
        <p:spPr>
          <a:xfrm>
            <a:off x="0" y="0"/>
            <a:ext cx="12192000" cy="508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sp>
        <p:nvSpPr>
          <p:cNvPr id="39" name="AutoShape 4"/>
          <p:cNvSpPr/>
          <p:nvPr/>
        </p:nvSpPr>
        <p:spPr>
          <a:xfrm>
            <a:off x="204216" y="0"/>
            <a:ext cx="1397000" cy="508000"/>
          </a:xfrm>
          <a:prstGeom prst="rect">
            <a:avLst/>
          </a:prstGeom>
          <a:solidFill>
            <a:srgbClr val="00529B"/>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5"/>
          <p:cNvSpPr/>
          <p:nvPr/>
        </p:nvSpPr>
        <p:spPr>
          <a:xfrm>
            <a:off x="1855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dirty="0">
                <a:solidFill>
                  <a:srgbClr val="FFFFFF"/>
                </a:solidFill>
                <a:latin typeface="Noto Sans SC" panose="020B0200000000000000" charset="-122"/>
                <a:ea typeface="Noto Sans SC" panose="020B0200000000000000" charset="-122"/>
                <a:sym typeface="Noto Sans SC" panose="020B0200000000000000" charset="-122"/>
              </a:rPr>
              <a:t>研究挑战</a:t>
            </a:r>
            <a:endParaRPr lang="zh-CN" altLang="en-US" sz="1800" dirty="0">
              <a:solidFill>
                <a:srgbClr val="FFFFFF"/>
              </a:solidFill>
              <a:latin typeface="Noto Sans SC" panose="020B0200000000000000" charset="-122"/>
              <a:ea typeface="Noto Sans SC" panose="020B0200000000000000" charset="-122"/>
              <a:sym typeface="Noto Sans SC" panose="020B0200000000000000" charset="-122"/>
            </a:endParaRPr>
          </a:p>
        </p:txBody>
      </p:sp>
      <p:sp>
        <p:nvSpPr>
          <p:cNvPr id="42" name="AutoShape 7"/>
          <p:cNvSpPr/>
          <p:nvPr/>
        </p:nvSpPr>
        <p:spPr>
          <a:xfrm>
            <a:off x="3506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43" name="AutoShape 8"/>
          <p:cNvSpPr/>
          <p:nvPr/>
        </p:nvSpPr>
        <p:spPr>
          <a:xfrm>
            <a:off x="5411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9"/>
          <p:cNvSpPr/>
          <p:nvPr/>
        </p:nvSpPr>
        <p:spPr>
          <a:xfrm>
            <a:off x="7189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安排</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5" name="AutoShape 10"/>
          <p:cNvSpPr/>
          <p:nvPr/>
        </p:nvSpPr>
        <p:spPr>
          <a:xfrm>
            <a:off x="870940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9" name="图片 28"/>
          <p:cNvPicPr>
            <a:picLocks noChangeAspect="1"/>
          </p:cNvPicPr>
          <p:nvPr/>
        </p:nvPicPr>
        <p:blipFill>
          <a:blip r:embed="rId1" cstate="print"/>
          <a:stretch>
            <a:fillRect/>
          </a:stretch>
        </p:blipFill>
        <p:spPr>
          <a:xfrm>
            <a:off x="10618470" y="43815"/>
            <a:ext cx="1321435" cy="420370"/>
          </a:xfrm>
          <a:prstGeom prst="rect">
            <a:avLst/>
          </a:prstGeom>
        </p:spPr>
      </p:pic>
      <p:sp>
        <p:nvSpPr>
          <p:cNvPr id="41" name="AutoShape 6"/>
          <p:cNvSpPr/>
          <p:nvPr/>
        </p:nvSpPr>
        <p:spPr>
          <a:xfrm>
            <a:off x="3506216" y="0"/>
            <a:ext cx="1397000" cy="508000"/>
          </a:xfrm>
          <a:prstGeom prst="roundRect">
            <a:avLst>
              <a:gd name="adj" fmla="val 0"/>
            </a:avLst>
          </a:prstGeom>
          <a:solidFill>
            <a:srgbClr val="1E6EBE"/>
          </a:solidFill>
          <a:ln w="25400" cap="flat" cmpd="sng">
            <a:noFill/>
            <a:prstDash val="solid"/>
            <a:round/>
          </a:ln>
        </p:spPr>
        <p:txBody>
          <a:bodyPr vert="horz" wrap="square" lIns="0" tIns="0" rIns="0" bIns="0" rtlCol="0" anchor="ctr" anchorCtr="0"/>
          <a:lstStyle/>
          <a:p>
            <a:pPr indent="0" algn="ctr">
              <a:lnSpc>
                <a:spcPct val="125000"/>
              </a:lnSpc>
              <a:defRPr/>
            </a:pPr>
            <a:r>
              <a:rPr lang="en-US" sz="1800"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endPar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矩形: 圆角 3"/>
          <p:cNvSpPr/>
          <p:nvPr/>
        </p:nvSpPr>
        <p:spPr>
          <a:xfrm>
            <a:off x="5467985" y="1537970"/>
            <a:ext cx="6471285" cy="5005070"/>
          </a:xfrm>
          <a:prstGeom prst="roundRect">
            <a:avLst>
              <a:gd name="adj" fmla="val 5893"/>
            </a:avLst>
          </a:prstGeom>
          <a:no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b="1" dirty="0"/>
          </a:p>
        </p:txBody>
      </p:sp>
      <p:sp>
        <p:nvSpPr>
          <p:cNvPr id="20" name="矩形: 圆角 7"/>
          <p:cNvSpPr/>
          <p:nvPr/>
        </p:nvSpPr>
        <p:spPr>
          <a:xfrm>
            <a:off x="5224145" y="1635760"/>
            <a:ext cx="476250" cy="3605530"/>
          </a:xfrm>
          <a:prstGeom prst="roundRect">
            <a:avLst/>
          </a:prstGeom>
          <a:solidFill>
            <a:srgbClr val="005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b="1" dirty="0">
                <a:solidFill>
                  <a:schemeClr val="bg1"/>
                </a:solidFill>
                <a:latin typeface="微软雅黑" panose="020B0503020204020204" charset="-122"/>
                <a:ea typeface="微软雅黑" panose="020B0503020204020204" charset="-122"/>
              </a:rPr>
              <a:t>解调系统的温度漂移问题</a:t>
            </a:r>
            <a:endParaRPr lang="zh-CN" altLang="en-US" sz="2000" b="1" dirty="0">
              <a:solidFill>
                <a:schemeClr val="bg1"/>
              </a:solidFill>
              <a:latin typeface="微软雅黑" panose="020B0503020204020204" charset="-122"/>
              <a:ea typeface="微软雅黑" panose="020B0503020204020204" charset="-122"/>
            </a:endParaRPr>
          </a:p>
        </p:txBody>
      </p:sp>
      <p:pic>
        <p:nvPicPr>
          <p:cNvPr id="21" name="图片 2" descr="D:/Graduate_year/Figure_1.pngFigure_1"/>
          <p:cNvPicPr>
            <a:picLocks noChangeAspect="1"/>
          </p:cNvPicPr>
          <p:nvPr/>
        </p:nvPicPr>
        <p:blipFill>
          <a:blip r:embed="rId2"/>
          <a:srcRect l="10" r="11949"/>
          <a:stretch>
            <a:fillRect/>
          </a:stretch>
        </p:blipFill>
        <p:spPr>
          <a:xfrm>
            <a:off x="5793740" y="1722755"/>
            <a:ext cx="5996305" cy="3812540"/>
          </a:xfrm>
          <a:prstGeom prst="rect">
            <a:avLst/>
          </a:prstGeom>
        </p:spPr>
      </p:pic>
      <p:sp>
        <p:nvSpPr>
          <p:cNvPr id="47" name="TextBox 46"/>
          <p:cNvSpPr txBox="1"/>
          <p:nvPr/>
        </p:nvSpPr>
        <p:spPr>
          <a:xfrm>
            <a:off x="5701030" y="5616575"/>
            <a:ext cx="6176645" cy="833755"/>
          </a:xfrm>
          <a:prstGeom prst="rect">
            <a:avLst/>
          </a:prstGeom>
          <a:noFill/>
        </p:spPr>
        <p:txBody>
          <a:bodyPr wrap="square">
            <a:noAutofit/>
          </a:bodyPr>
          <a:lstStyle/>
          <a:p>
            <a:pPr indent="0" algn="l">
              <a:lnSpc>
                <a:spcPct val="125000"/>
              </a:lnSpc>
            </a:pPr>
            <a:r>
              <a:rPr lang="zh-CN" altLang="en-US" sz="1800" b="0" i="0" u="none" strike="noStrike"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所有通道的测试结果</a:t>
            </a:r>
            <a:r>
              <a:rPr lang="en-US" altLang="zh-CN" sz="1800" b="0" i="0" u="none" strike="noStrike"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 (a)</a:t>
            </a:r>
            <a:r>
              <a:rPr lang="zh-CN" altLang="en-US" sz="1800" b="0" i="0" u="none" strike="noStrike"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输出光功率；</a:t>
            </a:r>
            <a:r>
              <a:rPr lang="en-US" altLang="zh-CN" sz="1800" b="0" i="0" u="none" strike="noStrike"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(b) </a:t>
            </a:r>
            <a:r>
              <a:rPr lang="zh-CN" altLang="en-US" sz="1800" b="0" i="0" u="none" strike="noStrike"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比率的线性拟合结果；</a:t>
            </a:r>
            <a:r>
              <a:rPr lang="en-US" altLang="zh-CN" sz="1800" b="0" i="0" u="none" strike="noStrike"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(c) </a:t>
            </a:r>
            <a:r>
              <a:rPr lang="zh-CN" altLang="en-US" sz="1800" b="0" i="0" u="none" strike="noStrike"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全通道拟合结果；</a:t>
            </a:r>
            <a:r>
              <a:rPr lang="en-US" altLang="zh-CN" sz="1800" b="0" i="0" u="none" strike="noStrike"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(d) </a:t>
            </a:r>
            <a:r>
              <a:rPr lang="zh-CN" altLang="en-US" sz="1800" b="0" i="0" u="none" strike="noStrike"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解调误差</a:t>
            </a:r>
            <a:endParaRPr lang="zh-CN" altLang="en-US" sz="1800" b="0" i="0" u="none" strike="noStrike"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pic>
        <p:nvPicPr>
          <p:cNvPr id="22" name="图片 7"/>
          <p:cNvPicPr>
            <a:picLocks noChangeAspect="1"/>
          </p:cNvPicPr>
          <p:nvPr/>
        </p:nvPicPr>
        <p:blipFill>
          <a:blip r:embed="rId3"/>
          <a:stretch>
            <a:fillRect/>
          </a:stretch>
        </p:blipFill>
        <p:spPr>
          <a:xfrm>
            <a:off x="0" y="5341620"/>
            <a:ext cx="5337175" cy="1157605"/>
          </a:xfrm>
          <a:prstGeom prst="rect">
            <a:avLst/>
          </a:prstGeom>
          <a:noFill/>
          <a:ln>
            <a:noFill/>
          </a:ln>
        </p:spPr>
      </p:pic>
      <p:sp>
        <p:nvSpPr>
          <p:cNvPr id="24" name="文本框 23"/>
          <p:cNvSpPr txBox="1"/>
          <p:nvPr/>
        </p:nvSpPr>
        <p:spPr>
          <a:xfrm>
            <a:off x="377825" y="1537970"/>
            <a:ext cx="4675505" cy="3745865"/>
          </a:xfrm>
          <a:prstGeom prst="rect">
            <a:avLst/>
          </a:prstGeom>
          <a:noFill/>
        </p:spPr>
        <p:txBody>
          <a:bodyPr wrap="square" rtlCol="0" anchor="t">
            <a:spAutoFit/>
          </a:bodyPr>
          <a:p>
            <a:pPr indent="457200" algn="l">
              <a:lnSpc>
                <a:spcPct val="125000"/>
              </a:lnSpc>
            </a:pP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在课题组前期恒温测试取得优异结果的基础上，本研究搭建了</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未加主动温控</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的</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AWG</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解调</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实验链路</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，以评估系统在实际环境中的温度稳定性。</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457200" algn="l">
              <a:lnSpc>
                <a:spcPct val="125000"/>
              </a:lnSpc>
            </a:pPr>
            <a:endParaRPr lang="zh-CN" altLang="en-US" sz="1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457200" algn="l">
              <a:lnSpc>
                <a:spcPct val="125000"/>
              </a:lnSpc>
            </a:pP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尽管多项式回归模型在全通道表现出了良好的拟合精度，但进一步分析拟合误差时不难发现系统性问题。</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图</a:t>
            </a:r>
            <a:r>
              <a:rPr lang="en-US" altLang="zh-CN"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(d)</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为全通道拟合误差分布，误差分布呈现明显的整体</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负偏移</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9" name="AutoShape 3"/>
          <p:cNvSpPr/>
          <p:nvPr/>
        </p:nvSpPr>
        <p:spPr>
          <a:xfrm>
            <a:off x="6007735" y="1491615"/>
            <a:ext cx="5701030" cy="5141595"/>
          </a:xfrm>
          <a:prstGeom prst="roundRect">
            <a:avLst>
              <a:gd name="adj" fmla="val 2222"/>
            </a:avLst>
          </a:prstGeom>
          <a:solidFill>
            <a:srgbClr val="FFFFFF">
              <a:alpha val="100000"/>
            </a:srgbClr>
          </a:solidFill>
          <a:ln w="28575" cap="flat" cmpd="sng">
            <a:solidFill>
              <a:srgbClr val="00529B">
                <a:alpha val="100000"/>
              </a:srgbClr>
            </a:solidFill>
            <a:prstDash val="sysDash"/>
            <a:round/>
          </a:ln>
        </p:spPr>
        <p:txBody>
          <a:bodyPr vert="horz" wrap="square" lIns="0" tIns="0" rIns="0" bIns="0" rtlCol="0" anchor="ctr" anchorCtr="0"/>
          <a:lstStyle/>
          <a:p>
            <a:pPr algn="ctr">
              <a:defRPr/>
            </a:pPr>
          </a:p>
        </p:txBody>
      </p:sp>
      <p:sp>
        <p:nvSpPr>
          <p:cNvPr id="2"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03 </a:t>
            </a:r>
            <a:r>
              <a:rPr 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研究内容一</a:t>
            </a:r>
            <a:r>
              <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：基于参考</a:t>
            </a:r>
            <a:r>
              <a:rPr lang="en-US" altLang="zh-CN"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FBG</a:t>
            </a:r>
            <a:r>
              <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温度补偿的</a:t>
            </a:r>
            <a:r>
              <a:rPr lang="en-US" altLang="zh-CN"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AWG</a:t>
            </a:r>
            <a:r>
              <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解调系统研究</a:t>
            </a:r>
            <a:endPar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 name="AutoShape 3"/>
          <p:cNvSpPr/>
          <p:nvPr/>
        </p:nvSpPr>
        <p:spPr>
          <a:xfrm>
            <a:off x="0" y="0"/>
            <a:ext cx="12192000" cy="508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sp>
        <p:nvSpPr>
          <p:cNvPr id="39" name="AutoShape 4"/>
          <p:cNvSpPr/>
          <p:nvPr/>
        </p:nvSpPr>
        <p:spPr>
          <a:xfrm>
            <a:off x="204216" y="0"/>
            <a:ext cx="1397000" cy="508000"/>
          </a:xfrm>
          <a:prstGeom prst="rect">
            <a:avLst/>
          </a:prstGeom>
          <a:solidFill>
            <a:srgbClr val="00529B"/>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5"/>
          <p:cNvSpPr/>
          <p:nvPr/>
        </p:nvSpPr>
        <p:spPr>
          <a:xfrm>
            <a:off x="1855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dirty="0">
                <a:solidFill>
                  <a:srgbClr val="FFFFFF"/>
                </a:solidFill>
                <a:latin typeface="Noto Sans SC" panose="020B0200000000000000" charset="-122"/>
                <a:ea typeface="Noto Sans SC" panose="020B0200000000000000" charset="-122"/>
                <a:sym typeface="Noto Sans SC" panose="020B0200000000000000" charset="-122"/>
              </a:rPr>
              <a:t>研究挑战</a:t>
            </a:r>
            <a:endParaRPr lang="zh-CN" altLang="en-US" sz="1800" dirty="0">
              <a:solidFill>
                <a:srgbClr val="FFFFFF"/>
              </a:solidFill>
              <a:latin typeface="Noto Sans SC" panose="020B0200000000000000" charset="-122"/>
              <a:ea typeface="Noto Sans SC" panose="020B0200000000000000" charset="-122"/>
              <a:sym typeface="Noto Sans SC" panose="020B0200000000000000" charset="-122"/>
            </a:endParaRPr>
          </a:p>
        </p:txBody>
      </p:sp>
      <p:sp>
        <p:nvSpPr>
          <p:cNvPr id="42" name="AutoShape 7"/>
          <p:cNvSpPr/>
          <p:nvPr/>
        </p:nvSpPr>
        <p:spPr>
          <a:xfrm>
            <a:off x="3506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43" name="AutoShape 8"/>
          <p:cNvSpPr/>
          <p:nvPr/>
        </p:nvSpPr>
        <p:spPr>
          <a:xfrm>
            <a:off x="5411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9"/>
          <p:cNvSpPr/>
          <p:nvPr/>
        </p:nvSpPr>
        <p:spPr>
          <a:xfrm>
            <a:off x="7189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安排</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5" name="AutoShape 10"/>
          <p:cNvSpPr/>
          <p:nvPr/>
        </p:nvSpPr>
        <p:spPr>
          <a:xfrm>
            <a:off x="870940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9" name="图片 28"/>
          <p:cNvPicPr>
            <a:picLocks noChangeAspect="1"/>
          </p:cNvPicPr>
          <p:nvPr/>
        </p:nvPicPr>
        <p:blipFill>
          <a:blip r:embed="rId1" cstate="print"/>
          <a:stretch>
            <a:fillRect/>
          </a:stretch>
        </p:blipFill>
        <p:spPr>
          <a:xfrm>
            <a:off x="10618470" y="43815"/>
            <a:ext cx="1321435" cy="420370"/>
          </a:xfrm>
          <a:prstGeom prst="rect">
            <a:avLst/>
          </a:prstGeom>
        </p:spPr>
      </p:pic>
      <p:sp>
        <p:nvSpPr>
          <p:cNvPr id="41" name="AutoShape 6"/>
          <p:cNvSpPr/>
          <p:nvPr/>
        </p:nvSpPr>
        <p:spPr>
          <a:xfrm>
            <a:off x="3506216" y="0"/>
            <a:ext cx="1397000" cy="508000"/>
          </a:xfrm>
          <a:prstGeom prst="roundRect">
            <a:avLst>
              <a:gd name="adj" fmla="val 0"/>
            </a:avLst>
          </a:prstGeom>
          <a:solidFill>
            <a:srgbClr val="1E6EBE"/>
          </a:solidFill>
          <a:ln w="25400" cap="flat" cmpd="sng">
            <a:noFill/>
            <a:prstDash val="solid"/>
            <a:round/>
          </a:ln>
        </p:spPr>
        <p:txBody>
          <a:bodyPr vert="horz" wrap="square" lIns="0" tIns="0" rIns="0" bIns="0" rtlCol="0" anchor="ctr" anchorCtr="0"/>
          <a:lstStyle/>
          <a:p>
            <a:pPr indent="0" algn="ctr">
              <a:lnSpc>
                <a:spcPct val="125000"/>
              </a:lnSpc>
              <a:defRPr/>
            </a:pPr>
            <a:r>
              <a:rPr lang="en-US" sz="1800"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endPar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466090" y="1491615"/>
            <a:ext cx="5080000" cy="5141595"/>
          </a:xfrm>
          <a:prstGeom prst="roundRect">
            <a:avLst>
              <a:gd name="adj" fmla="val 2222"/>
            </a:avLst>
          </a:prstGeom>
          <a:solidFill>
            <a:srgbClr val="FFFFFF">
              <a:alpha val="100000"/>
            </a:srgbClr>
          </a:solidFill>
          <a:ln w="28575" cap="flat" cmpd="sng">
            <a:solidFill>
              <a:srgbClr val="00529B">
                <a:alpha val="100000"/>
              </a:srgbClr>
            </a:solidFill>
            <a:prstDash val="solid"/>
            <a:round/>
          </a:ln>
        </p:spPr>
        <p:txBody>
          <a:bodyPr vert="horz" wrap="square" lIns="0" tIns="0" rIns="0" bIns="0" rtlCol="0" anchor="ctr" anchorCtr="0"/>
          <a:lstStyle/>
          <a:p>
            <a:pPr algn="ctr">
              <a:defRPr/>
            </a:pPr>
          </a:p>
        </p:txBody>
      </p:sp>
      <p:sp>
        <p:nvSpPr>
          <p:cNvPr id="5" name="AutoShape 5"/>
          <p:cNvSpPr/>
          <p:nvPr/>
        </p:nvSpPr>
        <p:spPr>
          <a:xfrm>
            <a:off x="720090" y="4322445"/>
            <a:ext cx="4572000" cy="498475"/>
          </a:xfrm>
          <a:prstGeom prst="roundRect">
            <a:avLst>
              <a:gd name="adj" fmla="val 44444"/>
            </a:avLst>
          </a:prstGeom>
          <a:solidFill>
            <a:srgbClr val="00529B">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zh-CN" alt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参考</a:t>
            </a:r>
            <a:r>
              <a:rPr lang="en-US" altLang="zh-CN"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FBG</a:t>
            </a:r>
            <a:r>
              <a:rPr lang="zh-CN" alt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温度补偿实验</a:t>
            </a: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链路</a:t>
            </a:r>
            <a:endPar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7" name="图片 2"/>
          <p:cNvPicPr>
            <a:picLocks noChangeAspect="1"/>
          </p:cNvPicPr>
          <p:nvPr/>
        </p:nvPicPr>
        <p:blipFill>
          <a:blip r:embed="rId2"/>
          <a:stretch>
            <a:fillRect/>
          </a:stretch>
        </p:blipFill>
        <p:spPr>
          <a:xfrm>
            <a:off x="545465" y="1584960"/>
            <a:ext cx="4918075" cy="2651125"/>
          </a:xfrm>
          <a:prstGeom prst="rect">
            <a:avLst/>
          </a:prstGeom>
          <a:noFill/>
          <a:ln>
            <a:noFill/>
          </a:ln>
        </p:spPr>
      </p:pic>
      <p:pic>
        <p:nvPicPr>
          <p:cNvPr id="30" name="图片 29"/>
          <p:cNvPicPr/>
          <p:nvPr/>
        </p:nvPicPr>
        <p:blipFill>
          <a:blip r:embed="rId3"/>
          <a:stretch>
            <a:fillRect/>
          </a:stretch>
        </p:blipFill>
        <p:spPr>
          <a:xfrm>
            <a:off x="1469390" y="4974590"/>
            <a:ext cx="3109595" cy="371475"/>
          </a:xfrm>
          <a:prstGeom prst="rect">
            <a:avLst/>
          </a:prstGeom>
        </p:spPr>
      </p:pic>
      <p:pic>
        <p:nvPicPr>
          <p:cNvPr id="31" name="图片 30"/>
          <p:cNvPicPr/>
          <p:nvPr/>
        </p:nvPicPr>
        <p:blipFill>
          <a:blip r:embed="rId4"/>
          <a:stretch>
            <a:fillRect/>
          </a:stretch>
        </p:blipFill>
        <p:spPr>
          <a:xfrm>
            <a:off x="1501140" y="5478145"/>
            <a:ext cx="3077845" cy="374015"/>
          </a:xfrm>
          <a:prstGeom prst="rect">
            <a:avLst/>
          </a:prstGeom>
        </p:spPr>
      </p:pic>
      <p:pic>
        <p:nvPicPr>
          <p:cNvPr id="32" name="图片 31"/>
          <p:cNvPicPr/>
          <p:nvPr/>
        </p:nvPicPr>
        <p:blipFill>
          <a:blip r:embed="rId5"/>
          <a:stretch>
            <a:fillRect/>
          </a:stretch>
        </p:blipFill>
        <p:spPr>
          <a:xfrm>
            <a:off x="1691005" y="5940425"/>
            <a:ext cx="2597150" cy="357505"/>
          </a:xfrm>
          <a:prstGeom prst="rect">
            <a:avLst/>
          </a:prstGeom>
        </p:spPr>
      </p:pic>
      <p:sp>
        <p:nvSpPr>
          <p:cNvPr id="8" name="文本框 7"/>
          <p:cNvSpPr txBox="1"/>
          <p:nvPr/>
        </p:nvSpPr>
        <p:spPr>
          <a:xfrm>
            <a:off x="6089650" y="1491615"/>
            <a:ext cx="5562600" cy="4679950"/>
          </a:xfrm>
          <a:prstGeom prst="rect">
            <a:avLst/>
          </a:prstGeom>
          <a:noFill/>
        </p:spPr>
        <p:txBody>
          <a:bodyPr wrap="square" rtlCol="0" anchor="t">
            <a:noAutofit/>
          </a:bodyPr>
          <a:p>
            <a:pPr indent="457200" algn="l">
              <a:lnSpc>
                <a:spcPct val="125000"/>
              </a:lnSpc>
            </a:pP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1</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altLang="zh-CN"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FBG</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选型与安装</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：选取两支中心波长接近、温度灵敏度系数一致的</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FBG</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，分别作为参考</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FBG</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和传感</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FBG</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457200" algn="l">
              <a:lnSpc>
                <a:spcPct val="125000"/>
              </a:lnSpc>
            </a:pPr>
            <a:endParaRPr lang="zh-CN" altLang="en-US" sz="12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457200" algn="l">
              <a:lnSpc>
                <a:spcPct val="125000"/>
              </a:lnSpc>
            </a:pP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2</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初始波长标定</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：在实验室稳定环境下，使用</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OSA</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精确测量</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 FBG</a:t>
            </a:r>
            <a:r>
              <a:rPr lang="en-US" altLang="zh-CN" sz="2000" baseline="-25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ref </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和</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 FBG</a:t>
            </a:r>
            <a:r>
              <a:rPr lang="en-US" altLang="zh-CN" sz="2000" baseline="-25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sen </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的初始布拉格波长。同时，使用</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AWG</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解调系统记录两路</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FBG</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在初始状态下的解调波长值，作为差分补偿的基准。</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457200" algn="l">
              <a:lnSpc>
                <a:spcPct val="125000"/>
              </a:lnSpc>
            </a:pPr>
            <a:endParaRPr lang="zh-CN" altLang="en-US" sz="12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457200" algn="l">
              <a:lnSpc>
                <a:spcPct val="125000"/>
              </a:lnSpc>
            </a:pP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3</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实时差分补偿解调</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：每次解调时，通过</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1</a:t>
            </a:r>
            <a:r>
              <a:rPr lang="en-US"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2</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光开关分时切换至两路</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FBG</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中。获得</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FBG</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当前表观波长。</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最后，在信号处理单元中执行差分补偿计算。</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7" name="AutoShape 3"/>
          <p:cNvSpPr/>
          <p:nvPr/>
        </p:nvSpPr>
        <p:spPr>
          <a:xfrm>
            <a:off x="761365" y="1325880"/>
            <a:ext cx="10668000" cy="1958975"/>
          </a:xfrm>
          <a:prstGeom prst="roundRect">
            <a:avLst>
              <a:gd name="adj" fmla="val 2222"/>
            </a:avLst>
          </a:prstGeom>
          <a:solidFill>
            <a:srgbClr val="FFFFFF">
              <a:alpha val="100000"/>
            </a:srgbClr>
          </a:solidFill>
          <a:ln w="28575" cap="flat" cmpd="sng">
            <a:solidFill>
              <a:srgbClr val="00529B">
                <a:alpha val="100000"/>
              </a:srgbClr>
            </a:solidFill>
            <a:prstDash val="sysDash"/>
            <a:round/>
          </a:ln>
        </p:spPr>
        <p:txBody>
          <a:bodyPr vert="horz" wrap="square" lIns="0" tIns="0" rIns="0" bIns="0" rtlCol="0" anchor="ctr" anchorCtr="0"/>
          <a:lstStyle/>
          <a:p>
            <a:pPr algn="ctr">
              <a:defRPr/>
            </a:pPr>
          </a:p>
        </p:txBody>
      </p:sp>
      <p:sp>
        <p:nvSpPr>
          <p:cNvPr id="38" name="AutoShape 3"/>
          <p:cNvSpPr/>
          <p:nvPr/>
        </p:nvSpPr>
        <p:spPr>
          <a:xfrm>
            <a:off x="0" y="0"/>
            <a:ext cx="12192000" cy="508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sp>
        <p:nvSpPr>
          <p:cNvPr id="39" name="AutoShape 4"/>
          <p:cNvSpPr/>
          <p:nvPr/>
        </p:nvSpPr>
        <p:spPr>
          <a:xfrm>
            <a:off x="204216" y="0"/>
            <a:ext cx="1397000" cy="508000"/>
          </a:xfrm>
          <a:prstGeom prst="rect">
            <a:avLst/>
          </a:prstGeom>
          <a:solidFill>
            <a:srgbClr val="00529B"/>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5"/>
          <p:cNvSpPr/>
          <p:nvPr/>
        </p:nvSpPr>
        <p:spPr>
          <a:xfrm>
            <a:off x="1855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dirty="0">
                <a:solidFill>
                  <a:srgbClr val="FFFFFF"/>
                </a:solidFill>
                <a:latin typeface="Noto Sans SC" panose="020B0200000000000000" charset="-122"/>
                <a:ea typeface="Noto Sans SC" panose="020B0200000000000000" charset="-122"/>
                <a:sym typeface="Noto Sans SC" panose="020B0200000000000000" charset="-122"/>
              </a:rPr>
              <a:t>研究挑战</a:t>
            </a:r>
            <a:endParaRPr lang="zh-CN" altLang="en-US" sz="1800" dirty="0">
              <a:solidFill>
                <a:srgbClr val="FFFFFF"/>
              </a:solidFill>
              <a:latin typeface="Noto Sans SC" panose="020B0200000000000000" charset="-122"/>
              <a:ea typeface="Noto Sans SC" panose="020B0200000000000000" charset="-122"/>
              <a:sym typeface="Noto Sans SC" panose="020B0200000000000000" charset="-122"/>
            </a:endParaRPr>
          </a:p>
        </p:txBody>
      </p:sp>
      <p:sp>
        <p:nvSpPr>
          <p:cNvPr id="41" name="AutoShape 6"/>
          <p:cNvSpPr/>
          <p:nvPr/>
        </p:nvSpPr>
        <p:spPr>
          <a:xfrm>
            <a:off x="3506216" y="0"/>
            <a:ext cx="1397000" cy="508000"/>
          </a:xfrm>
          <a:prstGeom prst="roundRect">
            <a:avLst>
              <a:gd name="adj" fmla="val 0"/>
            </a:avLst>
          </a:prstGeom>
          <a:solidFill>
            <a:srgbClr val="00529B"/>
          </a:solidFill>
          <a:ln w="25400" cap="flat" cmpd="sng">
            <a:noFill/>
            <a:prstDash val="solid"/>
            <a:round/>
          </a:ln>
        </p:spPr>
        <p:txBody>
          <a:bodyPr vert="horz" wrap="square" lIns="0" tIns="0" rIns="0" bIns="0" rtlCol="0" anchor="ctr" anchorCtr="0"/>
          <a:lstStyle/>
          <a:p>
            <a:pPr indent="0" algn="ctr">
              <a:lnSpc>
                <a:spcPct val="125000"/>
              </a:lnSpc>
              <a:defRPr/>
            </a:pPr>
            <a:r>
              <a:rPr lang="en-US" sz="1800"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endPar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2" name="AutoShape 7"/>
          <p:cNvSpPr/>
          <p:nvPr/>
        </p:nvSpPr>
        <p:spPr>
          <a:xfrm>
            <a:off x="3506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43" name="AutoShape 8"/>
          <p:cNvSpPr/>
          <p:nvPr/>
        </p:nvSpPr>
        <p:spPr>
          <a:xfrm>
            <a:off x="5411216" y="0"/>
            <a:ext cx="1397000" cy="508000"/>
          </a:xfrm>
          <a:prstGeom prst="rect">
            <a:avLst/>
          </a:prstGeom>
          <a:solidFill>
            <a:srgbClr val="1E6EBE"/>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9"/>
          <p:cNvSpPr/>
          <p:nvPr/>
        </p:nvSpPr>
        <p:spPr>
          <a:xfrm>
            <a:off x="7189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安排</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5" name="AutoShape 10"/>
          <p:cNvSpPr/>
          <p:nvPr/>
        </p:nvSpPr>
        <p:spPr>
          <a:xfrm>
            <a:off x="870940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4" name="图片 23"/>
          <p:cNvPicPr>
            <a:picLocks noChangeAspect="1"/>
          </p:cNvPicPr>
          <p:nvPr/>
        </p:nvPicPr>
        <p:blipFill>
          <a:blip r:embed="rId1" cstate="print"/>
          <a:stretch>
            <a:fillRect/>
          </a:stretch>
        </p:blipFill>
        <p:spPr>
          <a:xfrm>
            <a:off x="10618470" y="43815"/>
            <a:ext cx="1321435" cy="420370"/>
          </a:xfrm>
          <a:prstGeom prst="rect">
            <a:avLst/>
          </a:prstGeom>
        </p:spPr>
      </p:pic>
      <p:sp>
        <p:nvSpPr>
          <p:cNvPr id="25"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04 研究内容二：</a:t>
            </a:r>
            <a:r>
              <a:rPr lang="zh-CN" alt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基于微波光子滤波器的</a:t>
            </a:r>
            <a:r>
              <a:rPr lang="en-US" altLang="zh-CN"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FBG</a:t>
            </a:r>
            <a:r>
              <a:rPr lang="zh-CN" alt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解调系统研究</a:t>
            </a:r>
            <a:endPar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6" name="AutoShape 3"/>
          <p:cNvSpPr/>
          <p:nvPr/>
        </p:nvSpPr>
        <p:spPr>
          <a:xfrm>
            <a:off x="762000" y="3453765"/>
            <a:ext cx="3302000" cy="3270885"/>
          </a:xfrm>
          <a:prstGeom prst="roundRect">
            <a:avLst>
              <a:gd name="adj" fmla="val 0"/>
            </a:avLst>
          </a:prstGeom>
          <a:solidFill>
            <a:srgbClr val="FFFFFF">
              <a:alpha val="100000"/>
            </a:srgbClr>
          </a:solidFill>
          <a:ln w="12700" cap="flat" cmpd="sng">
            <a:solidFill>
              <a:srgbClr val="00529B">
                <a:alpha val="100000"/>
              </a:srgbClr>
            </a:solidFill>
            <a:prstDash val="solid"/>
            <a:round/>
          </a:ln>
        </p:spPr>
        <p:txBody>
          <a:bodyPr vert="horz" wrap="square" lIns="0" tIns="0" rIns="0" bIns="0" rtlCol="0" anchor="ctr" anchorCtr="0"/>
          <a:lstStyle/>
          <a:p>
            <a:pPr algn="ctr">
              <a:defRPr/>
            </a:pPr>
          </a:p>
        </p:txBody>
      </p:sp>
      <p:sp>
        <p:nvSpPr>
          <p:cNvPr id="27" name="AutoShape 4"/>
          <p:cNvSpPr/>
          <p:nvPr/>
        </p:nvSpPr>
        <p:spPr>
          <a:xfrm>
            <a:off x="762000" y="3453765"/>
            <a:ext cx="3302000" cy="762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pic>
        <p:nvPicPr>
          <p:cNvPr id="28"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7895" y="3644265"/>
            <a:ext cx="354965" cy="354965"/>
          </a:xfrm>
          <a:prstGeom prst="rect">
            <a:avLst/>
          </a:prstGeom>
        </p:spPr>
      </p:pic>
      <p:sp>
        <p:nvSpPr>
          <p:cNvPr id="29" name="AutoShape 6"/>
          <p:cNvSpPr/>
          <p:nvPr/>
        </p:nvSpPr>
        <p:spPr>
          <a:xfrm>
            <a:off x="1397000" y="3606165"/>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研究目标</a:t>
            </a:r>
            <a:endPar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AutoShape 7"/>
          <p:cNvSpPr/>
          <p:nvPr/>
        </p:nvSpPr>
        <p:spPr>
          <a:xfrm>
            <a:off x="952500" y="4392295"/>
            <a:ext cx="2921000" cy="1400175"/>
          </a:xfrm>
          <a:prstGeom prst="rect">
            <a:avLst/>
          </a:prstGeom>
          <a:noFill/>
          <a:ln w="12700" cap="flat" cmpd="sng">
            <a:noFill/>
            <a:prstDash val="solid"/>
            <a:round/>
          </a:ln>
        </p:spPr>
        <p:txBody>
          <a:bodyPr vert="horz" wrap="square" lIns="0" tIns="0" rIns="0" bIns="0" rtlCol="0" anchor="ctr" anchorCtr="0"/>
          <a:lstStyle/>
          <a:p>
            <a:pPr indent="0" algn="l">
              <a:lnSpc>
                <a:spcPct val="125000"/>
              </a:lnSpc>
            </a:pPr>
            <a:r>
              <a:rPr lang="en-US" sz="18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突破传统光域解调精度瓶颈，探索并实现亚皮米级波长解调精度，满足高精度光纤传感应用需求。</a:t>
            </a:r>
            <a:endParaRPr lang="en-US" sz="1800">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31" name="AutoShape 8"/>
          <p:cNvSpPr/>
          <p:nvPr/>
        </p:nvSpPr>
        <p:spPr>
          <a:xfrm>
            <a:off x="4445000" y="3453765"/>
            <a:ext cx="3302000" cy="3270885"/>
          </a:xfrm>
          <a:prstGeom prst="roundRect">
            <a:avLst>
              <a:gd name="adj" fmla="val 0"/>
            </a:avLst>
          </a:prstGeom>
          <a:solidFill>
            <a:srgbClr val="FFFFFF">
              <a:alpha val="100000"/>
            </a:srgbClr>
          </a:solidFill>
          <a:ln w="12700" cap="flat" cmpd="sng">
            <a:solidFill>
              <a:srgbClr val="00529B">
                <a:alpha val="100000"/>
              </a:srgbClr>
            </a:solidFill>
            <a:prstDash val="solid"/>
            <a:round/>
          </a:ln>
        </p:spPr>
        <p:txBody>
          <a:bodyPr vert="horz" wrap="square" lIns="0" tIns="0" rIns="0" bIns="0" rtlCol="0" anchor="ctr" anchorCtr="0"/>
          <a:lstStyle/>
          <a:p>
            <a:pPr algn="ctr">
              <a:defRPr/>
            </a:pPr>
          </a:p>
        </p:txBody>
      </p:sp>
      <p:sp>
        <p:nvSpPr>
          <p:cNvPr id="32" name="AutoShape 9"/>
          <p:cNvSpPr/>
          <p:nvPr/>
        </p:nvSpPr>
        <p:spPr>
          <a:xfrm>
            <a:off x="4445000" y="3453765"/>
            <a:ext cx="3302000" cy="762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pic>
        <p:nvPicPr>
          <p:cNvPr id="33"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83430" y="3606165"/>
            <a:ext cx="444500" cy="444500"/>
          </a:xfrm>
          <a:prstGeom prst="rect">
            <a:avLst/>
          </a:prstGeom>
        </p:spPr>
      </p:pic>
      <p:sp>
        <p:nvSpPr>
          <p:cNvPr id="34" name="AutoShape 11"/>
          <p:cNvSpPr/>
          <p:nvPr/>
        </p:nvSpPr>
        <p:spPr>
          <a:xfrm>
            <a:off x="5123815" y="3606165"/>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技术方案设计</a:t>
            </a:r>
            <a:endPar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5" name="AutoShape 12"/>
          <p:cNvSpPr/>
          <p:nvPr/>
        </p:nvSpPr>
        <p:spPr>
          <a:xfrm>
            <a:off x="4635500" y="4392295"/>
            <a:ext cx="2857500" cy="211709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核心机理：</a:t>
            </a:r>
            <a:r>
              <a:rPr lang="en-US" sz="18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基于PM-IM转换机制，将光波长微小变化映射为微波域频率偏移。</a:t>
            </a:r>
            <a:endParaRPr lang="en-US" sz="1800"/>
          </a:p>
          <a:p>
            <a:pPr indent="0" algn="l">
              <a:lnSpc>
                <a:spcPct val="125000"/>
              </a:lnSpc>
            </a:pPr>
            <a:r>
              <a:rPr lang="en-US" sz="1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链路搭建：</a:t>
            </a:r>
            <a:r>
              <a:rPr lang="en-US" sz="18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引入MRR微环谐振器，构建高灵敏度滤波解调链路。</a:t>
            </a:r>
            <a:endParaRPr lang="en-US" sz="18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6" name="AutoShape 13"/>
          <p:cNvSpPr/>
          <p:nvPr/>
        </p:nvSpPr>
        <p:spPr>
          <a:xfrm>
            <a:off x="8128000" y="3453765"/>
            <a:ext cx="3302000" cy="3277235"/>
          </a:xfrm>
          <a:prstGeom prst="roundRect">
            <a:avLst>
              <a:gd name="adj" fmla="val 0"/>
            </a:avLst>
          </a:prstGeom>
          <a:solidFill>
            <a:srgbClr val="FFFFFF">
              <a:alpha val="100000"/>
            </a:srgbClr>
          </a:solidFill>
          <a:ln w="12700" cap="flat" cmpd="sng">
            <a:solidFill>
              <a:srgbClr val="00529B">
                <a:alpha val="100000"/>
              </a:srgbClr>
            </a:solidFill>
            <a:prstDash val="solid"/>
            <a:round/>
          </a:ln>
        </p:spPr>
        <p:txBody>
          <a:bodyPr vert="horz" wrap="square" lIns="0" tIns="0" rIns="0" bIns="0" rtlCol="0" anchor="ctr" anchorCtr="0"/>
          <a:lstStyle/>
          <a:p>
            <a:pPr algn="ctr">
              <a:defRPr/>
            </a:pPr>
          </a:p>
        </p:txBody>
      </p:sp>
      <p:sp>
        <p:nvSpPr>
          <p:cNvPr id="37" name="AutoShape 14"/>
          <p:cNvSpPr/>
          <p:nvPr/>
        </p:nvSpPr>
        <p:spPr>
          <a:xfrm>
            <a:off x="8128000" y="3453765"/>
            <a:ext cx="3302000" cy="762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pic>
        <p:nvPicPr>
          <p:cNvPr id="46"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18500" y="3644265"/>
            <a:ext cx="400050" cy="400050"/>
          </a:xfrm>
          <a:prstGeom prst="rect">
            <a:avLst/>
          </a:prstGeom>
        </p:spPr>
      </p:pic>
      <p:sp>
        <p:nvSpPr>
          <p:cNvPr id="47" name="AutoShape 16"/>
          <p:cNvSpPr/>
          <p:nvPr/>
        </p:nvSpPr>
        <p:spPr>
          <a:xfrm>
            <a:off x="8763000" y="3606165"/>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可行性分析</a:t>
            </a:r>
            <a:endPar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8" name="AutoShape 17"/>
          <p:cNvSpPr/>
          <p:nvPr/>
        </p:nvSpPr>
        <p:spPr>
          <a:xfrm>
            <a:off x="8318500" y="4392295"/>
            <a:ext cx="2921000" cy="2105660"/>
          </a:xfrm>
          <a:prstGeom prst="rect">
            <a:avLst/>
          </a:prstGeom>
          <a:noFill/>
          <a:ln w="12700" cap="flat" cmpd="sng">
            <a:noFill/>
            <a:prstDash val="solid"/>
            <a:round/>
          </a:ln>
        </p:spPr>
        <p:txBody>
          <a:bodyPr vert="horz" wrap="square" lIns="0" tIns="0" rIns="0" bIns="0" rtlCol="0" anchor="ctr" anchorCtr="0"/>
          <a:lstStyle/>
          <a:p>
            <a:pPr indent="0" algn="l">
              <a:lnSpc>
                <a:spcPct val="125000"/>
              </a:lnSpc>
            </a:pPr>
            <a:r>
              <a:rPr lang="en-US" sz="1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解调算法：</a:t>
            </a:r>
            <a:r>
              <a:rPr lang="en-US" sz="18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采用“预筛选-精匹配-全局择优”三级策略抑制噪声。</a:t>
            </a:r>
            <a:endParaRPr lang="en-US" sz="18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实验验证：</a:t>
            </a:r>
            <a:r>
              <a:rPr lang="en-US" sz="18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已搭建完整实验平台，</a:t>
            </a:r>
            <a:r>
              <a:rPr lang="zh-CN" altLang="en-US" sz="1800"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开展了系统的多温度定标与性能测试。</a:t>
            </a:r>
            <a:endParaRPr lang="zh-CN" altLang="en-US" sz="1800" b="0" i="0" u="none" strike="noStrike" dirty="0">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0" name="Rectangle 26"/>
          <p:cNvSpPr/>
          <p:nvPr/>
        </p:nvSpPr>
        <p:spPr>
          <a:xfrm>
            <a:off x="857250" y="6535610"/>
            <a:ext cx="95250" cy="1270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文本框 55"/>
          <p:cNvSpPr txBox="1"/>
          <p:nvPr/>
        </p:nvSpPr>
        <p:spPr>
          <a:xfrm>
            <a:off x="762000" y="1270000"/>
            <a:ext cx="10668000" cy="2014855"/>
          </a:xfrm>
          <a:prstGeom prst="rect">
            <a:avLst/>
          </a:prstGeom>
          <a:noFill/>
        </p:spPr>
        <p:txBody>
          <a:bodyPr wrap="square" rtlCol="0" anchor="t">
            <a:spAutoFit/>
          </a:bodyPr>
          <a:p>
            <a:pPr indent="457200" algn="l">
              <a:lnSpc>
                <a:spcPct val="125000"/>
              </a:lnSpc>
            </a:pP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上述方案属于光域的边缘滤波解调，其</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精度上限受限</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于</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AWG</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通道光谱的线性度和光功率测量的信噪比。</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457200" algn="l">
              <a:lnSpc>
                <a:spcPct val="125000"/>
              </a:lnSpc>
            </a:pP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基于</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微波光子滤波器</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的解调方案为突破这一瓶颈提供了</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新的路径</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。其核心思想是将</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光域的波长</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变化映射至</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微波域的频率</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变化，利用光学滤波器对光载微波信号的边带进行调控，经光电探测器拍频下变频后，在</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VNA</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上形成微波光子通带或陷波。</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3"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04 研究内容二：</a:t>
            </a:r>
            <a:r>
              <a:rPr lang="zh-CN" alt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基于微波光子滤波器的</a:t>
            </a:r>
            <a:r>
              <a:rPr lang="en-US" altLang="zh-CN"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FBG</a:t>
            </a:r>
            <a:r>
              <a:rPr lang="zh-CN" alt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解调系统研究</a:t>
            </a:r>
            <a:endPar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3"/>
          <p:cNvSpPr/>
          <p:nvPr/>
        </p:nvSpPr>
        <p:spPr>
          <a:xfrm>
            <a:off x="0" y="0"/>
            <a:ext cx="12192000" cy="508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sp>
        <p:nvSpPr>
          <p:cNvPr id="15" name="AutoShape 4"/>
          <p:cNvSpPr/>
          <p:nvPr/>
        </p:nvSpPr>
        <p:spPr>
          <a:xfrm>
            <a:off x="204216" y="0"/>
            <a:ext cx="1397000" cy="508000"/>
          </a:xfrm>
          <a:prstGeom prst="rect">
            <a:avLst/>
          </a:prstGeom>
          <a:solidFill>
            <a:srgbClr val="00529B"/>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5"/>
          <p:cNvSpPr/>
          <p:nvPr/>
        </p:nvSpPr>
        <p:spPr>
          <a:xfrm>
            <a:off x="1855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dirty="0">
                <a:solidFill>
                  <a:srgbClr val="FFFFFF"/>
                </a:solidFill>
                <a:latin typeface="Noto Sans SC" panose="020B0200000000000000" charset="-122"/>
                <a:ea typeface="Noto Sans SC" panose="020B0200000000000000" charset="-122"/>
                <a:sym typeface="Noto Sans SC" panose="020B0200000000000000" charset="-122"/>
              </a:rPr>
              <a:t>研究挑战</a:t>
            </a:r>
            <a:endParaRPr lang="zh-CN" altLang="en-US" sz="1800" dirty="0">
              <a:solidFill>
                <a:srgbClr val="FFFFFF"/>
              </a:solidFill>
              <a:latin typeface="Noto Sans SC" panose="020B0200000000000000" charset="-122"/>
              <a:ea typeface="Noto Sans SC" panose="020B0200000000000000" charset="-122"/>
              <a:sym typeface="Noto Sans SC" panose="020B0200000000000000" charset="-122"/>
            </a:endParaRPr>
          </a:p>
        </p:txBody>
      </p:sp>
      <p:sp>
        <p:nvSpPr>
          <p:cNvPr id="17" name="AutoShape 6"/>
          <p:cNvSpPr/>
          <p:nvPr/>
        </p:nvSpPr>
        <p:spPr>
          <a:xfrm>
            <a:off x="3506216" y="0"/>
            <a:ext cx="1397000" cy="508000"/>
          </a:xfrm>
          <a:prstGeom prst="roundRect">
            <a:avLst>
              <a:gd name="adj" fmla="val 0"/>
            </a:avLst>
          </a:prstGeom>
          <a:solidFill>
            <a:srgbClr val="00529B"/>
          </a:solidFill>
          <a:ln w="25400" cap="flat" cmpd="sng">
            <a:noFill/>
            <a:prstDash val="solid"/>
            <a:round/>
          </a:ln>
        </p:spPr>
        <p:txBody>
          <a:bodyPr vert="horz" wrap="square" lIns="0" tIns="0" rIns="0" bIns="0" rtlCol="0" anchor="ctr" anchorCtr="0"/>
          <a:lstStyle/>
          <a:p>
            <a:pPr indent="0" algn="ctr">
              <a:lnSpc>
                <a:spcPct val="125000"/>
              </a:lnSpc>
              <a:defRPr/>
            </a:pPr>
            <a:r>
              <a:rPr lang="en-US" sz="1800"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endPar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7"/>
          <p:cNvSpPr/>
          <p:nvPr/>
        </p:nvSpPr>
        <p:spPr>
          <a:xfrm>
            <a:off x="3506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27" name="AutoShape 8"/>
          <p:cNvSpPr/>
          <p:nvPr/>
        </p:nvSpPr>
        <p:spPr>
          <a:xfrm>
            <a:off x="5411216" y="0"/>
            <a:ext cx="1397000" cy="508000"/>
          </a:xfrm>
          <a:prstGeom prst="rect">
            <a:avLst/>
          </a:prstGeom>
          <a:solidFill>
            <a:srgbClr val="1E6EBE"/>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9"/>
          <p:cNvSpPr/>
          <p:nvPr/>
        </p:nvSpPr>
        <p:spPr>
          <a:xfrm>
            <a:off x="7189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安排</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10"/>
          <p:cNvSpPr/>
          <p:nvPr/>
        </p:nvSpPr>
        <p:spPr>
          <a:xfrm>
            <a:off x="870940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0" name="图片 29"/>
          <p:cNvPicPr>
            <a:picLocks noChangeAspect="1"/>
          </p:cNvPicPr>
          <p:nvPr/>
        </p:nvPicPr>
        <p:blipFill>
          <a:blip r:embed="rId1" cstate="print"/>
          <a:stretch>
            <a:fillRect/>
          </a:stretch>
        </p:blipFill>
        <p:spPr>
          <a:xfrm>
            <a:off x="10618470" y="43815"/>
            <a:ext cx="1321435" cy="420370"/>
          </a:xfrm>
          <a:prstGeom prst="rect">
            <a:avLst/>
          </a:prstGeom>
        </p:spPr>
      </p:pic>
      <p:sp>
        <p:nvSpPr>
          <p:cNvPr id="31" name="AutoShape 3"/>
          <p:cNvSpPr/>
          <p:nvPr/>
        </p:nvSpPr>
        <p:spPr>
          <a:xfrm>
            <a:off x="466090" y="1491615"/>
            <a:ext cx="5080000" cy="5141595"/>
          </a:xfrm>
          <a:prstGeom prst="roundRect">
            <a:avLst>
              <a:gd name="adj" fmla="val 2222"/>
            </a:avLst>
          </a:prstGeom>
          <a:solidFill>
            <a:srgbClr val="FFFFFF">
              <a:alpha val="100000"/>
            </a:srgbClr>
          </a:solidFill>
          <a:ln w="28575" cap="flat" cmpd="sng">
            <a:solidFill>
              <a:srgbClr val="00529B">
                <a:alpha val="100000"/>
              </a:srgbClr>
            </a:solidFill>
            <a:prstDash val="solid"/>
            <a:round/>
          </a:ln>
        </p:spPr>
        <p:txBody>
          <a:bodyPr vert="horz" wrap="square" lIns="0" tIns="0" rIns="0" bIns="0" rtlCol="0" anchor="ctr" anchorCtr="0"/>
          <a:lstStyle/>
          <a:p>
            <a:pPr algn="ctr">
              <a:defRPr/>
            </a:pPr>
          </a:p>
        </p:txBody>
      </p:sp>
      <p:pic>
        <p:nvPicPr>
          <p:cNvPr id="37" name="图片 13"/>
          <p:cNvPicPr>
            <a:picLocks noChangeAspect="1"/>
          </p:cNvPicPr>
          <p:nvPr/>
        </p:nvPicPr>
        <p:blipFill>
          <a:blip r:embed="rId2"/>
          <a:stretch>
            <a:fillRect/>
          </a:stretch>
        </p:blipFill>
        <p:spPr>
          <a:xfrm>
            <a:off x="566420" y="1542415"/>
            <a:ext cx="4610100" cy="2562225"/>
          </a:xfrm>
          <a:prstGeom prst="rect">
            <a:avLst/>
          </a:prstGeom>
          <a:noFill/>
          <a:ln>
            <a:noFill/>
          </a:ln>
        </p:spPr>
      </p:pic>
      <p:pic>
        <p:nvPicPr>
          <p:cNvPr id="47" name="图片 12" descr="D:/Graduate_year/组会/实验/LD/mrr_1.10_am/MRR_FBG_py.pngMRR_FBG_py"/>
          <p:cNvPicPr>
            <a:picLocks noChangeAspect="1"/>
          </p:cNvPicPr>
          <p:nvPr/>
        </p:nvPicPr>
        <p:blipFill>
          <a:blip r:embed="rId3"/>
          <a:srcRect t="45" b="1008"/>
          <a:stretch>
            <a:fillRect/>
          </a:stretch>
        </p:blipFill>
        <p:spPr>
          <a:xfrm>
            <a:off x="874395" y="4104640"/>
            <a:ext cx="3892550" cy="2473960"/>
          </a:xfrm>
          <a:prstGeom prst="rect">
            <a:avLst/>
          </a:prstGeom>
          <a:noFill/>
          <a:ln>
            <a:noFill/>
          </a:ln>
        </p:spPr>
      </p:pic>
      <p:sp>
        <p:nvSpPr>
          <p:cNvPr id="48" name="AutoShape 3"/>
          <p:cNvSpPr/>
          <p:nvPr/>
        </p:nvSpPr>
        <p:spPr>
          <a:xfrm>
            <a:off x="6007735" y="1491615"/>
            <a:ext cx="5701030" cy="5141595"/>
          </a:xfrm>
          <a:prstGeom prst="roundRect">
            <a:avLst>
              <a:gd name="adj" fmla="val 2222"/>
            </a:avLst>
          </a:prstGeom>
          <a:solidFill>
            <a:srgbClr val="FFFFFF">
              <a:alpha val="100000"/>
            </a:srgbClr>
          </a:solidFill>
          <a:ln w="28575" cap="flat" cmpd="sng">
            <a:solidFill>
              <a:srgbClr val="00529B">
                <a:alpha val="100000"/>
              </a:srgbClr>
            </a:solidFill>
            <a:prstDash val="sysDash"/>
            <a:round/>
          </a:ln>
        </p:spPr>
        <p:txBody>
          <a:bodyPr vert="horz" wrap="square" lIns="0" tIns="0" rIns="0" bIns="0" rtlCol="0" anchor="ctr" anchorCtr="0"/>
          <a:lstStyle/>
          <a:p>
            <a:pPr algn="ctr">
              <a:defRPr/>
            </a:pPr>
          </a:p>
        </p:txBody>
      </p:sp>
      <p:sp>
        <p:nvSpPr>
          <p:cNvPr id="49" name="文本框 48"/>
          <p:cNvSpPr txBox="1"/>
          <p:nvPr/>
        </p:nvSpPr>
        <p:spPr>
          <a:xfrm>
            <a:off x="6157595" y="1491615"/>
            <a:ext cx="5382260" cy="5092700"/>
          </a:xfrm>
          <a:prstGeom prst="rect">
            <a:avLst/>
          </a:prstGeom>
          <a:noFill/>
        </p:spPr>
        <p:txBody>
          <a:bodyPr wrap="square" rtlCol="0" anchor="t">
            <a:spAutoFit/>
          </a:bodyPr>
          <a:p>
            <a:pPr indent="457200" algn="l">
              <a:lnSpc>
                <a:spcPct val="125000"/>
              </a:lnSpc>
            </a:pP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为确定</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稳定的通带</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产生路径，本研究已测量了五种不同中心波长的</a:t>
            </a:r>
            <a:r>
              <a:rPr lang="en-US" altLang="zh-CN"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FBG</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与微环</a:t>
            </a:r>
            <a:r>
              <a:rPr lang="en-US" altLang="zh-CN"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drop</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端</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的透射光谱。当微环谐振峰</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对准</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FBG</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中心波长时，</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drop</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端输出损耗最小。</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457200" algn="l">
              <a:lnSpc>
                <a:spcPct val="125000"/>
              </a:lnSpc>
            </a:pPr>
            <a:endParaRPr lang="en-US" altLang="zh-CN" sz="1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457200" algn="l">
              <a:lnSpc>
                <a:spcPct val="125000"/>
              </a:lnSpc>
            </a:pP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PD</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拍频后在</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VNA</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频域上形成了可观测的</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微波光子通带</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。当</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FBG</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中心波长因温度或应力变化漂移时，需</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调谐微环</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使其谐振峰重新对准，此时通带频率响应发生系统性变化，可通过</a:t>
            </a: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定标与匹配算法</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反推出波长漂移量。</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457200" algn="l">
              <a:lnSpc>
                <a:spcPct val="125000"/>
              </a:lnSpc>
            </a:pPr>
            <a:endParaRPr lang="zh-CN" altLang="en-US" sz="1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457200" algn="l">
              <a:lnSpc>
                <a:spcPct val="125000"/>
              </a:lnSpc>
            </a:pP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该方案将传统的</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FBG</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解调从光域转换至微波域，利用</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VNA</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的高分辨能力，有望突破传统光域解调的精度极限。</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51" name="矩形: 圆角 7"/>
          <p:cNvSpPr/>
          <p:nvPr/>
        </p:nvSpPr>
        <p:spPr>
          <a:xfrm>
            <a:off x="5224145" y="1542415"/>
            <a:ext cx="476250" cy="4499610"/>
          </a:xfrm>
          <a:prstGeom prst="roundRect">
            <a:avLst/>
          </a:prstGeom>
          <a:solidFill>
            <a:srgbClr val="005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800" b="1" dirty="0">
                <a:solidFill>
                  <a:schemeClr val="bg1"/>
                </a:solidFill>
                <a:latin typeface="微软雅黑" panose="020B0503020204020204" charset="-122"/>
                <a:ea typeface="微软雅黑" panose="020B0503020204020204" charset="-122"/>
              </a:rPr>
              <a:t>微波光子滤波的自动化控制解调系统</a:t>
            </a:r>
            <a:endParaRPr lang="zh-CN" altLang="en-US" sz="1800" b="1" dirty="0">
              <a:solidFill>
                <a:schemeClr val="bg1"/>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3"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04 研究内容二：</a:t>
            </a:r>
            <a:r>
              <a:rPr lang="zh-CN" alt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基于微波光子滤波器的</a:t>
            </a:r>
            <a:r>
              <a:rPr lang="en-US" altLang="zh-CN"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FBG</a:t>
            </a:r>
            <a:r>
              <a:rPr lang="zh-CN" alt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解调系统研究</a:t>
            </a:r>
            <a:endPar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3"/>
          <p:cNvSpPr/>
          <p:nvPr/>
        </p:nvSpPr>
        <p:spPr>
          <a:xfrm>
            <a:off x="0" y="0"/>
            <a:ext cx="12192000" cy="508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sp>
        <p:nvSpPr>
          <p:cNvPr id="15" name="AutoShape 4"/>
          <p:cNvSpPr/>
          <p:nvPr/>
        </p:nvSpPr>
        <p:spPr>
          <a:xfrm>
            <a:off x="204216" y="0"/>
            <a:ext cx="1397000" cy="508000"/>
          </a:xfrm>
          <a:prstGeom prst="rect">
            <a:avLst/>
          </a:prstGeom>
          <a:solidFill>
            <a:srgbClr val="00529B"/>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5"/>
          <p:cNvSpPr/>
          <p:nvPr/>
        </p:nvSpPr>
        <p:spPr>
          <a:xfrm>
            <a:off x="1855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dirty="0">
                <a:solidFill>
                  <a:srgbClr val="FFFFFF"/>
                </a:solidFill>
                <a:latin typeface="Noto Sans SC" panose="020B0200000000000000" charset="-122"/>
                <a:ea typeface="Noto Sans SC" panose="020B0200000000000000" charset="-122"/>
                <a:sym typeface="Noto Sans SC" panose="020B0200000000000000" charset="-122"/>
              </a:rPr>
              <a:t>研究挑战</a:t>
            </a:r>
            <a:endParaRPr lang="zh-CN" altLang="en-US" sz="1800" dirty="0">
              <a:solidFill>
                <a:srgbClr val="FFFFFF"/>
              </a:solidFill>
              <a:latin typeface="Noto Sans SC" panose="020B0200000000000000" charset="-122"/>
              <a:ea typeface="Noto Sans SC" panose="020B0200000000000000" charset="-122"/>
              <a:sym typeface="Noto Sans SC" panose="020B0200000000000000" charset="-122"/>
            </a:endParaRPr>
          </a:p>
        </p:txBody>
      </p:sp>
      <p:sp>
        <p:nvSpPr>
          <p:cNvPr id="17" name="AutoShape 6"/>
          <p:cNvSpPr/>
          <p:nvPr/>
        </p:nvSpPr>
        <p:spPr>
          <a:xfrm>
            <a:off x="3506216" y="0"/>
            <a:ext cx="1397000" cy="508000"/>
          </a:xfrm>
          <a:prstGeom prst="roundRect">
            <a:avLst>
              <a:gd name="adj" fmla="val 0"/>
            </a:avLst>
          </a:prstGeom>
          <a:solidFill>
            <a:srgbClr val="00529B"/>
          </a:solidFill>
          <a:ln w="25400" cap="flat" cmpd="sng">
            <a:noFill/>
            <a:prstDash val="solid"/>
            <a:round/>
          </a:ln>
        </p:spPr>
        <p:txBody>
          <a:bodyPr vert="horz" wrap="square" lIns="0" tIns="0" rIns="0" bIns="0" rtlCol="0" anchor="ctr" anchorCtr="0"/>
          <a:lstStyle/>
          <a:p>
            <a:pPr indent="0" algn="ctr">
              <a:lnSpc>
                <a:spcPct val="125000"/>
              </a:lnSpc>
              <a:defRPr/>
            </a:pPr>
            <a:r>
              <a:rPr lang="en-US" sz="1800"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endPar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7"/>
          <p:cNvSpPr/>
          <p:nvPr/>
        </p:nvSpPr>
        <p:spPr>
          <a:xfrm>
            <a:off x="3506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27" name="AutoShape 8"/>
          <p:cNvSpPr/>
          <p:nvPr/>
        </p:nvSpPr>
        <p:spPr>
          <a:xfrm>
            <a:off x="5411216" y="0"/>
            <a:ext cx="1397000" cy="508000"/>
          </a:xfrm>
          <a:prstGeom prst="rect">
            <a:avLst/>
          </a:prstGeom>
          <a:solidFill>
            <a:srgbClr val="1E6EBE"/>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9"/>
          <p:cNvSpPr/>
          <p:nvPr/>
        </p:nvSpPr>
        <p:spPr>
          <a:xfrm>
            <a:off x="7189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安排</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10"/>
          <p:cNvSpPr/>
          <p:nvPr/>
        </p:nvSpPr>
        <p:spPr>
          <a:xfrm>
            <a:off x="870940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0" name="图片 29"/>
          <p:cNvPicPr>
            <a:picLocks noChangeAspect="1"/>
          </p:cNvPicPr>
          <p:nvPr/>
        </p:nvPicPr>
        <p:blipFill>
          <a:blip r:embed="rId1" cstate="print"/>
          <a:stretch>
            <a:fillRect/>
          </a:stretch>
        </p:blipFill>
        <p:spPr>
          <a:xfrm>
            <a:off x="10618470" y="43815"/>
            <a:ext cx="1321435" cy="420370"/>
          </a:xfrm>
          <a:prstGeom prst="rect">
            <a:avLst/>
          </a:prstGeom>
        </p:spPr>
      </p:pic>
      <p:pic>
        <p:nvPicPr>
          <p:cNvPr id="2" name="图片 1" descr="横.drawio"/>
          <p:cNvPicPr>
            <a:picLocks noChangeAspect="1"/>
          </p:cNvPicPr>
          <p:nvPr/>
        </p:nvPicPr>
        <p:blipFill>
          <a:blip r:embed="rId2"/>
          <a:stretch>
            <a:fillRect/>
          </a:stretch>
        </p:blipFill>
        <p:spPr>
          <a:xfrm>
            <a:off x="3626485" y="1960880"/>
            <a:ext cx="8133080" cy="4563110"/>
          </a:xfrm>
          <a:prstGeom prst="rect">
            <a:avLst/>
          </a:prstGeom>
        </p:spPr>
      </p:pic>
      <p:sp>
        <p:nvSpPr>
          <p:cNvPr id="19" name="矩形: 圆角 3"/>
          <p:cNvSpPr/>
          <p:nvPr/>
        </p:nvSpPr>
        <p:spPr>
          <a:xfrm>
            <a:off x="3507105" y="1598930"/>
            <a:ext cx="8337550" cy="5005070"/>
          </a:xfrm>
          <a:prstGeom prst="roundRect">
            <a:avLst>
              <a:gd name="adj" fmla="val 5893"/>
            </a:avLst>
          </a:prstGeom>
          <a:noFill/>
          <a:ln>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800" b="1" dirty="0"/>
          </a:p>
        </p:txBody>
      </p:sp>
      <p:sp>
        <p:nvSpPr>
          <p:cNvPr id="5" name="AutoShape 5"/>
          <p:cNvSpPr/>
          <p:nvPr/>
        </p:nvSpPr>
        <p:spPr>
          <a:xfrm>
            <a:off x="8133080" y="1330960"/>
            <a:ext cx="3500755" cy="498475"/>
          </a:xfrm>
          <a:prstGeom prst="roundRect">
            <a:avLst>
              <a:gd name="adj" fmla="val 44444"/>
            </a:avLst>
          </a:prstGeom>
          <a:solidFill>
            <a:srgbClr val="00529B">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zh-CN" alt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定标与解调算法流程图</a:t>
            </a:r>
            <a:endParaRPr lang="zh-CN" alt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文本框 2"/>
          <p:cNvSpPr txBox="1"/>
          <p:nvPr/>
        </p:nvSpPr>
        <p:spPr>
          <a:xfrm>
            <a:off x="300355" y="1899920"/>
            <a:ext cx="3348990" cy="2014855"/>
          </a:xfrm>
          <a:prstGeom prst="rect">
            <a:avLst/>
          </a:prstGeom>
          <a:noFill/>
        </p:spPr>
        <p:txBody>
          <a:bodyPr wrap="square" rtlCol="0" anchor="t">
            <a:spAutoFit/>
          </a:bodyPr>
          <a:p>
            <a:pPr indent="0" algn="l" eaLnBrk="1" fontAlgn="auto" latinLnBrk="0" hangingPunct="1">
              <a:lnSpc>
                <a:spcPct val="125000"/>
              </a:lnSpc>
            </a:pP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定标流程</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包含以下环节：</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eaLnBrk="1" fontAlgn="auto" latinLnBrk="0" hangingPunct="1">
              <a:lnSpc>
                <a:spcPct val="125000"/>
              </a:lnSpc>
            </a:pP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1.</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工作点确定；</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eaLnBrk="1" fontAlgn="auto" latinLnBrk="0" hangingPunct="1">
              <a:lnSpc>
                <a:spcPct val="125000"/>
              </a:lnSpc>
            </a:pP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2.</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波长扫描与曲线采集；</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eaLnBrk="1" fontAlgn="auto" latinLnBrk="0" hangingPunct="1">
              <a:lnSpc>
                <a:spcPct val="125000"/>
              </a:lnSpc>
            </a:pP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3.</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峰值频率提取；</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a:p>
            <a:pPr indent="0" algn="l" eaLnBrk="1" fontAlgn="auto" latinLnBrk="0" hangingPunct="1">
              <a:lnSpc>
                <a:spcPct val="125000"/>
              </a:lnSpc>
            </a:pP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4.</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定标映射表构建。</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
        <p:nvSpPr>
          <p:cNvPr id="4" name="文本框 3"/>
          <p:cNvSpPr txBox="1"/>
          <p:nvPr/>
        </p:nvSpPr>
        <p:spPr>
          <a:xfrm>
            <a:off x="300355" y="4278630"/>
            <a:ext cx="3131820" cy="1630045"/>
          </a:xfrm>
          <a:prstGeom prst="rect">
            <a:avLst/>
          </a:prstGeom>
          <a:noFill/>
        </p:spPr>
        <p:txBody>
          <a:bodyPr wrap="square" rtlCol="0" anchor="t">
            <a:spAutoFit/>
          </a:bodyPr>
          <a:p>
            <a:pPr indent="0" algn="l" eaLnBrk="1" fontAlgn="auto" latinLnBrk="0" hangingPunct="1">
              <a:lnSpc>
                <a:spcPct val="125000"/>
              </a:lnSpc>
            </a:pPr>
            <a:r>
              <a:rPr lang="zh-CN" altLang="en-US" sz="2000" b="1"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解调算法</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采用</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峰值频率预筛选</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归一化互相关精细匹配</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多功率全局择优</a:t>
            </a:r>
            <a:r>
              <a:rPr lang="en-US" altLang="zh-CN"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a:t>
            </a:r>
            <a:r>
              <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rPr>
              <a:t>的三级判决策略。</a:t>
            </a:r>
            <a:endParaRPr lang="zh-CN" altLang="en-US" sz="2000" dirty="0">
              <a:solidFill>
                <a:srgbClr val="505050"/>
              </a:solidFill>
              <a:latin typeface="微软雅黑" panose="020B0503020204020204" charset="-122"/>
              <a:ea typeface="微软雅黑" panose="020B0503020204020204" charset="-122"/>
              <a:cs typeface="微软雅黑" panose="020B0503020204020204"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2" name="AutoShape 12"/>
          <p:cNvSpPr/>
          <p:nvPr>
            <p:custDataLst>
              <p:tags r:id="rId1"/>
            </p:custDataLst>
          </p:nvPr>
        </p:nvSpPr>
        <p:spPr>
          <a:xfrm>
            <a:off x="364490" y="1327785"/>
            <a:ext cx="11537315" cy="2518410"/>
          </a:xfrm>
          <a:prstGeom prst="roundRect">
            <a:avLst>
              <a:gd name="adj" fmla="val 3333"/>
            </a:avLst>
          </a:prstGeom>
          <a:solidFill>
            <a:srgbClr val="FFFFFF">
              <a:alpha val="100000"/>
            </a:srgbClr>
          </a:solidFill>
          <a:ln w="12700" cap="flat" cmpd="sng">
            <a:solidFill>
              <a:srgbClr val="00529B">
                <a:alpha val="3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p>
        </p:txBody>
      </p:sp>
      <p:sp>
        <p:nvSpPr>
          <p:cNvPr id="9" name="AutoShape 16"/>
          <p:cNvSpPr/>
          <p:nvPr>
            <p:custDataLst>
              <p:tags r:id="rId2"/>
            </p:custDataLst>
          </p:nvPr>
        </p:nvSpPr>
        <p:spPr>
          <a:xfrm>
            <a:off x="364490" y="3979545"/>
            <a:ext cx="11537950" cy="2633980"/>
          </a:xfrm>
          <a:prstGeom prst="roundRect">
            <a:avLst>
              <a:gd name="adj" fmla="val 3333"/>
            </a:avLst>
          </a:prstGeom>
          <a:solidFill>
            <a:srgbClr val="FFFFFF">
              <a:alpha val="100000"/>
            </a:srgbClr>
          </a:solidFill>
          <a:ln w="12700" cap="flat" cmpd="sng">
            <a:solidFill>
              <a:srgbClr val="00529B">
                <a:alpha val="3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p>
        </p:txBody>
      </p:sp>
      <p:sp>
        <p:nvSpPr>
          <p:cNvPr id="13"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04 研究内容二：</a:t>
            </a:r>
            <a:r>
              <a:rPr lang="zh-CN" alt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基于微波光子滤波器的</a:t>
            </a:r>
            <a:r>
              <a:rPr lang="en-US" altLang="zh-CN"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FBG</a:t>
            </a:r>
            <a:r>
              <a:rPr lang="zh-CN" alt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解调系统研究</a:t>
            </a:r>
            <a:endPar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3"/>
          <p:cNvSpPr/>
          <p:nvPr/>
        </p:nvSpPr>
        <p:spPr>
          <a:xfrm>
            <a:off x="0" y="0"/>
            <a:ext cx="12192000" cy="508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sp>
        <p:nvSpPr>
          <p:cNvPr id="15" name="AutoShape 4"/>
          <p:cNvSpPr/>
          <p:nvPr/>
        </p:nvSpPr>
        <p:spPr>
          <a:xfrm>
            <a:off x="204216" y="0"/>
            <a:ext cx="1397000" cy="508000"/>
          </a:xfrm>
          <a:prstGeom prst="rect">
            <a:avLst/>
          </a:prstGeom>
          <a:solidFill>
            <a:srgbClr val="00529B"/>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5"/>
          <p:cNvSpPr/>
          <p:nvPr/>
        </p:nvSpPr>
        <p:spPr>
          <a:xfrm>
            <a:off x="1855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dirty="0">
                <a:solidFill>
                  <a:srgbClr val="FFFFFF"/>
                </a:solidFill>
                <a:latin typeface="Noto Sans SC" panose="020B0200000000000000" charset="-122"/>
                <a:ea typeface="Noto Sans SC" panose="020B0200000000000000" charset="-122"/>
                <a:sym typeface="Noto Sans SC" panose="020B0200000000000000" charset="-122"/>
              </a:rPr>
              <a:t>研究挑战</a:t>
            </a:r>
            <a:endParaRPr lang="zh-CN" altLang="en-US" sz="1800" dirty="0">
              <a:solidFill>
                <a:srgbClr val="FFFFFF"/>
              </a:solidFill>
              <a:latin typeface="Noto Sans SC" panose="020B0200000000000000" charset="-122"/>
              <a:ea typeface="Noto Sans SC" panose="020B0200000000000000" charset="-122"/>
              <a:sym typeface="Noto Sans SC" panose="020B0200000000000000" charset="-122"/>
            </a:endParaRPr>
          </a:p>
        </p:txBody>
      </p:sp>
      <p:sp>
        <p:nvSpPr>
          <p:cNvPr id="17" name="AutoShape 6"/>
          <p:cNvSpPr/>
          <p:nvPr/>
        </p:nvSpPr>
        <p:spPr>
          <a:xfrm>
            <a:off x="3506216" y="0"/>
            <a:ext cx="1397000" cy="508000"/>
          </a:xfrm>
          <a:prstGeom prst="roundRect">
            <a:avLst>
              <a:gd name="adj" fmla="val 0"/>
            </a:avLst>
          </a:prstGeom>
          <a:solidFill>
            <a:srgbClr val="00529B"/>
          </a:solidFill>
          <a:ln w="25400" cap="flat" cmpd="sng">
            <a:noFill/>
            <a:prstDash val="solid"/>
            <a:round/>
          </a:ln>
        </p:spPr>
        <p:txBody>
          <a:bodyPr vert="horz" wrap="square" lIns="0" tIns="0" rIns="0" bIns="0" rtlCol="0" anchor="ctr" anchorCtr="0"/>
          <a:lstStyle/>
          <a:p>
            <a:pPr indent="0" algn="ctr">
              <a:lnSpc>
                <a:spcPct val="125000"/>
              </a:lnSpc>
              <a:defRPr/>
            </a:pPr>
            <a:r>
              <a:rPr lang="en-US" sz="1800"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endPar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7"/>
          <p:cNvSpPr/>
          <p:nvPr/>
        </p:nvSpPr>
        <p:spPr>
          <a:xfrm>
            <a:off x="3506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27" name="AutoShape 8"/>
          <p:cNvSpPr/>
          <p:nvPr/>
        </p:nvSpPr>
        <p:spPr>
          <a:xfrm>
            <a:off x="5411216" y="0"/>
            <a:ext cx="1397000" cy="508000"/>
          </a:xfrm>
          <a:prstGeom prst="rect">
            <a:avLst/>
          </a:prstGeom>
          <a:solidFill>
            <a:srgbClr val="1E6EBE"/>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9"/>
          <p:cNvSpPr/>
          <p:nvPr>
            <p:custDataLst>
              <p:tags r:id="rId3"/>
            </p:custDataLst>
          </p:nvPr>
        </p:nvSpPr>
        <p:spPr>
          <a:xfrm>
            <a:off x="7189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安排</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10"/>
          <p:cNvSpPr/>
          <p:nvPr>
            <p:custDataLst>
              <p:tags r:id="rId4"/>
            </p:custDataLst>
          </p:nvPr>
        </p:nvSpPr>
        <p:spPr>
          <a:xfrm>
            <a:off x="870940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0" name="图片 29"/>
          <p:cNvPicPr>
            <a:picLocks noChangeAspect="1"/>
          </p:cNvPicPr>
          <p:nvPr>
            <p:custDataLst>
              <p:tags r:id="rId5"/>
            </p:custDataLst>
          </p:nvPr>
        </p:nvPicPr>
        <p:blipFill>
          <a:blip r:embed="rId6" cstate="print"/>
          <a:stretch>
            <a:fillRect/>
          </a:stretch>
        </p:blipFill>
        <p:spPr>
          <a:xfrm>
            <a:off x="10618470" y="43815"/>
            <a:ext cx="1321435" cy="420370"/>
          </a:xfrm>
          <a:prstGeom prst="rect">
            <a:avLst/>
          </a:prstGeom>
        </p:spPr>
      </p:pic>
      <p:pic>
        <p:nvPicPr>
          <p:cNvPr id="660546409" name="Picture 1" descr="D:/Graduate_year/Azzx/WPF-FBG/others/Figure_1.pngFigure_1"/>
          <p:cNvPicPr>
            <a:picLocks noChangeAspect="1"/>
          </p:cNvPicPr>
          <p:nvPr/>
        </p:nvPicPr>
        <p:blipFill>
          <a:blip r:embed="rId7"/>
          <a:srcRect l="14" r="14"/>
          <a:stretch>
            <a:fillRect/>
          </a:stretch>
        </p:blipFill>
        <p:spPr>
          <a:xfrm>
            <a:off x="446405" y="1396683"/>
            <a:ext cx="6019800" cy="2292985"/>
          </a:xfrm>
          <a:prstGeom prst="rect">
            <a:avLst/>
          </a:prstGeom>
          <a:ln>
            <a:noFill/>
          </a:ln>
        </p:spPr>
      </p:pic>
      <p:pic>
        <p:nvPicPr>
          <p:cNvPr id="3" name="Picture 1" descr="D:/Graduate_year/Azzx/WPF-FBG/others/image1.pngimage1"/>
          <p:cNvPicPr>
            <a:picLocks noChangeAspect="1"/>
          </p:cNvPicPr>
          <p:nvPr/>
        </p:nvPicPr>
        <p:blipFill>
          <a:blip r:embed="rId8"/>
          <a:srcRect l="133" t="314" r="-22" b="-320"/>
          <a:stretch>
            <a:fillRect/>
          </a:stretch>
        </p:blipFill>
        <p:spPr>
          <a:xfrm>
            <a:off x="811530" y="4118610"/>
            <a:ext cx="5289550" cy="2494915"/>
          </a:xfrm>
          <a:prstGeom prst="rect">
            <a:avLst/>
          </a:prstGeom>
        </p:spPr>
      </p:pic>
      <p:sp>
        <p:nvSpPr>
          <p:cNvPr id="6" name="AutoShape 14"/>
          <p:cNvSpPr/>
          <p:nvPr>
            <p:custDataLst>
              <p:tags r:id="rId9"/>
            </p:custDataLst>
          </p:nvPr>
        </p:nvSpPr>
        <p:spPr>
          <a:xfrm>
            <a:off x="6808470" y="1607185"/>
            <a:ext cx="4215765" cy="457200"/>
          </a:xfrm>
          <a:prstGeom prst="rect">
            <a:avLst/>
          </a:prstGeom>
          <a:solidFill>
            <a:srgbClr val="00529B">
              <a:alpha val="100000"/>
            </a:srgbClr>
          </a:solidFill>
          <a:ln w="12700" cap="flat" cmpd="sng">
            <a:noFill/>
            <a:prstDash val="solid"/>
            <a:round/>
          </a:ln>
        </p:spPr>
        <p:txBody>
          <a:bodyPr vert="horz" wrap="square" lIns="0" tIns="0" rIns="0" bIns="0" rtlCol="0" anchor="ctr" anchorCtr="0"/>
          <a:lstStyle/>
          <a:p>
            <a:pPr indent="0" algn="l">
              <a:lnSpc>
                <a:spcPct val="125000"/>
              </a:lnSpc>
              <a:defRPr/>
            </a:pPr>
            <a:r>
              <a:rPr lang="en-US" altLang="zh-CN" sz="24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4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a:t>
            </a:r>
            <a:r>
              <a:rPr lang="en-US" sz="24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r>
              <a:rPr lang="zh-CN" altLang="en-US" sz="2400" b="1" dirty="0">
                <a:solidFill>
                  <a:srgbClr val="FFFFFF"/>
                </a:solidFill>
                <a:latin typeface="Noto Sans SC" panose="020B0200000000000000" charset="-122"/>
                <a:ea typeface="Noto Sans SC" panose="020B0200000000000000" charset="-122"/>
                <a:cs typeface="Noto Sans SC" panose="020B0200000000000000" charset="-122"/>
              </a:rPr>
              <a:t>FBG温度灵敏度标定</a:t>
            </a:r>
            <a:endParaRPr lang="zh-CN" altLang="en-US" sz="2400" b="1" dirty="0">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8" name="AutoShape 15"/>
          <p:cNvSpPr/>
          <p:nvPr>
            <p:custDataLst>
              <p:tags r:id="rId10"/>
            </p:custDataLst>
          </p:nvPr>
        </p:nvSpPr>
        <p:spPr>
          <a:xfrm>
            <a:off x="6808470" y="2225040"/>
            <a:ext cx="4709160" cy="1305560"/>
          </a:xfrm>
          <a:prstGeom prst="rect">
            <a:avLst/>
          </a:prstGeom>
          <a:noFill/>
          <a:ln w="12700" cap="flat" cmpd="sng">
            <a:noFill/>
            <a:prstDash val="solid"/>
            <a:round/>
          </a:ln>
        </p:spPr>
        <p:txBody>
          <a:bodyPr vert="horz" wrap="square" lIns="0" tIns="0" rIns="0" bIns="0" rtlCol="0" anchor="ctr" anchorCtr="0"/>
          <a:lstStyle/>
          <a:p>
            <a:pPr indent="0" algn="l">
              <a:lnSpc>
                <a:spcPct val="125000"/>
              </a:lnSpc>
              <a:spcBef>
                <a:spcPts val="600"/>
              </a:spcBef>
              <a:defRPr/>
            </a:pPr>
            <a:r>
              <a:rPr lang="en-US" sz="1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a:t>
            </a:r>
            <a:r>
              <a:rPr lang="zh-CN" alt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对测量数据点进行线性拟合，得到</a:t>
            </a:r>
            <a:r>
              <a:rPr lang="en-US" altLang="zh-CN"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FBG</a:t>
            </a:r>
            <a:r>
              <a:rPr lang="zh-CN" alt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的温度灵敏度系数</a:t>
            </a:r>
            <a:r>
              <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8"/>
          <p:cNvSpPr/>
          <p:nvPr>
            <p:custDataLst>
              <p:tags r:id="rId11"/>
            </p:custDataLst>
          </p:nvPr>
        </p:nvSpPr>
        <p:spPr>
          <a:xfrm>
            <a:off x="6808470" y="4374515"/>
            <a:ext cx="4216400" cy="457200"/>
          </a:xfrm>
          <a:prstGeom prst="rect">
            <a:avLst/>
          </a:prstGeom>
          <a:solidFill>
            <a:srgbClr val="00529B">
              <a:alpha val="100000"/>
            </a:srgbClr>
          </a:solidFill>
          <a:ln w="12700" cap="flat" cmpd="sng">
            <a:noFill/>
            <a:prstDash val="solid"/>
            <a:round/>
          </a:ln>
        </p:spPr>
        <p:txBody>
          <a:bodyPr vert="horz" wrap="square" lIns="0" tIns="0" rIns="0" bIns="0" rtlCol="0" anchor="ctr" anchorCtr="0"/>
          <a:lstStyle/>
          <a:p>
            <a:pPr indent="0" algn="l">
              <a:lnSpc>
                <a:spcPct val="125000"/>
              </a:lnSpc>
              <a:defRPr/>
            </a:pPr>
            <a:r>
              <a:rPr lang="en-US" altLang="zh-CN" sz="24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4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a:t>
            </a:r>
            <a:r>
              <a:rPr lang="en-US" sz="24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r>
              <a:rPr lang="en-US" sz="2400" b="1" dirty="0" err="1">
                <a:solidFill>
                  <a:srgbClr val="FFFFFF"/>
                </a:solidFill>
                <a:latin typeface="Noto Sans SC" panose="020B0200000000000000" charset="-122"/>
                <a:ea typeface="Noto Sans SC" panose="020B0200000000000000" charset="-122"/>
                <a:cs typeface="Noto Sans SC" panose="020B0200000000000000" charset="-122"/>
              </a:rPr>
              <a:t>温度传感功能验证</a:t>
            </a:r>
            <a:endParaRPr lang="en-US" sz="2400" b="1" dirty="0" err="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AutoShape 19"/>
          <p:cNvSpPr/>
          <p:nvPr>
            <p:custDataLst>
              <p:tags r:id="rId12"/>
            </p:custDataLst>
          </p:nvPr>
        </p:nvSpPr>
        <p:spPr>
          <a:xfrm>
            <a:off x="6808470" y="4992370"/>
            <a:ext cx="4780280" cy="1504950"/>
          </a:xfrm>
          <a:prstGeom prst="rect">
            <a:avLst/>
          </a:prstGeom>
          <a:noFill/>
          <a:ln w="12700" cap="flat" cmpd="sng">
            <a:noFill/>
            <a:prstDash val="solid"/>
            <a:round/>
          </a:ln>
        </p:spPr>
        <p:txBody>
          <a:bodyPr vert="horz" wrap="square" lIns="0" tIns="0" rIns="0" bIns="0" rtlCol="0" anchor="ctr" anchorCtr="0"/>
          <a:lstStyle/>
          <a:p>
            <a:pPr indent="0" algn="l">
              <a:lnSpc>
                <a:spcPct val="125000"/>
              </a:lnSpc>
              <a:spcBef>
                <a:spcPts val="600"/>
              </a:spcBef>
              <a:defRPr/>
            </a:pPr>
            <a:r>
              <a:rPr lang="en-US" sz="1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物理</a:t>
            </a:r>
            <a:r>
              <a:rPr lang="zh-CN" altLang="en-US" sz="1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极限</a:t>
            </a:r>
            <a:r>
              <a:rPr lang="en-US" sz="1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0" i="0" u="none" strike="noStrike" dirty="0" err="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受限于滤波器分辨率与探测</a:t>
            </a:r>
            <a:r>
              <a:rPr lang="zh-CN" altLang="en-US" sz="1800"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信噪比</a:t>
            </a:r>
            <a:r>
              <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0" i="0" u="none" strike="noStrike" dirty="0" err="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单纯优化器件已近极限</a:t>
            </a:r>
            <a:r>
              <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dirty="0"/>
          </a:p>
          <a:p>
            <a:pPr indent="0" algn="l">
              <a:lnSpc>
                <a:spcPct val="125000"/>
              </a:lnSpc>
              <a:spcBef>
                <a:spcPts val="1200"/>
              </a:spcBef>
            </a:pPr>
            <a:r>
              <a:rPr lang="en-US" sz="1800" b="1" i="0" u="none" strike="noStrike" dirty="0" err="1">
                <a:solidFill>
                  <a:srgbClr val="1E6EBE"/>
                </a:solidFill>
                <a:latin typeface="Noto Sans SC" panose="020B0200000000000000" charset="-122"/>
                <a:ea typeface="Noto Sans SC" panose="020B0200000000000000" charset="-122"/>
                <a:cs typeface="Noto Sans SC" panose="020B0200000000000000" charset="-122"/>
                <a:sym typeface="Noto Sans SC" panose="020B0200000000000000" charset="-122"/>
              </a:rPr>
              <a:t>微波光子学</a:t>
            </a:r>
            <a:r>
              <a:rPr lang="zh-CN" altLang="en-US" sz="1800" b="1" dirty="0">
                <a:solidFill>
                  <a:srgbClr val="1E6EB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2" name="AutoShape 12"/>
          <p:cNvSpPr/>
          <p:nvPr/>
        </p:nvSpPr>
        <p:spPr>
          <a:xfrm>
            <a:off x="342265" y="1327785"/>
            <a:ext cx="11559540" cy="2638425"/>
          </a:xfrm>
          <a:prstGeom prst="roundRect">
            <a:avLst>
              <a:gd name="adj" fmla="val 3333"/>
            </a:avLst>
          </a:prstGeom>
          <a:solidFill>
            <a:srgbClr val="FFFFFF">
              <a:alpha val="100000"/>
            </a:srgbClr>
          </a:solidFill>
          <a:ln w="12700" cap="flat" cmpd="sng">
            <a:solidFill>
              <a:srgbClr val="00529B">
                <a:alpha val="3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p>
        </p:txBody>
      </p:sp>
      <p:sp>
        <p:nvSpPr>
          <p:cNvPr id="9" name="AutoShape 16"/>
          <p:cNvSpPr/>
          <p:nvPr/>
        </p:nvSpPr>
        <p:spPr>
          <a:xfrm>
            <a:off x="342265" y="4095115"/>
            <a:ext cx="11560175" cy="2620010"/>
          </a:xfrm>
          <a:prstGeom prst="roundRect">
            <a:avLst>
              <a:gd name="adj" fmla="val 3333"/>
            </a:avLst>
          </a:prstGeom>
          <a:solidFill>
            <a:srgbClr val="FFFFFF">
              <a:alpha val="100000"/>
            </a:srgbClr>
          </a:solidFill>
          <a:ln w="12700" cap="flat" cmpd="sng">
            <a:solidFill>
              <a:srgbClr val="00529B">
                <a:alpha val="30000"/>
              </a:srgbClr>
            </a:solidFill>
            <a:prstDash val="solid"/>
            <a:round/>
          </a:ln>
          <a:effectLst>
            <a:outerShdw blurRad="444500" dist="190500" dir="2700000" algn="tl" rotWithShape="0">
              <a:srgbClr val="000000">
                <a:alpha val="25000"/>
              </a:srgbClr>
            </a:outerShdw>
          </a:effectLst>
        </p:spPr>
        <p:txBody>
          <a:bodyPr vert="horz" wrap="square" lIns="0" tIns="0" rIns="0" bIns="0" rtlCol="0" anchor="ctr" anchorCtr="0"/>
          <a:lstStyle/>
          <a:p>
            <a:pPr algn="ctr">
              <a:defRPr/>
            </a:pPr>
          </a:p>
        </p:txBody>
      </p:sp>
      <p:sp>
        <p:nvSpPr>
          <p:cNvPr id="13"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04 研究内容二：</a:t>
            </a:r>
            <a:r>
              <a:rPr lang="zh-CN" alt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基于微波光子滤波器的</a:t>
            </a:r>
            <a:r>
              <a:rPr lang="en-US" altLang="zh-CN"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FBG</a:t>
            </a:r>
            <a:r>
              <a:rPr lang="zh-CN" alt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解调系统研究</a:t>
            </a:r>
            <a:endPar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3"/>
          <p:cNvSpPr/>
          <p:nvPr/>
        </p:nvSpPr>
        <p:spPr>
          <a:xfrm>
            <a:off x="0" y="0"/>
            <a:ext cx="12192000" cy="508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sp>
        <p:nvSpPr>
          <p:cNvPr id="15" name="AutoShape 4"/>
          <p:cNvSpPr/>
          <p:nvPr/>
        </p:nvSpPr>
        <p:spPr>
          <a:xfrm>
            <a:off x="204216" y="0"/>
            <a:ext cx="1397000" cy="508000"/>
          </a:xfrm>
          <a:prstGeom prst="rect">
            <a:avLst/>
          </a:prstGeom>
          <a:solidFill>
            <a:srgbClr val="00529B"/>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5"/>
          <p:cNvSpPr/>
          <p:nvPr/>
        </p:nvSpPr>
        <p:spPr>
          <a:xfrm>
            <a:off x="1855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dirty="0">
                <a:solidFill>
                  <a:srgbClr val="FFFFFF"/>
                </a:solidFill>
                <a:latin typeface="Noto Sans SC" panose="020B0200000000000000" charset="-122"/>
                <a:ea typeface="Noto Sans SC" panose="020B0200000000000000" charset="-122"/>
                <a:sym typeface="Noto Sans SC" panose="020B0200000000000000" charset="-122"/>
              </a:rPr>
              <a:t>研究挑战</a:t>
            </a:r>
            <a:endParaRPr lang="zh-CN" altLang="en-US" sz="1800" dirty="0">
              <a:solidFill>
                <a:srgbClr val="FFFFFF"/>
              </a:solidFill>
              <a:latin typeface="Noto Sans SC" panose="020B0200000000000000" charset="-122"/>
              <a:ea typeface="Noto Sans SC" panose="020B0200000000000000" charset="-122"/>
              <a:sym typeface="Noto Sans SC" panose="020B0200000000000000" charset="-122"/>
            </a:endParaRPr>
          </a:p>
        </p:txBody>
      </p:sp>
      <p:sp>
        <p:nvSpPr>
          <p:cNvPr id="17" name="AutoShape 6"/>
          <p:cNvSpPr/>
          <p:nvPr/>
        </p:nvSpPr>
        <p:spPr>
          <a:xfrm>
            <a:off x="3506216" y="0"/>
            <a:ext cx="1397000" cy="508000"/>
          </a:xfrm>
          <a:prstGeom prst="roundRect">
            <a:avLst>
              <a:gd name="adj" fmla="val 0"/>
            </a:avLst>
          </a:prstGeom>
          <a:solidFill>
            <a:srgbClr val="00529B"/>
          </a:solidFill>
          <a:ln w="25400" cap="flat" cmpd="sng">
            <a:noFill/>
            <a:prstDash val="solid"/>
            <a:round/>
          </a:ln>
        </p:spPr>
        <p:txBody>
          <a:bodyPr vert="horz" wrap="square" lIns="0" tIns="0" rIns="0" bIns="0" rtlCol="0" anchor="ctr" anchorCtr="0"/>
          <a:lstStyle/>
          <a:p>
            <a:pPr indent="0" algn="ctr">
              <a:lnSpc>
                <a:spcPct val="125000"/>
              </a:lnSpc>
              <a:defRPr/>
            </a:pPr>
            <a:r>
              <a:rPr lang="en-US" sz="1800"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endPar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7"/>
          <p:cNvSpPr/>
          <p:nvPr/>
        </p:nvSpPr>
        <p:spPr>
          <a:xfrm>
            <a:off x="3506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27" name="AutoShape 8"/>
          <p:cNvSpPr/>
          <p:nvPr/>
        </p:nvSpPr>
        <p:spPr>
          <a:xfrm>
            <a:off x="5411216" y="0"/>
            <a:ext cx="1397000" cy="508000"/>
          </a:xfrm>
          <a:prstGeom prst="rect">
            <a:avLst/>
          </a:prstGeom>
          <a:solidFill>
            <a:srgbClr val="1E6EBE"/>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9"/>
          <p:cNvSpPr/>
          <p:nvPr/>
        </p:nvSpPr>
        <p:spPr>
          <a:xfrm>
            <a:off x="7189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安排</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10"/>
          <p:cNvSpPr/>
          <p:nvPr/>
        </p:nvSpPr>
        <p:spPr>
          <a:xfrm>
            <a:off x="870940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0" name="图片 29"/>
          <p:cNvPicPr>
            <a:picLocks noChangeAspect="1"/>
          </p:cNvPicPr>
          <p:nvPr/>
        </p:nvPicPr>
        <p:blipFill>
          <a:blip r:embed="rId1" cstate="print"/>
          <a:stretch>
            <a:fillRect/>
          </a:stretch>
        </p:blipFill>
        <p:spPr>
          <a:xfrm>
            <a:off x="10618470" y="43815"/>
            <a:ext cx="1321435" cy="420370"/>
          </a:xfrm>
          <a:prstGeom prst="rect">
            <a:avLst/>
          </a:prstGeom>
        </p:spPr>
      </p:pic>
      <p:grpSp>
        <p:nvGrpSpPr>
          <p:cNvPr id="2" name="组合 1"/>
          <p:cNvGrpSpPr/>
          <p:nvPr/>
        </p:nvGrpSpPr>
        <p:grpSpPr>
          <a:xfrm>
            <a:off x="473710" y="1397000"/>
            <a:ext cx="5842000" cy="2519680"/>
            <a:chOff x="10188" y="6367"/>
            <a:chExt cx="9200" cy="3968"/>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rcRect l="49479" r="-1554"/>
            <a:stretch>
              <a:fillRect/>
            </a:stretch>
          </p:blipFill>
          <p:spPr>
            <a:xfrm>
              <a:off x="10188" y="6367"/>
              <a:ext cx="4648" cy="3968"/>
            </a:xfrm>
            <a:prstGeom prst="rect">
              <a:avLst/>
            </a:prstGeom>
            <a:noFill/>
            <a:ln>
              <a:noFill/>
            </a:ln>
          </p:spPr>
        </p:pic>
        <p:pic>
          <p:nvPicPr>
            <p:cNvPr id="429424027" name="Picture 3"/>
            <p:cNvPicPr/>
            <p:nvPr/>
          </p:nvPicPr>
          <p:blipFill>
            <a:blip r:embed="rId3" cstate="print">
              <a:extLst>
                <a:ext uri="{28A0092B-C50C-407E-A947-70E740481C1C}">
                  <a14:useLocalDpi xmlns:a14="http://schemas.microsoft.com/office/drawing/2010/main" val="0"/>
                </a:ext>
              </a:extLst>
            </a:blip>
            <a:srcRect l="50425"/>
            <a:stretch>
              <a:fillRect/>
            </a:stretch>
          </p:blipFill>
          <p:spPr>
            <a:xfrm>
              <a:off x="14740" y="6367"/>
              <a:ext cx="4648" cy="3968"/>
            </a:xfrm>
            <a:prstGeom prst="rect">
              <a:avLst/>
            </a:prstGeom>
            <a:ln>
              <a:noFill/>
            </a:ln>
          </p:spPr>
        </p:pic>
      </p:grpSp>
      <p:pic>
        <p:nvPicPr>
          <p:cNvPr id="7" name="图片 7" descr="D:/Graduate_year/Azzx/WPF-FBG/others/tem.pngtem"/>
          <p:cNvPicPr>
            <a:picLocks noChangeAspect="1"/>
          </p:cNvPicPr>
          <p:nvPr/>
        </p:nvPicPr>
        <p:blipFill>
          <a:blip r:embed="rId4"/>
          <a:srcRect l="622" r="622"/>
          <a:stretch>
            <a:fillRect/>
          </a:stretch>
        </p:blipFill>
        <p:spPr>
          <a:xfrm>
            <a:off x="1344295" y="4138295"/>
            <a:ext cx="4140200" cy="2531110"/>
          </a:xfrm>
          <a:prstGeom prst="rect">
            <a:avLst/>
          </a:prstGeom>
        </p:spPr>
      </p:pic>
      <p:sp>
        <p:nvSpPr>
          <p:cNvPr id="6" name="AutoShape 14"/>
          <p:cNvSpPr/>
          <p:nvPr/>
        </p:nvSpPr>
        <p:spPr>
          <a:xfrm>
            <a:off x="6808470" y="1607185"/>
            <a:ext cx="4215765" cy="457200"/>
          </a:xfrm>
          <a:prstGeom prst="rect">
            <a:avLst/>
          </a:prstGeom>
          <a:solidFill>
            <a:srgbClr val="00529B">
              <a:alpha val="100000"/>
            </a:srgbClr>
          </a:solidFill>
          <a:ln w="12700" cap="flat" cmpd="sng">
            <a:noFill/>
            <a:prstDash val="solid"/>
            <a:round/>
          </a:ln>
        </p:spPr>
        <p:txBody>
          <a:bodyPr vert="horz" wrap="square" lIns="0" tIns="0" rIns="0" bIns="0" rtlCol="0" anchor="ctr" anchorCtr="0"/>
          <a:lstStyle/>
          <a:p>
            <a:pPr indent="0" algn="l">
              <a:lnSpc>
                <a:spcPct val="125000"/>
              </a:lnSpc>
              <a:defRPr/>
            </a:pPr>
            <a:r>
              <a:rPr lang="en-US" altLang="zh-CN" sz="24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4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实验三</a:t>
            </a:r>
            <a:r>
              <a:rPr lang="en-US" sz="24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400" b="1" dirty="0">
                <a:solidFill>
                  <a:srgbClr val="FFFFFF"/>
                </a:solidFill>
                <a:latin typeface="Noto Sans SC" panose="020B0200000000000000" charset="-122"/>
                <a:ea typeface="Noto Sans SC" panose="020B0200000000000000" charset="-122"/>
                <a:cs typeface="Noto Sans SC" panose="020B0200000000000000" charset="-122"/>
              </a:rPr>
              <a:t>定标方法适应性验证</a:t>
            </a:r>
            <a:endParaRPr lang="zh-CN" altLang="en-US" sz="2400" b="1" dirty="0">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8" name="AutoShape 15"/>
          <p:cNvSpPr/>
          <p:nvPr/>
        </p:nvSpPr>
        <p:spPr>
          <a:xfrm>
            <a:off x="6808470" y="2225040"/>
            <a:ext cx="3825875" cy="1305560"/>
          </a:xfrm>
          <a:prstGeom prst="rect">
            <a:avLst/>
          </a:prstGeom>
          <a:noFill/>
          <a:ln w="12700" cap="flat" cmpd="sng">
            <a:noFill/>
            <a:prstDash val="solid"/>
            <a:round/>
          </a:ln>
        </p:spPr>
        <p:txBody>
          <a:bodyPr vert="horz" wrap="square" lIns="0" tIns="0" rIns="0" bIns="0" rtlCol="0" anchor="ctr" anchorCtr="0"/>
          <a:lstStyle/>
          <a:p>
            <a:pPr indent="0" algn="l">
              <a:lnSpc>
                <a:spcPct val="125000"/>
              </a:lnSpc>
              <a:spcBef>
                <a:spcPts val="600"/>
              </a:spcBef>
              <a:defRPr/>
            </a:pPr>
            <a:r>
              <a:rPr lang="en-US" sz="1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核心痛点：</a:t>
            </a:r>
            <a:r>
              <a:rPr lang="en-US" sz="1800" b="0" i="0" u="none" strike="noStrike" dirty="0" err="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AWG芯片</a:t>
            </a:r>
            <a:r>
              <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8"/>
          <p:cNvSpPr/>
          <p:nvPr/>
        </p:nvSpPr>
        <p:spPr>
          <a:xfrm>
            <a:off x="6808470" y="4374515"/>
            <a:ext cx="4216400" cy="457200"/>
          </a:xfrm>
          <a:prstGeom prst="rect">
            <a:avLst/>
          </a:prstGeom>
          <a:solidFill>
            <a:srgbClr val="00529B">
              <a:alpha val="100000"/>
            </a:srgbClr>
          </a:solidFill>
          <a:ln w="12700" cap="flat" cmpd="sng">
            <a:noFill/>
            <a:prstDash val="solid"/>
            <a:round/>
          </a:ln>
        </p:spPr>
        <p:txBody>
          <a:bodyPr vert="horz" wrap="square" lIns="0" tIns="0" rIns="0" bIns="0" rtlCol="0" anchor="ctr" anchorCtr="0"/>
          <a:lstStyle/>
          <a:p>
            <a:pPr indent="0" algn="l">
              <a:lnSpc>
                <a:spcPct val="125000"/>
              </a:lnSpc>
              <a:defRPr/>
            </a:pPr>
            <a:r>
              <a:rPr lang="en-US" altLang="zh-CN" sz="24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400" b="1"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实验四</a:t>
            </a:r>
            <a:r>
              <a:rPr lang="en-US" sz="2400" b="1"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2400" b="1" dirty="0" err="1">
                <a:solidFill>
                  <a:srgbClr val="FFFFFF"/>
                </a:solidFill>
                <a:latin typeface="Noto Sans SC" panose="020B0200000000000000" charset="-122"/>
                <a:ea typeface="Noto Sans SC" panose="020B0200000000000000" charset="-122"/>
                <a:cs typeface="Noto Sans SC" panose="020B0200000000000000" charset="-122"/>
              </a:rPr>
              <a:t>多温度解调性能分析</a:t>
            </a:r>
            <a:endParaRPr lang="zh-CN" altLang="en-US" sz="2400" b="1" dirty="0" err="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AutoShape 19"/>
          <p:cNvSpPr/>
          <p:nvPr/>
        </p:nvSpPr>
        <p:spPr>
          <a:xfrm>
            <a:off x="6808470" y="4992370"/>
            <a:ext cx="4780280" cy="1504950"/>
          </a:xfrm>
          <a:prstGeom prst="rect">
            <a:avLst/>
          </a:prstGeom>
          <a:noFill/>
          <a:ln w="12700" cap="flat" cmpd="sng">
            <a:noFill/>
            <a:prstDash val="solid"/>
            <a:round/>
          </a:ln>
        </p:spPr>
        <p:txBody>
          <a:bodyPr vert="horz" wrap="square" lIns="0" tIns="0" rIns="0" bIns="0" rtlCol="0" anchor="ctr" anchorCtr="0"/>
          <a:lstStyle/>
          <a:p>
            <a:pPr indent="0" algn="l">
              <a:lnSpc>
                <a:spcPct val="125000"/>
              </a:lnSpc>
              <a:spcBef>
                <a:spcPts val="600"/>
              </a:spcBef>
              <a:defRPr/>
            </a:pPr>
            <a:r>
              <a:rPr lang="en-US" sz="1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物理</a:t>
            </a:r>
            <a:r>
              <a:rPr lang="zh-CN" altLang="en-US" sz="1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极限</a:t>
            </a:r>
            <a:r>
              <a:rPr lang="en-US" sz="1800" b="1" i="0" u="none" strike="noStrike" dirty="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0" i="0" u="none" strike="noStrike" dirty="0" err="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受限于滤波器分辨率与探测</a:t>
            </a:r>
            <a:r>
              <a:rPr lang="zh-CN" altLang="en-US" sz="1800"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信噪比</a:t>
            </a:r>
            <a:r>
              <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800" b="0" i="0" u="none" strike="noStrike" dirty="0" err="1">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单纯优化器件已近极限</a:t>
            </a:r>
            <a:r>
              <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dirty="0"/>
          </a:p>
          <a:p>
            <a:pPr indent="0" algn="l">
              <a:lnSpc>
                <a:spcPct val="125000"/>
              </a:lnSpc>
              <a:spcBef>
                <a:spcPts val="1200"/>
              </a:spcBef>
            </a:pPr>
            <a:r>
              <a:rPr lang="en-US" sz="1800" b="1" i="0" u="none" strike="noStrike" dirty="0" err="1">
                <a:solidFill>
                  <a:srgbClr val="1E6EBE"/>
                </a:solidFill>
                <a:latin typeface="Noto Sans SC" panose="020B0200000000000000" charset="-122"/>
                <a:ea typeface="Noto Sans SC" panose="020B0200000000000000" charset="-122"/>
                <a:cs typeface="Noto Sans SC" panose="020B0200000000000000" charset="-122"/>
                <a:sym typeface="Noto Sans SC" panose="020B0200000000000000" charset="-122"/>
              </a:rPr>
              <a:t>微波光子学</a:t>
            </a:r>
            <a:r>
              <a:rPr lang="zh-CN" altLang="en-US" sz="1800" b="1" dirty="0">
                <a:solidFill>
                  <a:srgbClr val="1E6EBE"/>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800" b="0" i="0" u="none" strike="noStrike" dirty="0">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lIns="63500" tIns="63500" rIns="63500" bIns="63500" rtlCol="0" anchor="ctr"/>
          <a:lstStyle/>
          <a:p>
            <a:pPr algn="ctr">
              <a:defRPr/>
            </a:pPr>
          </a:p>
        </p:txBody>
      </p:sp>
      <p:sp>
        <p:nvSpPr>
          <p:cNvPr id="3" name="AutoShape 3"/>
          <p:cNvSpPr/>
          <p:nvPr/>
        </p:nvSpPr>
        <p:spPr>
          <a:xfrm>
            <a:off x="0" y="0"/>
            <a:ext cx="12192000" cy="508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204216" y="0"/>
            <a:ext cx="1397000" cy="508000"/>
          </a:xfrm>
          <a:prstGeom prst="rect">
            <a:avLst/>
          </a:prstGeom>
          <a:solidFill>
            <a:srgbClr val="1E6EBE"/>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1855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dirty="0">
                <a:solidFill>
                  <a:srgbClr val="FFFFFF"/>
                </a:solidFill>
                <a:latin typeface="Noto Sans SC" panose="020B0200000000000000" charset="-122"/>
                <a:ea typeface="Noto Sans SC" panose="020B0200000000000000" charset="-122"/>
                <a:sym typeface="Noto Sans SC" panose="020B0200000000000000" charset="-122"/>
              </a:rPr>
              <a:t>研究挑战</a:t>
            </a:r>
            <a:endParaRPr lang="zh-CN" altLang="en-US" sz="1800" dirty="0">
              <a:solidFill>
                <a:srgbClr val="FFFFFF"/>
              </a:solidFill>
              <a:latin typeface="Noto Sans SC" panose="020B0200000000000000" charset="-122"/>
              <a:ea typeface="Noto Sans SC" panose="020B0200000000000000" charset="-122"/>
              <a:sym typeface="Noto Sans SC" panose="020B0200000000000000" charset="-122"/>
            </a:endParaRPr>
          </a:p>
        </p:txBody>
      </p:sp>
      <p:sp>
        <p:nvSpPr>
          <p:cNvPr id="6" name="AutoShape 6"/>
          <p:cNvSpPr/>
          <p:nvPr/>
        </p:nvSpPr>
        <p:spPr>
          <a:xfrm>
            <a:off x="3506216" y="0"/>
            <a:ext cx="1397000" cy="508000"/>
          </a:xfrm>
          <a:prstGeom prst="roundRect">
            <a:avLst>
              <a:gd name="adj" fmla="val 0"/>
            </a:avLst>
          </a:prstGeom>
          <a:solidFill>
            <a:srgbClr val="00529B"/>
          </a:solidFill>
          <a:ln w="25400" cap="flat" cmpd="sng">
            <a:noFill/>
            <a:prstDash val="solid"/>
            <a:round/>
          </a:ln>
        </p:spPr>
        <p:txBody>
          <a:bodyPr vert="horz" wrap="square" lIns="0" tIns="0" rIns="0" bIns="0" rtlCol="0" anchor="ctr" anchorCtr="0"/>
          <a:lstStyle/>
          <a:p>
            <a:pPr indent="0" algn="ctr">
              <a:lnSpc>
                <a:spcPct val="125000"/>
              </a:lnSpc>
              <a:defRPr/>
            </a:pPr>
            <a:r>
              <a:rPr lang="en-US" sz="1800"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endPar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2" name="AutoShape 7"/>
          <p:cNvSpPr/>
          <p:nvPr/>
        </p:nvSpPr>
        <p:spPr>
          <a:xfrm>
            <a:off x="3506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43" name="AutoShape 8"/>
          <p:cNvSpPr/>
          <p:nvPr/>
        </p:nvSpPr>
        <p:spPr>
          <a:xfrm>
            <a:off x="5411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9"/>
          <p:cNvSpPr/>
          <p:nvPr/>
        </p:nvSpPr>
        <p:spPr>
          <a:xfrm>
            <a:off x="7189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安排</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5" name="AutoShape 10"/>
          <p:cNvSpPr/>
          <p:nvPr/>
        </p:nvSpPr>
        <p:spPr>
          <a:xfrm>
            <a:off x="870940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7" name="图片 6"/>
          <p:cNvPicPr>
            <a:picLocks noChangeAspect="1"/>
          </p:cNvPicPr>
          <p:nvPr/>
        </p:nvPicPr>
        <p:blipFill>
          <a:blip r:embed="rId1" cstate="print"/>
          <a:stretch>
            <a:fillRect/>
          </a:stretch>
        </p:blipFill>
        <p:spPr>
          <a:xfrm>
            <a:off x="10618470" y="43815"/>
            <a:ext cx="1321435" cy="420370"/>
          </a:xfrm>
          <a:prstGeom prst="rect">
            <a:avLst/>
          </a:prstGeom>
        </p:spPr>
      </p:pic>
      <p:sp>
        <p:nvSpPr>
          <p:cNvPr id="8" name="AutoShape 2"/>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05 进度安排</a:t>
            </a:r>
            <a:endParaRPr lang="zh-CN" altLang="en-US" sz="2800" b="1" i="0" u="none" strike="noStrike" dirty="0" err="1">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aphicFrame>
        <p:nvGraphicFramePr>
          <p:cNvPr id="26" name="表格 25"/>
          <p:cNvGraphicFramePr/>
          <p:nvPr>
            <p:custDataLst>
              <p:tags r:id="rId2"/>
            </p:custDataLst>
          </p:nvPr>
        </p:nvGraphicFramePr>
        <p:xfrm>
          <a:off x="354965" y="1341755"/>
          <a:ext cx="11584940" cy="5320030"/>
        </p:xfrm>
        <a:graphic>
          <a:graphicData uri="http://schemas.openxmlformats.org/drawingml/2006/table">
            <a:tbl>
              <a:tblPr>
                <a:tableStyleId>{BDBED569-4797-4DF1-A0F4-6AAB3CD982D8}</a:tableStyleId>
              </a:tblPr>
              <a:tblGrid>
                <a:gridCol w="2103755"/>
                <a:gridCol w="7906385"/>
                <a:gridCol w="1574800"/>
              </a:tblGrid>
              <a:tr h="387350">
                <a:tc>
                  <a:txBody>
                    <a:bodyPr/>
                    <a:p>
                      <a:pPr marL="0" indent="0" algn="ctr">
                        <a:lnSpc>
                          <a:spcPct val="120000"/>
                        </a:lnSpc>
                        <a:spcBef>
                          <a:spcPct val="0"/>
                        </a:spcBef>
                        <a:spcAft>
                          <a:spcPct val="0"/>
                        </a:spcAft>
                      </a:pPr>
                      <a:r>
                        <a:rPr lang="zh-CN" sz="1800" b="1" spc="120">
                          <a:latin typeface="微软雅黑" panose="020B0503020204020204" charset="-122"/>
                          <a:ea typeface="微软雅黑" panose="020B0503020204020204" charset="-122"/>
                        </a:rPr>
                        <a:t>起讫日期</a:t>
                      </a:r>
                      <a:endParaRPr lang="zh-CN" sz="1800" b="1" spc="120">
                        <a:latin typeface="微软雅黑" panose="020B0503020204020204" charset="-122"/>
                        <a:ea typeface="微软雅黑" panose="020B0503020204020204" charset="-122"/>
                      </a:endParaRPr>
                    </a:p>
                  </a:txBody>
                  <a:tcPr marL="177800" marR="177800" marT="57150" marB="57150" anchor="ctr" anchorCtr="0"/>
                </a:tc>
                <a:tc>
                  <a:txBody>
                    <a:bodyPr/>
                    <a:p>
                      <a:pPr algn="ctr">
                        <a:lnSpc>
                          <a:spcPts val="2200"/>
                        </a:lnSpc>
                        <a:spcAft>
                          <a:spcPts val="0"/>
                        </a:spcAft>
                      </a:pPr>
                      <a:r>
                        <a:rPr lang="zh-CN" sz="1800" b="1" kern="100" dirty="0">
                          <a:effectLst/>
                          <a:latin typeface="微软雅黑" panose="020B0503020204020204" charset="-122"/>
                          <a:ea typeface="微软雅黑" panose="020B0503020204020204" charset="-122"/>
                          <a:cs typeface="微软雅黑" panose="020B0503020204020204" charset="-122"/>
                        </a:rPr>
                        <a:t>工</a:t>
                      </a:r>
                      <a:r>
                        <a:rPr lang="en-US" sz="1800" b="1" kern="100" dirty="0">
                          <a:effectLst/>
                          <a:latin typeface="微软雅黑" panose="020B0503020204020204" charset="-122"/>
                          <a:ea typeface="微软雅黑" panose="020B0503020204020204" charset="-122"/>
                          <a:cs typeface="微软雅黑" panose="020B0503020204020204" charset="-122"/>
                        </a:rPr>
                        <a:t>  </a:t>
                      </a:r>
                      <a:r>
                        <a:rPr lang="zh-CN" sz="1800" b="1" kern="100" dirty="0">
                          <a:effectLst/>
                          <a:latin typeface="微软雅黑" panose="020B0503020204020204" charset="-122"/>
                          <a:ea typeface="微软雅黑" panose="020B0503020204020204" charset="-122"/>
                          <a:cs typeface="微软雅黑" panose="020B0503020204020204" charset="-122"/>
                        </a:rPr>
                        <a:t>作</a:t>
                      </a:r>
                      <a:r>
                        <a:rPr lang="en-US" sz="1800" b="1" kern="100" dirty="0">
                          <a:effectLst/>
                          <a:latin typeface="微软雅黑" panose="020B0503020204020204" charset="-122"/>
                          <a:ea typeface="微软雅黑" panose="020B0503020204020204" charset="-122"/>
                          <a:cs typeface="微软雅黑" panose="020B0503020204020204" charset="-122"/>
                        </a:rPr>
                        <a:t>  </a:t>
                      </a:r>
                      <a:r>
                        <a:rPr lang="zh-CN" sz="1800" b="1" kern="100" dirty="0">
                          <a:effectLst/>
                          <a:latin typeface="微软雅黑" panose="020B0503020204020204" charset="-122"/>
                          <a:ea typeface="微软雅黑" panose="020B0503020204020204" charset="-122"/>
                          <a:cs typeface="微软雅黑" panose="020B0503020204020204" charset="-122"/>
                        </a:rPr>
                        <a:t>内</a:t>
                      </a:r>
                      <a:r>
                        <a:rPr lang="en-US" sz="1800" b="1" kern="100" dirty="0">
                          <a:effectLst/>
                          <a:latin typeface="微软雅黑" panose="020B0503020204020204" charset="-122"/>
                          <a:ea typeface="微软雅黑" panose="020B0503020204020204" charset="-122"/>
                          <a:cs typeface="微软雅黑" panose="020B0503020204020204" charset="-122"/>
                        </a:rPr>
                        <a:t>  </a:t>
                      </a:r>
                      <a:r>
                        <a:rPr lang="zh-CN" sz="1800" b="1" kern="100" dirty="0">
                          <a:effectLst/>
                          <a:latin typeface="微软雅黑" panose="020B0503020204020204" charset="-122"/>
                          <a:ea typeface="微软雅黑" panose="020B0503020204020204" charset="-122"/>
                          <a:cs typeface="微软雅黑" panose="020B0503020204020204" charset="-122"/>
                        </a:rPr>
                        <a:t>容</a:t>
                      </a:r>
                      <a:r>
                        <a:rPr lang="en-US" sz="1800" b="1" kern="100" dirty="0">
                          <a:effectLst/>
                          <a:latin typeface="微软雅黑" panose="020B0503020204020204" charset="-122"/>
                          <a:ea typeface="微软雅黑" panose="020B0503020204020204" charset="-122"/>
                          <a:cs typeface="微软雅黑" panose="020B0503020204020204" charset="-122"/>
                        </a:rPr>
                        <a:t>  </a:t>
                      </a:r>
                      <a:r>
                        <a:rPr lang="zh-CN" sz="1800" b="1" kern="100" dirty="0">
                          <a:effectLst/>
                          <a:latin typeface="微软雅黑" panose="020B0503020204020204" charset="-122"/>
                          <a:ea typeface="微软雅黑" panose="020B0503020204020204" charset="-122"/>
                          <a:cs typeface="微软雅黑" panose="020B0503020204020204" charset="-122"/>
                        </a:rPr>
                        <a:t>和</a:t>
                      </a:r>
                      <a:r>
                        <a:rPr lang="en-US" sz="1800" b="1" kern="100" dirty="0">
                          <a:effectLst/>
                          <a:latin typeface="微软雅黑" panose="020B0503020204020204" charset="-122"/>
                          <a:ea typeface="微软雅黑" panose="020B0503020204020204" charset="-122"/>
                          <a:cs typeface="微软雅黑" panose="020B0503020204020204" charset="-122"/>
                        </a:rPr>
                        <a:t>  </a:t>
                      </a:r>
                      <a:r>
                        <a:rPr lang="zh-CN" sz="1800" b="1" kern="100" dirty="0">
                          <a:effectLst/>
                          <a:latin typeface="微软雅黑" panose="020B0503020204020204" charset="-122"/>
                          <a:ea typeface="微软雅黑" panose="020B0503020204020204" charset="-122"/>
                          <a:cs typeface="微软雅黑" panose="020B0503020204020204" charset="-122"/>
                        </a:rPr>
                        <a:t>要</a:t>
                      </a:r>
                      <a:r>
                        <a:rPr lang="en-US" sz="1800" b="1" kern="100" dirty="0">
                          <a:effectLst/>
                          <a:latin typeface="微软雅黑" panose="020B0503020204020204" charset="-122"/>
                          <a:ea typeface="微软雅黑" panose="020B0503020204020204" charset="-122"/>
                          <a:cs typeface="微软雅黑" panose="020B0503020204020204" charset="-122"/>
                        </a:rPr>
                        <a:t>  </a:t>
                      </a:r>
                      <a:r>
                        <a:rPr lang="zh-CN" sz="1800" b="1" kern="100" dirty="0">
                          <a:effectLst/>
                          <a:latin typeface="微软雅黑" panose="020B0503020204020204" charset="-122"/>
                          <a:ea typeface="微软雅黑" panose="020B0503020204020204" charset="-122"/>
                          <a:cs typeface="微软雅黑" panose="020B0503020204020204" charset="-122"/>
                        </a:rPr>
                        <a:t>求</a:t>
                      </a:r>
                      <a:endParaRPr lang="zh-CN" altLang="en-US" sz="1800" b="1" kern="100" spc="120" dirty="0">
                        <a:effectLst/>
                        <a:latin typeface="微软雅黑" panose="020B0503020204020204" charset="-122"/>
                        <a:ea typeface="微软雅黑" panose="020B0503020204020204" charset="-122"/>
                        <a:cs typeface="微软雅黑" panose="020B0503020204020204" charset="-122"/>
                      </a:endParaRPr>
                    </a:p>
                  </a:txBody>
                  <a:tcPr marL="177800" marR="177800" marT="57150" marB="57150" anchor="ctr" anchorCtr="0"/>
                </a:tc>
                <a:tc>
                  <a:txBody>
                    <a:bodyPr/>
                    <a:p>
                      <a:pPr marL="0" indent="0" algn="ctr">
                        <a:lnSpc>
                          <a:spcPct val="120000"/>
                        </a:lnSpc>
                        <a:spcBef>
                          <a:spcPct val="0"/>
                        </a:spcBef>
                        <a:spcAft>
                          <a:spcPct val="0"/>
                        </a:spcAft>
                      </a:pPr>
                      <a:r>
                        <a:rPr lang="zh-CN" sz="1800" b="1" spc="120">
                          <a:latin typeface="微软雅黑" panose="020B0503020204020204" charset="-122"/>
                          <a:ea typeface="微软雅黑" panose="020B0503020204020204" charset="-122"/>
                          <a:cs typeface="微软雅黑" panose="020B0503020204020204" charset="-122"/>
                        </a:rPr>
                        <a:t>备</a:t>
                      </a:r>
                      <a:r>
                        <a:rPr lang="en-US" altLang="zh-CN" sz="1800" b="1" spc="120">
                          <a:latin typeface="微软雅黑" panose="020B0503020204020204" charset="-122"/>
                          <a:ea typeface="微软雅黑" panose="020B0503020204020204" charset="-122"/>
                          <a:cs typeface="微软雅黑" panose="020B0503020204020204" charset="-122"/>
                        </a:rPr>
                        <a:t>  </a:t>
                      </a:r>
                      <a:r>
                        <a:rPr lang="zh-CN" altLang="en-US" sz="1800" b="1" spc="120">
                          <a:latin typeface="微软雅黑" panose="020B0503020204020204" charset="-122"/>
                          <a:ea typeface="微软雅黑" panose="020B0503020204020204" charset="-122"/>
                          <a:cs typeface="微软雅黑" panose="020B0503020204020204" charset="-122"/>
                        </a:rPr>
                        <a:t>注</a:t>
                      </a:r>
                      <a:endParaRPr lang="zh-CN" altLang="en-US" sz="1800" b="1" spc="120">
                        <a:latin typeface="微软雅黑" panose="020B0503020204020204" charset="-122"/>
                        <a:ea typeface="微软雅黑" panose="020B0503020204020204" charset="-122"/>
                        <a:cs typeface="微软雅黑" panose="020B0503020204020204" charset="-122"/>
                      </a:endParaRPr>
                    </a:p>
                  </a:txBody>
                  <a:tcPr marL="177800" marR="177800" marT="57150" marB="57150" anchor="ctr" anchorCtr="0"/>
                </a:tc>
              </a:tr>
              <a:tr h="406400">
                <a:tc>
                  <a:txBody>
                    <a:bodyPr/>
                    <a:p>
                      <a:pPr marL="0" indent="0" algn="ctr">
                        <a:lnSpc>
                          <a:spcPct val="120000"/>
                        </a:lnSpc>
                        <a:spcBef>
                          <a:spcPct val="0"/>
                        </a:spcBef>
                        <a:spcAft>
                          <a:spcPct val="0"/>
                        </a:spcAft>
                      </a:pPr>
                      <a:r>
                        <a:rPr lang="en-US" altLang="zh-CN" sz="1600" b="1">
                          <a:latin typeface="Arial" panose="020B0604020202020204" pitchFamily="34" charset="0"/>
                          <a:cs typeface="Arial" panose="020B0604020202020204" pitchFamily="34" charset="0"/>
                        </a:rPr>
                        <a:t>2024.09–2024.10</a:t>
                      </a:r>
                      <a:endParaRPr lang="en-US" altLang="zh-CN" sz="1600" b="1">
                        <a:latin typeface="Arial" panose="020B0604020202020204" pitchFamily="34" charset="0"/>
                        <a:cs typeface="Arial" panose="020B0604020202020204" pitchFamily="34" charset="0"/>
                      </a:endParaRPr>
                    </a:p>
                  </a:txBody>
                  <a:tcPr marL="177800" marR="177800" marT="57150" marB="57150" anchor="ctr" anchorCtr="0"/>
                </a:tc>
                <a:tc>
                  <a:txBody>
                    <a:bodyPr/>
                    <a:p>
                      <a:pPr marL="0" indent="0" algn="l">
                        <a:lnSpc>
                          <a:spcPct val="120000"/>
                        </a:lnSpc>
                        <a:spcBef>
                          <a:spcPct val="0"/>
                        </a:spcBef>
                        <a:spcAft>
                          <a:spcPct val="0"/>
                        </a:spcAft>
                      </a:pPr>
                      <a:r>
                        <a:rPr lang="zh-CN" sz="1600">
                          <a:latin typeface="微软雅黑" panose="020B0503020204020204" charset="-122"/>
                          <a:ea typeface="微软雅黑" panose="020B0503020204020204" charset="-122"/>
                          <a:cs typeface="微软雅黑" panose="020B0503020204020204" charset="-122"/>
                        </a:rPr>
                        <a:t>学习光学仿真软件；进行</a:t>
                      </a:r>
                      <a:r>
                        <a:rPr lang="en-US" altLang="zh-CN" sz="1600">
                          <a:latin typeface="微软雅黑" panose="020B0503020204020204" charset="-122"/>
                          <a:ea typeface="微软雅黑" panose="020B0503020204020204" charset="-122"/>
                          <a:cs typeface="微软雅黑" panose="020B0503020204020204" charset="-122"/>
                        </a:rPr>
                        <a:t>FBG</a:t>
                      </a:r>
                      <a:r>
                        <a:rPr lang="zh-CN" sz="1600">
                          <a:latin typeface="微软雅黑" panose="020B0503020204020204" charset="-122"/>
                          <a:ea typeface="微软雅黑" panose="020B0503020204020204" charset="-122"/>
                          <a:cs typeface="微软雅黑" panose="020B0503020204020204" charset="-122"/>
                        </a:rPr>
                        <a:t>解调相关文献调研</a:t>
                      </a:r>
                      <a:endParaRPr lang="zh-CN" sz="1600">
                        <a:latin typeface="微软雅黑" panose="020B0503020204020204" charset="-122"/>
                        <a:ea typeface="微软雅黑" panose="020B0503020204020204" charset="-122"/>
                        <a:cs typeface="微软雅黑" panose="020B0503020204020204" charset="-122"/>
                      </a:endParaRPr>
                    </a:p>
                  </a:txBody>
                  <a:tcPr marL="177800" marR="177800" marT="57150" marB="57150" anchor="ctr" anchorCtr="0"/>
                </a:tc>
                <a:tc>
                  <a:txBody>
                    <a:bodyPr/>
                    <a:p>
                      <a:pPr marL="0" indent="0" algn="ctr">
                        <a:lnSpc>
                          <a:spcPct val="120000"/>
                        </a:lnSpc>
                        <a:spcBef>
                          <a:spcPct val="0"/>
                        </a:spcBef>
                        <a:spcAft>
                          <a:spcPct val="0"/>
                        </a:spcAft>
                      </a:pPr>
                      <a:r>
                        <a:rPr lang="zh-CN" sz="1600">
                          <a:solidFill>
                            <a:srgbClr val="92D050"/>
                          </a:solidFill>
                          <a:latin typeface="微软雅黑" panose="020B0503020204020204" charset="-122"/>
                          <a:ea typeface="微软雅黑" panose="020B0503020204020204" charset="-122"/>
                        </a:rPr>
                        <a:t>已完成</a:t>
                      </a:r>
                      <a:endParaRPr lang="zh-CN" sz="1600">
                        <a:solidFill>
                          <a:srgbClr val="92D050"/>
                        </a:solidFill>
                        <a:latin typeface="微软雅黑" panose="020B0503020204020204" charset="-122"/>
                        <a:ea typeface="微软雅黑" panose="020B0503020204020204" charset="-122"/>
                      </a:endParaRPr>
                    </a:p>
                  </a:txBody>
                  <a:tcPr marL="177800" marR="177800" marT="57150" marB="57150" anchor="ctr" anchorCtr="0"/>
                </a:tc>
              </a:tr>
              <a:tr h="295275">
                <a:tc>
                  <a:txBody>
                    <a:bodyPr/>
                    <a:p>
                      <a:pPr marL="0" indent="0" algn="ctr">
                        <a:lnSpc>
                          <a:spcPct val="120000"/>
                        </a:lnSpc>
                        <a:spcBef>
                          <a:spcPct val="0"/>
                        </a:spcBef>
                        <a:spcAft>
                          <a:spcPct val="0"/>
                        </a:spcAft>
                      </a:pPr>
                      <a:r>
                        <a:rPr lang="en-US" altLang="zh-CN" sz="1600" b="1">
                          <a:latin typeface="Arial" panose="020B0604020202020204" pitchFamily="34" charset="0"/>
                          <a:cs typeface="Arial" panose="020B0604020202020204" pitchFamily="34" charset="0"/>
                        </a:rPr>
                        <a:t>2024.11–2024.12</a:t>
                      </a:r>
                      <a:endParaRPr lang="en-US" altLang="zh-CN" sz="1600" b="1">
                        <a:latin typeface="Arial" panose="020B0604020202020204" pitchFamily="34" charset="0"/>
                        <a:cs typeface="Arial" panose="020B0604020202020204" pitchFamily="34" charset="0"/>
                      </a:endParaRPr>
                    </a:p>
                  </a:txBody>
                  <a:tcPr marL="177800" marR="177800" marT="57150" marB="57150" anchor="ctr" anchorCtr="0"/>
                </a:tc>
                <a:tc>
                  <a:txBody>
                    <a:bodyPr/>
                    <a:p>
                      <a:pPr marL="0" indent="0" algn="l">
                        <a:lnSpc>
                          <a:spcPct val="120000"/>
                        </a:lnSpc>
                        <a:spcBef>
                          <a:spcPct val="0"/>
                        </a:spcBef>
                        <a:spcAft>
                          <a:spcPct val="0"/>
                        </a:spcAft>
                      </a:pPr>
                      <a:r>
                        <a:rPr lang="zh-CN" sz="1600">
                          <a:latin typeface="微软雅黑" panose="020B0503020204020204" charset="-122"/>
                          <a:ea typeface="微软雅黑" panose="020B0503020204020204" charset="-122"/>
                        </a:rPr>
                        <a:t>阅读微波光子学与集成光子学文献，完成文献调研</a:t>
                      </a:r>
                      <a:endParaRPr lang="zh-CN" sz="1600">
                        <a:latin typeface="微软雅黑" panose="020B0503020204020204" charset="-122"/>
                        <a:ea typeface="微软雅黑" panose="020B0503020204020204" charset="-122"/>
                      </a:endParaRPr>
                    </a:p>
                  </a:txBody>
                  <a:tcPr marL="177800" marR="177800" marT="57150" marB="57150" anchor="ctr" anchorCtr="0"/>
                </a:tc>
                <a:tc>
                  <a:txBody>
                    <a:bodyPr/>
                    <a:p>
                      <a:pPr marL="0" indent="0" algn="ctr">
                        <a:lnSpc>
                          <a:spcPct val="120000"/>
                        </a:lnSpc>
                        <a:spcBef>
                          <a:spcPct val="0"/>
                        </a:spcBef>
                        <a:spcAft>
                          <a:spcPct val="0"/>
                        </a:spcAft>
                      </a:pPr>
                      <a:r>
                        <a:rPr lang="zh-CN" sz="1600">
                          <a:solidFill>
                            <a:srgbClr val="92D050"/>
                          </a:solidFill>
                          <a:latin typeface="微软雅黑" panose="020B0503020204020204" charset="-122"/>
                          <a:ea typeface="微软雅黑" panose="020B0503020204020204" charset="-122"/>
                        </a:rPr>
                        <a:t>已完成</a:t>
                      </a:r>
                      <a:endParaRPr lang="zh-CN" sz="1600">
                        <a:solidFill>
                          <a:srgbClr val="92D050"/>
                        </a:solidFill>
                        <a:latin typeface="微软雅黑" panose="020B0503020204020204" charset="-122"/>
                        <a:ea typeface="微软雅黑" panose="020B0503020204020204" charset="-122"/>
                      </a:endParaRPr>
                    </a:p>
                  </a:txBody>
                  <a:tcPr marL="177800" marR="177800" marT="57150" marB="57150" anchor="ctr" anchorCtr="0"/>
                </a:tc>
              </a:tr>
              <a:tr h="406400">
                <a:tc>
                  <a:txBody>
                    <a:bodyPr/>
                    <a:p>
                      <a:pPr marL="0" indent="0" algn="ctr">
                        <a:lnSpc>
                          <a:spcPct val="120000"/>
                        </a:lnSpc>
                        <a:spcBef>
                          <a:spcPct val="0"/>
                        </a:spcBef>
                        <a:spcAft>
                          <a:spcPct val="0"/>
                        </a:spcAft>
                      </a:pPr>
                      <a:r>
                        <a:rPr lang="en-US" altLang="zh-CN" sz="1600" b="1">
                          <a:latin typeface="Arial" panose="020B0604020202020204" pitchFamily="34" charset="0"/>
                          <a:cs typeface="Arial" panose="020B0604020202020204" pitchFamily="34" charset="0"/>
                        </a:rPr>
                        <a:t>2025.01–2025.04</a:t>
                      </a:r>
                      <a:endParaRPr lang="en-US" altLang="zh-CN" sz="1600" b="1">
                        <a:latin typeface="Arial" panose="020B0604020202020204" pitchFamily="34" charset="0"/>
                        <a:cs typeface="Arial" panose="020B0604020202020204" pitchFamily="34" charset="0"/>
                      </a:endParaRPr>
                    </a:p>
                  </a:txBody>
                  <a:tcPr marL="177800" marR="177800" marT="57150" marB="57150" anchor="ctr" anchorCtr="0"/>
                </a:tc>
                <a:tc>
                  <a:txBody>
                    <a:bodyPr/>
                    <a:p>
                      <a:pPr marL="0" indent="0" algn="l">
                        <a:lnSpc>
                          <a:spcPct val="120000"/>
                        </a:lnSpc>
                        <a:spcBef>
                          <a:spcPct val="0"/>
                        </a:spcBef>
                        <a:spcAft>
                          <a:spcPct val="0"/>
                        </a:spcAft>
                      </a:pPr>
                      <a:r>
                        <a:rPr lang="zh-CN" sz="1600">
                          <a:latin typeface="微软雅黑" panose="020B0503020204020204" charset="-122"/>
                          <a:ea typeface="微软雅黑" panose="020B0503020204020204" charset="-122"/>
                        </a:rPr>
                        <a:t>微波光子链路初步搭建与原理验证</a:t>
                      </a:r>
                      <a:endParaRPr lang="zh-CN" sz="1600">
                        <a:latin typeface="微软雅黑" panose="020B0503020204020204" charset="-122"/>
                        <a:ea typeface="微软雅黑" panose="020B0503020204020204" charset="-122"/>
                      </a:endParaRPr>
                    </a:p>
                  </a:txBody>
                  <a:tcPr marL="177800" marR="177800" marT="57150" marB="57150" anchor="ctr" anchorCtr="0"/>
                </a:tc>
                <a:tc>
                  <a:txBody>
                    <a:bodyPr/>
                    <a:p>
                      <a:pPr marL="0" indent="0" algn="ctr">
                        <a:lnSpc>
                          <a:spcPct val="120000"/>
                        </a:lnSpc>
                        <a:spcBef>
                          <a:spcPct val="0"/>
                        </a:spcBef>
                        <a:spcAft>
                          <a:spcPct val="0"/>
                        </a:spcAft>
                      </a:pPr>
                      <a:r>
                        <a:rPr lang="zh-CN" sz="1600">
                          <a:solidFill>
                            <a:srgbClr val="92D050"/>
                          </a:solidFill>
                          <a:latin typeface="微软雅黑" panose="020B0503020204020204" charset="-122"/>
                          <a:ea typeface="微软雅黑" panose="020B0503020204020204" charset="-122"/>
                        </a:rPr>
                        <a:t>已完成</a:t>
                      </a:r>
                      <a:endParaRPr lang="zh-CN" sz="1600">
                        <a:solidFill>
                          <a:srgbClr val="92D050"/>
                        </a:solidFill>
                        <a:latin typeface="微软雅黑" panose="020B0503020204020204" charset="-122"/>
                        <a:ea typeface="微软雅黑" panose="020B0503020204020204" charset="-122"/>
                      </a:endParaRPr>
                    </a:p>
                  </a:txBody>
                  <a:tcPr marL="177800" marR="177800" marT="57150" marB="57150" anchor="ctr" anchorCtr="0"/>
                </a:tc>
              </a:tr>
              <a:tr h="406400">
                <a:tc>
                  <a:txBody>
                    <a:bodyPr/>
                    <a:p>
                      <a:pPr marL="0" indent="0" algn="ctr">
                        <a:lnSpc>
                          <a:spcPct val="120000"/>
                        </a:lnSpc>
                        <a:spcBef>
                          <a:spcPct val="0"/>
                        </a:spcBef>
                        <a:spcAft>
                          <a:spcPct val="0"/>
                        </a:spcAft>
                      </a:pPr>
                      <a:r>
                        <a:rPr lang="en-US" altLang="zh-CN" sz="1600" b="1">
                          <a:latin typeface="Arial" panose="020B0604020202020204" pitchFamily="34" charset="0"/>
                          <a:cs typeface="Arial" panose="020B0604020202020204" pitchFamily="34" charset="0"/>
                        </a:rPr>
                        <a:t>2025.05–2025.09</a:t>
                      </a:r>
                      <a:endParaRPr lang="en-US" altLang="zh-CN" sz="1600" b="1">
                        <a:latin typeface="Arial" panose="020B0604020202020204" pitchFamily="34" charset="0"/>
                        <a:cs typeface="Arial" panose="020B0604020202020204" pitchFamily="34" charset="0"/>
                      </a:endParaRPr>
                    </a:p>
                  </a:txBody>
                  <a:tcPr marL="177800" marR="177800" marT="57150" marB="57150" anchor="ctr" anchorCtr="0"/>
                </a:tc>
                <a:tc>
                  <a:txBody>
                    <a:bodyPr/>
                    <a:p>
                      <a:pPr marL="0" indent="0" algn="l">
                        <a:lnSpc>
                          <a:spcPct val="120000"/>
                        </a:lnSpc>
                        <a:spcBef>
                          <a:spcPct val="0"/>
                        </a:spcBef>
                        <a:spcAft>
                          <a:spcPct val="0"/>
                        </a:spcAft>
                      </a:pPr>
                      <a:r>
                        <a:rPr lang="zh-CN" sz="1600">
                          <a:latin typeface="微软雅黑" panose="020B0503020204020204" charset="-122"/>
                          <a:ea typeface="微软雅黑" panose="020B0503020204020204" charset="-122"/>
                          <a:cs typeface="微软雅黑" panose="020B0503020204020204" charset="-122"/>
                        </a:rPr>
                        <a:t>完成</a:t>
                      </a:r>
                      <a:r>
                        <a:rPr lang="en-US" altLang="zh-CN" sz="1600">
                          <a:latin typeface="微软雅黑" panose="020B0503020204020204" charset="-122"/>
                          <a:ea typeface="微软雅黑" panose="020B0503020204020204" charset="-122"/>
                          <a:cs typeface="微软雅黑" panose="020B0503020204020204" charset="-122"/>
                        </a:rPr>
                        <a:t>AWG</a:t>
                      </a:r>
                      <a:r>
                        <a:rPr lang="zh-CN" sz="1600">
                          <a:latin typeface="微软雅黑" panose="020B0503020204020204" charset="-122"/>
                          <a:ea typeface="微软雅黑" panose="020B0503020204020204" charset="-122"/>
                          <a:cs typeface="微软雅黑" panose="020B0503020204020204" charset="-122"/>
                        </a:rPr>
                        <a:t>案例仿真；学习电路与</a:t>
                      </a:r>
                      <a:r>
                        <a:rPr lang="en-US" altLang="zh-CN" sz="1600">
                          <a:latin typeface="微软雅黑" panose="020B0503020204020204" charset="-122"/>
                          <a:ea typeface="微软雅黑" panose="020B0503020204020204" charset="-122"/>
                          <a:cs typeface="微软雅黑" panose="020B0503020204020204" charset="-122"/>
                        </a:rPr>
                        <a:t>FPGA</a:t>
                      </a:r>
                      <a:r>
                        <a:rPr lang="zh-CN" sz="1600">
                          <a:latin typeface="微软雅黑" panose="020B0503020204020204" charset="-122"/>
                          <a:ea typeface="微软雅黑" panose="020B0503020204020204" charset="-122"/>
                          <a:cs typeface="微软雅黑" panose="020B0503020204020204" charset="-122"/>
                        </a:rPr>
                        <a:t>基础知识；文献调研微波光子滤波与传感方案</a:t>
                      </a:r>
                      <a:endParaRPr lang="zh-CN" sz="1600">
                        <a:latin typeface="微软雅黑" panose="020B0503020204020204" charset="-122"/>
                        <a:ea typeface="微软雅黑" panose="020B0503020204020204" charset="-122"/>
                        <a:cs typeface="微软雅黑" panose="020B0503020204020204" charset="-122"/>
                      </a:endParaRPr>
                    </a:p>
                  </a:txBody>
                  <a:tcPr marL="177800" marR="177800" marT="57150" marB="57150" anchor="ctr" anchorCtr="0"/>
                </a:tc>
                <a:tc>
                  <a:txBody>
                    <a:bodyPr/>
                    <a:p>
                      <a:pPr marL="0" indent="0" algn="ctr">
                        <a:lnSpc>
                          <a:spcPct val="120000"/>
                        </a:lnSpc>
                        <a:spcBef>
                          <a:spcPct val="0"/>
                        </a:spcBef>
                        <a:spcAft>
                          <a:spcPct val="0"/>
                        </a:spcAft>
                      </a:pPr>
                      <a:r>
                        <a:rPr lang="zh-CN" sz="1600">
                          <a:solidFill>
                            <a:srgbClr val="92D050"/>
                          </a:solidFill>
                          <a:latin typeface="微软雅黑" panose="020B0503020204020204" charset="-122"/>
                          <a:ea typeface="微软雅黑" panose="020B0503020204020204" charset="-122"/>
                        </a:rPr>
                        <a:t>已完成</a:t>
                      </a:r>
                      <a:endParaRPr lang="zh-CN" sz="1600">
                        <a:solidFill>
                          <a:srgbClr val="92D050"/>
                        </a:solidFill>
                        <a:latin typeface="微软雅黑" panose="020B0503020204020204" charset="-122"/>
                        <a:ea typeface="微软雅黑" panose="020B0503020204020204" charset="-122"/>
                      </a:endParaRPr>
                    </a:p>
                  </a:txBody>
                  <a:tcPr marL="177800" marR="177800" marT="57150" marB="57150" anchor="ctr" anchorCtr="0"/>
                </a:tc>
              </a:tr>
              <a:tr h="406400">
                <a:tc>
                  <a:txBody>
                    <a:bodyPr/>
                    <a:p>
                      <a:pPr marL="0" indent="0" algn="ctr">
                        <a:lnSpc>
                          <a:spcPct val="120000"/>
                        </a:lnSpc>
                        <a:spcBef>
                          <a:spcPct val="0"/>
                        </a:spcBef>
                        <a:spcAft>
                          <a:spcPct val="0"/>
                        </a:spcAft>
                      </a:pPr>
                      <a:r>
                        <a:rPr lang="en-US" altLang="zh-CN" sz="1600" b="1">
                          <a:latin typeface="Arial" panose="020B0604020202020204" pitchFamily="34" charset="0"/>
                          <a:cs typeface="Arial" panose="020B0604020202020204" pitchFamily="34" charset="0"/>
                        </a:rPr>
                        <a:t>2025.10–2026.01</a:t>
                      </a:r>
                      <a:endParaRPr lang="en-US" altLang="zh-CN" sz="1600" b="1">
                        <a:latin typeface="Arial" panose="020B0604020202020204" pitchFamily="34" charset="0"/>
                        <a:cs typeface="Arial" panose="020B0604020202020204" pitchFamily="34" charset="0"/>
                      </a:endParaRPr>
                    </a:p>
                  </a:txBody>
                  <a:tcPr marL="177800" marR="177800" marT="57150" marB="57150" anchor="ctr" anchorCtr="0"/>
                </a:tc>
                <a:tc>
                  <a:txBody>
                    <a:bodyPr/>
                    <a:p>
                      <a:pPr marL="0" indent="0" algn="l">
                        <a:lnSpc>
                          <a:spcPct val="120000"/>
                        </a:lnSpc>
                        <a:spcBef>
                          <a:spcPct val="0"/>
                        </a:spcBef>
                        <a:spcAft>
                          <a:spcPct val="0"/>
                        </a:spcAft>
                      </a:pPr>
                      <a:r>
                        <a:rPr lang="zh-CN" sz="1600">
                          <a:latin typeface="微软雅黑" panose="020B0503020204020204" charset="-122"/>
                          <a:ea typeface="微软雅黑" panose="020B0503020204020204" charset="-122"/>
                          <a:cs typeface="微软雅黑" panose="020B0503020204020204" charset="-122"/>
                        </a:rPr>
                        <a:t>完成</a:t>
                      </a:r>
                      <a:r>
                        <a:rPr lang="en-US" altLang="zh-CN" sz="1600">
                          <a:latin typeface="微软雅黑" panose="020B0503020204020204" charset="-122"/>
                          <a:ea typeface="微软雅黑" panose="020B0503020204020204" charset="-122"/>
                          <a:cs typeface="微软雅黑" panose="020B0503020204020204" charset="-122"/>
                        </a:rPr>
                        <a:t>AWG</a:t>
                      </a:r>
                      <a:r>
                        <a:rPr lang="zh-CN" sz="1600">
                          <a:latin typeface="微软雅黑" panose="020B0503020204020204" charset="-122"/>
                          <a:ea typeface="微软雅黑" panose="020B0503020204020204" charset="-122"/>
                          <a:cs typeface="微软雅黑" panose="020B0503020204020204" charset="-122"/>
                        </a:rPr>
                        <a:t>温度补偿方案设计；完成微波光子链路搭建与初步信号验证</a:t>
                      </a:r>
                      <a:endParaRPr lang="zh-CN" sz="1600">
                        <a:latin typeface="微软雅黑" panose="020B0503020204020204" charset="-122"/>
                        <a:ea typeface="微软雅黑" panose="020B0503020204020204" charset="-122"/>
                        <a:cs typeface="微软雅黑" panose="020B0503020204020204" charset="-122"/>
                      </a:endParaRPr>
                    </a:p>
                  </a:txBody>
                  <a:tcPr marL="177800" marR="177800" marT="57150" marB="57150" anchor="ctr" anchorCtr="0"/>
                </a:tc>
                <a:tc>
                  <a:txBody>
                    <a:bodyPr/>
                    <a:p>
                      <a:pPr marL="0" indent="0" algn="ctr">
                        <a:lnSpc>
                          <a:spcPct val="120000"/>
                        </a:lnSpc>
                        <a:spcBef>
                          <a:spcPct val="0"/>
                        </a:spcBef>
                        <a:spcAft>
                          <a:spcPct val="0"/>
                        </a:spcAft>
                      </a:pPr>
                      <a:r>
                        <a:rPr lang="zh-CN" sz="1600">
                          <a:solidFill>
                            <a:srgbClr val="92D050"/>
                          </a:solidFill>
                          <a:latin typeface="微软雅黑" panose="020B0503020204020204" charset="-122"/>
                          <a:ea typeface="微软雅黑" panose="020B0503020204020204" charset="-122"/>
                        </a:rPr>
                        <a:t>已完成</a:t>
                      </a:r>
                      <a:endParaRPr lang="zh-CN" sz="1600">
                        <a:solidFill>
                          <a:srgbClr val="92D050"/>
                        </a:solidFill>
                        <a:latin typeface="微软雅黑" panose="020B0503020204020204" charset="-122"/>
                        <a:ea typeface="微软雅黑" panose="020B0503020204020204" charset="-122"/>
                      </a:endParaRPr>
                    </a:p>
                  </a:txBody>
                  <a:tcPr marL="177800" marR="177800" marT="57150" marB="57150" anchor="ctr" anchorCtr="0"/>
                </a:tc>
              </a:tr>
              <a:tr h="406400">
                <a:tc>
                  <a:txBody>
                    <a:bodyPr/>
                    <a:p>
                      <a:pPr marL="0" indent="0" algn="ctr">
                        <a:lnSpc>
                          <a:spcPct val="120000"/>
                        </a:lnSpc>
                        <a:spcBef>
                          <a:spcPct val="0"/>
                        </a:spcBef>
                        <a:spcAft>
                          <a:spcPct val="0"/>
                        </a:spcAft>
                      </a:pPr>
                      <a:r>
                        <a:rPr lang="en-US" altLang="zh-CN" sz="1600" b="1">
                          <a:latin typeface="Arial" panose="020B0604020202020204" pitchFamily="34" charset="0"/>
                          <a:cs typeface="Arial" panose="020B0604020202020204" pitchFamily="34" charset="0"/>
                        </a:rPr>
                        <a:t>2026.01–2026.03</a:t>
                      </a:r>
                      <a:endParaRPr lang="en-US" altLang="zh-CN" sz="1600" b="1">
                        <a:latin typeface="Arial" panose="020B0604020202020204" pitchFamily="34" charset="0"/>
                        <a:cs typeface="Arial" panose="020B0604020202020204" pitchFamily="34" charset="0"/>
                      </a:endParaRPr>
                    </a:p>
                  </a:txBody>
                  <a:tcPr marL="177800" marR="177800" marT="57150" marB="57150" anchor="ctr" anchorCtr="0"/>
                </a:tc>
                <a:tc>
                  <a:txBody>
                    <a:bodyPr/>
                    <a:p>
                      <a:pPr marL="0" indent="0" algn="l">
                        <a:lnSpc>
                          <a:spcPct val="120000"/>
                        </a:lnSpc>
                        <a:spcBef>
                          <a:spcPct val="0"/>
                        </a:spcBef>
                        <a:spcAft>
                          <a:spcPct val="0"/>
                        </a:spcAft>
                      </a:pPr>
                      <a:r>
                        <a:rPr lang="zh-CN" sz="1600">
                          <a:latin typeface="微软雅黑" panose="020B0503020204020204" charset="-122"/>
                          <a:ea typeface="微软雅黑" panose="020B0503020204020204" charset="-122"/>
                          <a:cs typeface="微软雅黑" panose="020B0503020204020204" charset="-122"/>
                        </a:rPr>
                        <a:t>明确微环</a:t>
                      </a:r>
                      <a:r>
                        <a:rPr lang="en-US" altLang="zh-CN" sz="1600">
                          <a:latin typeface="微软雅黑" panose="020B0503020204020204" charset="-122"/>
                          <a:ea typeface="微软雅黑" panose="020B0503020204020204" charset="-122"/>
                          <a:cs typeface="微软雅黑" panose="020B0503020204020204" charset="-122"/>
                        </a:rPr>
                        <a:t>drop</a:t>
                      </a:r>
                      <a:r>
                        <a:rPr lang="zh-CN" sz="1600">
                          <a:latin typeface="微软雅黑" panose="020B0503020204020204" charset="-122"/>
                          <a:ea typeface="微软雅黑" panose="020B0503020204020204" charset="-122"/>
                          <a:cs typeface="微软雅黑" panose="020B0503020204020204" charset="-122"/>
                        </a:rPr>
                        <a:t>端解调方案；形成定标</a:t>
                      </a:r>
                      <a:r>
                        <a:rPr lang="en-US" altLang="zh-CN" sz="1600">
                          <a:latin typeface="微软雅黑" panose="020B0503020204020204" charset="-122"/>
                          <a:ea typeface="微软雅黑" panose="020B0503020204020204" charset="-122"/>
                          <a:cs typeface="微软雅黑" panose="020B0503020204020204" charset="-122"/>
                        </a:rPr>
                        <a:t>-</a:t>
                      </a:r>
                      <a:r>
                        <a:rPr lang="zh-CN" sz="1600">
                          <a:latin typeface="微软雅黑" panose="020B0503020204020204" charset="-122"/>
                          <a:ea typeface="微软雅黑" panose="020B0503020204020204" charset="-122"/>
                          <a:cs typeface="微软雅黑" panose="020B0503020204020204" charset="-122"/>
                        </a:rPr>
                        <a:t>测量</a:t>
                      </a:r>
                      <a:r>
                        <a:rPr lang="en-US" altLang="zh-CN" sz="1600">
                          <a:latin typeface="微软雅黑" panose="020B0503020204020204" charset="-122"/>
                          <a:ea typeface="微软雅黑" panose="020B0503020204020204" charset="-122"/>
                          <a:cs typeface="微软雅黑" panose="020B0503020204020204" charset="-122"/>
                        </a:rPr>
                        <a:t>-</a:t>
                      </a:r>
                      <a:r>
                        <a:rPr lang="zh-CN" sz="1600">
                          <a:latin typeface="微软雅黑" panose="020B0503020204020204" charset="-122"/>
                          <a:ea typeface="微软雅黑" panose="020B0503020204020204" charset="-122"/>
                          <a:cs typeface="微软雅黑" panose="020B0503020204020204" charset="-122"/>
                        </a:rPr>
                        <a:t>匹配完整解算流程；</a:t>
                      </a:r>
                      <a:r>
                        <a:rPr lang="en-US" altLang="zh-CN" sz="1600">
                          <a:latin typeface="微软雅黑" panose="020B0503020204020204" charset="-122"/>
                          <a:ea typeface="微软雅黑" panose="020B0503020204020204" charset="-122"/>
                          <a:cs typeface="微软雅黑" panose="020B0503020204020204" charset="-122"/>
                        </a:rPr>
                        <a:t>FBG</a:t>
                      </a:r>
                      <a:r>
                        <a:rPr lang="zh-CN" sz="1600">
                          <a:latin typeface="微软雅黑" panose="020B0503020204020204" charset="-122"/>
                          <a:ea typeface="微软雅黑" panose="020B0503020204020204" charset="-122"/>
                          <a:cs typeface="微软雅黑" panose="020B0503020204020204" charset="-122"/>
                        </a:rPr>
                        <a:t>温度灵敏度标定</a:t>
                      </a:r>
                      <a:endParaRPr lang="zh-CN" sz="1600">
                        <a:latin typeface="微软雅黑" panose="020B0503020204020204" charset="-122"/>
                        <a:ea typeface="微软雅黑" panose="020B0503020204020204" charset="-122"/>
                        <a:cs typeface="微软雅黑" panose="020B0503020204020204" charset="-122"/>
                      </a:endParaRPr>
                    </a:p>
                  </a:txBody>
                  <a:tcPr marL="177800" marR="177800" marT="57150" marB="57150" anchor="ctr" anchorCtr="0"/>
                </a:tc>
                <a:tc>
                  <a:txBody>
                    <a:bodyPr/>
                    <a:p>
                      <a:pPr marL="0" indent="0" algn="ctr">
                        <a:lnSpc>
                          <a:spcPct val="120000"/>
                        </a:lnSpc>
                        <a:spcBef>
                          <a:spcPct val="0"/>
                        </a:spcBef>
                        <a:spcAft>
                          <a:spcPct val="0"/>
                        </a:spcAft>
                      </a:pPr>
                      <a:r>
                        <a:rPr lang="zh-CN" sz="1600">
                          <a:solidFill>
                            <a:srgbClr val="92D050"/>
                          </a:solidFill>
                          <a:latin typeface="微软雅黑" panose="020B0503020204020204" charset="-122"/>
                          <a:ea typeface="微软雅黑" panose="020B0503020204020204" charset="-122"/>
                        </a:rPr>
                        <a:t>已完成</a:t>
                      </a:r>
                      <a:endParaRPr lang="zh-CN" sz="1600">
                        <a:solidFill>
                          <a:srgbClr val="92D050"/>
                        </a:solidFill>
                        <a:latin typeface="微软雅黑" panose="020B0503020204020204" charset="-122"/>
                        <a:ea typeface="微软雅黑" panose="020B0503020204020204" charset="-122"/>
                      </a:endParaRPr>
                    </a:p>
                  </a:txBody>
                  <a:tcPr marL="177800" marR="177800" marT="57150" marB="57150" anchor="ctr" anchorCtr="0"/>
                </a:tc>
              </a:tr>
              <a:tr h="406400">
                <a:tc>
                  <a:txBody>
                    <a:bodyPr/>
                    <a:p>
                      <a:pPr marL="0" indent="0" algn="ctr">
                        <a:lnSpc>
                          <a:spcPct val="120000"/>
                        </a:lnSpc>
                        <a:spcBef>
                          <a:spcPct val="0"/>
                        </a:spcBef>
                        <a:spcAft>
                          <a:spcPct val="0"/>
                        </a:spcAft>
                      </a:pPr>
                      <a:r>
                        <a:rPr lang="en-US" altLang="zh-CN" sz="1600" b="1">
                          <a:latin typeface="Arial" panose="020B0604020202020204" pitchFamily="34" charset="0"/>
                          <a:cs typeface="Arial" panose="020B0604020202020204" pitchFamily="34" charset="0"/>
                        </a:rPr>
                        <a:t>2026.03–2026.04</a:t>
                      </a:r>
                      <a:endParaRPr lang="en-US" altLang="zh-CN" sz="1600" b="1">
                        <a:latin typeface="Arial" panose="020B0604020202020204" pitchFamily="34" charset="0"/>
                        <a:cs typeface="Arial" panose="020B0604020202020204" pitchFamily="34" charset="0"/>
                      </a:endParaRPr>
                    </a:p>
                  </a:txBody>
                  <a:tcPr marL="177800" marR="177800" marT="57150" marB="57150" anchor="ctr" anchorCtr="0"/>
                </a:tc>
                <a:tc>
                  <a:txBody>
                    <a:bodyPr/>
                    <a:p>
                      <a:pPr marL="0" indent="0" algn="l">
                        <a:lnSpc>
                          <a:spcPct val="120000"/>
                        </a:lnSpc>
                        <a:spcBef>
                          <a:spcPct val="0"/>
                        </a:spcBef>
                        <a:spcAft>
                          <a:spcPct val="0"/>
                        </a:spcAft>
                      </a:pPr>
                      <a:r>
                        <a:rPr lang="zh-CN" sz="1600">
                          <a:latin typeface="微软雅黑" panose="020B0503020204020204" charset="-122"/>
                          <a:ea typeface="微软雅黑" panose="020B0503020204020204" charset="-122"/>
                        </a:rPr>
                        <a:t>实验平台自动化建设；多温度系统定标与稳定性测试；互相关匹配算法完善</a:t>
                      </a:r>
                      <a:endParaRPr lang="zh-CN" sz="1600">
                        <a:latin typeface="微软雅黑" panose="020B0503020204020204" charset="-122"/>
                        <a:ea typeface="微软雅黑" panose="020B0503020204020204" charset="-122"/>
                      </a:endParaRPr>
                    </a:p>
                  </a:txBody>
                  <a:tcPr marL="177800" marR="177800" marT="57150" marB="57150" anchor="ctr" anchorCtr="0"/>
                </a:tc>
                <a:tc>
                  <a:txBody>
                    <a:bodyPr/>
                    <a:p>
                      <a:pPr marL="0" indent="0" algn="ctr">
                        <a:lnSpc>
                          <a:spcPct val="120000"/>
                        </a:lnSpc>
                        <a:spcBef>
                          <a:spcPct val="0"/>
                        </a:spcBef>
                        <a:spcAft>
                          <a:spcPct val="0"/>
                        </a:spcAft>
                      </a:pPr>
                      <a:r>
                        <a:rPr lang="zh-CN" sz="1600">
                          <a:solidFill>
                            <a:srgbClr val="92D050"/>
                          </a:solidFill>
                          <a:latin typeface="微软雅黑" panose="020B0503020204020204" charset="-122"/>
                          <a:ea typeface="微软雅黑" panose="020B0503020204020204" charset="-122"/>
                        </a:rPr>
                        <a:t>已完成</a:t>
                      </a:r>
                      <a:endParaRPr lang="zh-CN" sz="1600">
                        <a:solidFill>
                          <a:srgbClr val="92D050"/>
                        </a:solidFill>
                        <a:latin typeface="微软雅黑" panose="020B0503020204020204" charset="-122"/>
                        <a:ea typeface="微软雅黑" panose="020B0503020204020204" charset="-122"/>
                      </a:endParaRPr>
                    </a:p>
                  </a:txBody>
                  <a:tcPr marL="177800" marR="177800" marT="57150" marB="57150" anchor="ctr" anchorCtr="0"/>
                </a:tc>
              </a:tr>
              <a:tr h="311150">
                <a:tc>
                  <a:txBody>
                    <a:bodyPr/>
                    <a:p>
                      <a:pPr marL="0" indent="0" algn="ctr">
                        <a:lnSpc>
                          <a:spcPct val="120000"/>
                        </a:lnSpc>
                        <a:spcBef>
                          <a:spcPct val="0"/>
                        </a:spcBef>
                        <a:spcAft>
                          <a:spcPct val="0"/>
                        </a:spcAft>
                      </a:pPr>
                      <a:r>
                        <a:rPr lang="en-US" altLang="zh-CN" sz="1600" b="1">
                          <a:latin typeface="Arial" panose="020B0604020202020204" pitchFamily="34" charset="0"/>
                          <a:cs typeface="Arial" panose="020B0604020202020204" pitchFamily="34" charset="0"/>
                        </a:rPr>
                        <a:t>2026.05–2026.06</a:t>
                      </a:r>
                      <a:endParaRPr lang="en-US" altLang="zh-CN" sz="1600" b="1">
                        <a:latin typeface="Arial" panose="020B0604020202020204" pitchFamily="34" charset="0"/>
                        <a:cs typeface="Arial" panose="020B0604020202020204" pitchFamily="34" charset="0"/>
                      </a:endParaRPr>
                    </a:p>
                  </a:txBody>
                  <a:tcPr marL="177800" marR="177800" marT="57150" marB="57150" anchor="ctr" anchorCtr="0"/>
                </a:tc>
                <a:tc>
                  <a:txBody>
                    <a:bodyPr/>
                    <a:p>
                      <a:pPr marL="0" indent="0" algn="l">
                        <a:lnSpc>
                          <a:spcPct val="120000"/>
                        </a:lnSpc>
                        <a:spcBef>
                          <a:spcPct val="0"/>
                        </a:spcBef>
                        <a:spcAft>
                          <a:spcPct val="0"/>
                        </a:spcAft>
                      </a:pPr>
                      <a:r>
                        <a:rPr lang="zh-CN" sz="1600">
                          <a:latin typeface="微软雅黑" panose="020B0503020204020204" charset="-122"/>
                          <a:ea typeface="微软雅黑" panose="020B0503020204020204" charset="-122"/>
                          <a:cs typeface="微软雅黑" panose="020B0503020204020204" charset="-122"/>
                        </a:rPr>
                        <a:t>完成开题报告及中期检查；进行</a:t>
                      </a:r>
                      <a:r>
                        <a:rPr lang="en-US" altLang="zh-CN" sz="1600">
                          <a:latin typeface="微软雅黑" panose="020B0503020204020204" charset="-122"/>
                          <a:ea typeface="微软雅黑" panose="020B0503020204020204" charset="-122"/>
                          <a:cs typeface="微软雅黑" panose="020B0503020204020204" charset="-122"/>
                        </a:rPr>
                        <a:t>FBG</a:t>
                      </a:r>
                      <a:r>
                        <a:rPr lang="zh-CN" sz="1600">
                          <a:latin typeface="微软雅黑" panose="020B0503020204020204" charset="-122"/>
                          <a:ea typeface="微软雅黑" panose="020B0503020204020204" charset="-122"/>
                          <a:cs typeface="微软雅黑" panose="020B0503020204020204" charset="-122"/>
                        </a:rPr>
                        <a:t>应变测量；</a:t>
                      </a:r>
                      <a:r>
                        <a:rPr lang="en-US" altLang="zh-CN" sz="1600">
                          <a:latin typeface="微软雅黑" panose="020B0503020204020204" charset="-122"/>
                          <a:ea typeface="微软雅黑" panose="020B0503020204020204" charset="-122"/>
                          <a:cs typeface="微软雅黑" panose="020B0503020204020204" charset="-122"/>
                        </a:rPr>
                        <a:t>PCB</a:t>
                      </a:r>
                      <a:r>
                        <a:rPr lang="zh-CN" sz="1600">
                          <a:latin typeface="微软雅黑" panose="020B0503020204020204" charset="-122"/>
                          <a:ea typeface="微软雅黑" panose="020B0503020204020204" charset="-122"/>
                          <a:cs typeface="微软雅黑" panose="020B0503020204020204" charset="-122"/>
                        </a:rPr>
                        <a:t>电路测试与优化</a:t>
                      </a:r>
                      <a:endParaRPr lang="zh-CN" sz="1600">
                        <a:latin typeface="微软雅黑" panose="020B0503020204020204" charset="-122"/>
                        <a:ea typeface="微软雅黑" panose="020B0503020204020204" charset="-122"/>
                        <a:cs typeface="微软雅黑" panose="020B0503020204020204" charset="-122"/>
                      </a:endParaRPr>
                    </a:p>
                  </a:txBody>
                  <a:tcPr marL="177800" marR="177800" marT="57150" marB="57150" anchor="ctr" anchorCtr="0"/>
                </a:tc>
                <a:tc>
                  <a:txBody>
                    <a:bodyPr/>
                    <a:p>
                      <a:pPr marL="0" indent="0" algn="ctr">
                        <a:lnSpc>
                          <a:spcPct val="120000"/>
                        </a:lnSpc>
                        <a:spcBef>
                          <a:spcPct val="0"/>
                        </a:spcBef>
                        <a:spcAft>
                          <a:spcPct val="0"/>
                        </a:spcAft>
                      </a:pPr>
                      <a:r>
                        <a:rPr lang="zh-CN" sz="1600">
                          <a:solidFill>
                            <a:srgbClr val="9AE2E5"/>
                          </a:solidFill>
                          <a:latin typeface="微软雅黑" panose="020B0503020204020204" charset="-122"/>
                          <a:ea typeface="微软雅黑" panose="020B0503020204020204" charset="-122"/>
                        </a:rPr>
                        <a:t>进行中</a:t>
                      </a:r>
                      <a:endParaRPr lang="zh-CN" sz="1600">
                        <a:solidFill>
                          <a:srgbClr val="9AE2E5"/>
                        </a:solidFill>
                        <a:latin typeface="微软雅黑" panose="020B0503020204020204" charset="-122"/>
                        <a:ea typeface="微软雅黑" panose="020B0503020204020204" charset="-122"/>
                      </a:endParaRPr>
                    </a:p>
                  </a:txBody>
                  <a:tcPr marL="177800" marR="177800" marT="57150" marB="57150" anchor="ctr" anchorCtr="0"/>
                </a:tc>
              </a:tr>
              <a:tr h="318770">
                <a:tc>
                  <a:txBody>
                    <a:bodyPr/>
                    <a:p>
                      <a:pPr marL="0" indent="0" algn="ctr">
                        <a:lnSpc>
                          <a:spcPct val="120000"/>
                        </a:lnSpc>
                        <a:spcBef>
                          <a:spcPct val="0"/>
                        </a:spcBef>
                        <a:spcAft>
                          <a:spcPct val="0"/>
                        </a:spcAft>
                      </a:pPr>
                      <a:r>
                        <a:rPr lang="en-US" altLang="zh-CN" sz="1600" b="1">
                          <a:latin typeface="Arial" panose="020B0604020202020204" pitchFamily="34" charset="0"/>
                          <a:cs typeface="Arial" panose="020B0604020202020204" pitchFamily="34" charset="0"/>
                        </a:rPr>
                        <a:t>2026.07–2026.10</a:t>
                      </a:r>
                      <a:endParaRPr lang="en-US" altLang="zh-CN" sz="1600" b="1">
                        <a:latin typeface="Arial" panose="020B0604020202020204" pitchFamily="34" charset="0"/>
                        <a:cs typeface="Arial" panose="020B0604020202020204" pitchFamily="34" charset="0"/>
                      </a:endParaRPr>
                    </a:p>
                  </a:txBody>
                  <a:tcPr marL="177800" marR="177800" marT="57150" marB="57150" anchor="ctr" anchorCtr="0"/>
                </a:tc>
                <a:tc>
                  <a:txBody>
                    <a:bodyPr/>
                    <a:p>
                      <a:pPr marL="0" indent="0" algn="l">
                        <a:lnSpc>
                          <a:spcPct val="120000"/>
                        </a:lnSpc>
                        <a:spcBef>
                          <a:spcPct val="0"/>
                        </a:spcBef>
                        <a:spcAft>
                          <a:spcPct val="0"/>
                        </a:spcAft>
                      </a:pPr>
                      <a:r>
                        <a:rPr lang="en-US" altLang="zh-CN" sz="1600">
                          <a:latin typeface="微软雅黑" panose="020B0503020204020204" charset="-122"/>
                          <a:ea typeface="微软雅黑" panose="020B0503020204020204" charset="-122"/>
                          <a:cs typeface="微软雅黑" panose="020B0503020204020204" charset="-122"/>
                        </a:rPr>
                        <a:t>AWG</a:t>
                      </a:r>
                      <a:r>
                        <a:rPr lang="zh-CN" sz="1600">
                          <a:latin typeface="微软雅黑" panose="020B0503020204020204" charset="-122"/>
                          <a:ea typeface="微软雅黑" panose="020B0503020204020204" charset="-122"/>
                          <a:cs typeface="微软雅黑" panose="020B0503020204020204" charset="-122"/>
                        </a:rPr>
                        <a:t>温度补偿实验系统搭建；</a:t>
                      </a:r>
                      <a:r>
                        <a:rPr lang="zh-CN" sz="1600">
                          <a:latin typeface="微软雅黑" panose="020B0503020204020204" charset="-122"/>
                          <a:ea typeface="微软雅黑" panose="020B0503020204020204" charset="-122"/>
                          <a:cs typeface="微软雅黑" panose="020B0503020204020204" charset="-122"/>
                          <a:sym typeface="+mn-ea"/>
                        </a:rPr>
                        <a:t>完成</a:t>
                      </a:r>
                      <a:r>
                        <a:rPr lang="en-US" altLang="zh-CN" sz="1600">
                          <a:latin typeface="微软雅黑" panose="020B0503020204020204" charset="-122"/>
                          <a:ea typeface="微软雅黑" panose="020B0503020204020204" charset="-122"/>
                          <a:cs typeface="微软雅黑" panose="020B0503020204020204" charset="-122"/>
                          <a:sym typeface="+mn-ea"/>
                        </a:rPr>
                        <a:t>AWG</a:t>
                      </a:r>
                      <a:r>
                        <a:rPr lang="zh-CN" sz="1600">
                          <a:latin typeface="微软雅黑" panose="020B0503020204020204" charset="-122"/>
                          <a:ea typeface="微软雅黑" panose="020B0503020204020204" charset="-122"/>
                          <a:cs typeface="微软雅黑" panose="020B0503020204020204" charset="-122"/>
                          <a:sym typeface="+mn-ea"/>
                        </a:rPr>
                        <a:t>补偿方案多温度对比实验</a:t>
                      </a:r>
                      <a:endParaRPr lang="zh-CN" sz="1600">
                        <a:latin typeface="微软雅黑" panose="020B0503020204020204" charset="-122"/>
                        <a:ea typeface="微软雅黑" panose="020B0503020204020204" charset="-122"/>
                        <a:cs typeface="微软雅黑" panose="020B0503020204020204" charset="-122"/>
                      </a:endParaRPr>
                    </a:p>
                  </a:txBody>
                  <a:tcPr marL="177800" marR="177800" marT="57150" marB="57150" anchor="ctr" anchorCtr="0"/>
                </a:tc>
                <a:tc>
                  <a:txBody>
                    <a:bodyPr/>
                    <a:p>
                      <a:pPr marL="0" indent="0" algn="ctr">
                        <a:lnSpc>
                          <a:spcPct val="120000"/>
                        </a:lnSpc>
                        <a:spcBef>
                          <a:spcPct val="0"/>
                        </a:spcBef>
                        <a:spcAft>
                          <a:spcPct val="0"/>
                        </a:spcAft>
                      </a:pPr>
                      <a:r>
                        <a:rPr lang="zh-CN" sz="1600">
                          <a:latin typeface="微软雅黑" panose="020B0503020204020204" charset="-122"/>
                          <a:ea typeface="微软雅黑" panose="020B0503020204020204" charset="-122"/>
                        </a:rPr>
                        <a:t>未完成</a:t>
                      </a:r>
                      <a:endParaRPr lang="zh-CN" sz="1600">
                        <a:latin typeface="微软雅黑" panose="020B0503020204020204" charset="-122"/>
                        <a:ea typeface="微软雅黑" panose="020B0503020204020204" charset="-122"/>
                      </a:endParaRPr>
                    </a:p>
                  </a:txBody>
                  <a:tcPr marL="177800" marR="177800" marT="57150" marB="57150" anchor="ctr" anchorCtr="0"/>
                </a:tc>
              </a:tr>
              <a:tr h="406400">
                <a:tc>
                  <a:txBody>
                    <a:bodyPr/>
                    <a:p>
                      <a:pPr marL="0" indent="0" algn="ctr">
                        <a:lnSpc>
                          <a:spcPct val="120000"/>
                        </a:lnSpc>
                        <a:spcBef>
                          <a:spcPct val="0"/>
                        </a:spcBef>
                        <a:spcAft>
                          <a:spcPct val="0"/>
                        </a:spcAft>
                      </a:pPr>
                      <a:r>
                        <a:rPr lang="en-US" altLang="zh-CN" sz="1600" b="1">
                          <a:latin typeface="Arial" panose="020B0604020202020204" pitchFamily="34" charset="0"/>
                          <a:cs typeface="Arial" panose="020B0604020202020204" pitchFamily="34" charset="0"/>
                        </a:rPr>
                        <a:t>2026.11–2026.12</a:t>
                      </a:r>
                      <a:endParaRPr lang="en-US" altLang="zh-CN" sz="1600" b="1">
                        <a:latin typeface="Arial" panose="020B0604020202020204" pitchFamily="34" charset="0"/>
                        <a:cs typeface="Arial" panose="020B0604020202020204" pitchFamily="34" charset="0"/>
                      </a:endParaRPr>
                    </a:p>
                  </a:txBody>
                  <a:tcPr marL="177800" marR="177800" marT="57150" marB="57150" anchor="ctr" anchorCtr="0"/>
                </a:tc>
                <a:tc>
                  <a:txBody>
                    <a:bodyPr/>
                    <a:p>
                      <a:pPr marL="0" indent="0" algn="l">
                        <a:lnSpc>
                          <a:spcPct val="120000"/>
                        </a:lnSpc>
                        <a:spcBef>
                          <a:spcPct val="0"/>
                        </a:spcBef>
                        <a:spcAft>
                          <a:spcPct val="0"/>
                        </a:spcAft>
                      </a:pPr>
                      <a:r>
                        <a:rPr lang="zh-CN" sz="1600">
                          <a:latin typeface="微软雅黑" panose="020B0503020204020204" charset="-122"/>
                          <a:ea typeface="微软雅黑" panose="020B0503020204020204" charset="-122"/>
                        </a:rPr>
                        <a:t>提炼创新点；撰写学术论文</a:t>
                      </a:r>
                      <a:endParaRPr lang="zh-CN" sz="1600">
                        <a:latin typeface="微软雅黑" panose="020B0503020204020204" charset="-122"/>
                        <a:ea typeface="微软雅黑" panose="020B0503020204020204" charset="-122"/>
                      </a:endParaRPr>
                    </a:p>
                  </a:txBody>
                  <a:tcPr marL="177800" marR="177800" marT="57150" marB="57150" anchor="ctr" anchorCtr="0"/>
                </a:tc>
                <a:tc>
                  <a:txBody>
                    <a:bodyPr/>
                    <a:p>
                      <a:pPr marL="0" indent="0" algn="ctr">
                        <a:lnSpc>
                          <a:spcPct val="120000"/>
                        </a:lnSpc>
                        <a:spcBef>
                          <a:spcPct val="0"/>
                        </a:spcBef>
                        <a:spcAft>
                          <a:spcPct val="0"/>
                        </a:spcAft>
                      </a:pPr>
                      <a:r>
                        <a:rPr lang="zh-CN" sz="1600">
                          <a:latin typeface="微软雅黑" panose="020B0503020204020204" charset="-122"/>
                          <a:ea typeface="微软雅黑" panose="020B0503020204020204" charset="-122"/>
                        </a:rPr>
                        <a:t>未完成</a:t>
                      </a:r>
                      <a:endParaRPr lang="zh-CN" sz="1600">
                        <a:latin typeface="微软雅黑" panose="020B0503020204020204" charset="-122"/>
                        <a:ea typeface="微软雅黑" panose="020B0503020204020204" charset="-122"/>
                      </a:endParaRPr>
                    </a:p>
                  </a:txBody>
                  <a:tcPr marL="177800" marR="177800" marT="57150" marB="57150" anchor="ctr" anchorCtr="0"/>
                </a:tc>
              </a:tr>
              <a:tr h="406400">
                <a:tc>
                  <a:txBody>
                    <a:bodyPr/>
                    <a:p>
                      <a:pPr marL="0" indent="0" algn="ctr">
                        <a:lnSpc>
                          <a:spcPct val="120000"/>
                        </a:lnSpc>
                        <a:spcBef>
                          <a:spcPct val="0"/>
                        </a:spcBef>
                        <a:spcAft>
                          <a:spcPct val="0"/>
                        </a:spcAft>
                      </a:pPr>
                      <a:r>
                        <a:rPr lang="en-US" altLang="zh-CN" sz="1600" b="1">
                          <a:latin typeface="Arial" panose="020B0604020202020204" pitchFamily="34" charset="0"/>
                          <a:cs typeface="Arial" panose="020B0604020202020204" pitchFamily="34" charset="0"/>
                        </a:rPr>
                        <a:t>2027.01–2027.04</a:t>
                      </a:r>
                      <a:endParaRPr lang="en-US" altLang="zh-CN" sz="1600" b="1">
                        <a:latin typeface="Arial" panose="020B0604020202020204" pitchFamily="34" charset="0"/>
                        <a:cs typeface="Arial" panose="020B0604020202020204" pitchFamily="34" charset="0"/>
                      </a:endParaRPr>
                    </a:p>
                  </a:txBody>
                  <a:tcPr marL="177800" marR="177800" marT="57150" marB="57150" anchor="ctr" anchorCtr="0"/>
                </a:tc>
                <a:tc>
                  <a:txBody>
                    <a:bodyPr/>
                    <a:p>
                      <a:pPr algn="l">
                        <a:lnSpc>
                          <a:spcPct val="120000"/>
                        </a:lnSpc>
                        <a:spcBef>
                          <a:spcPct val="0"/>
                        </a:spcBef>
                        <a:spcAft>
                          <a:spcPct val="0"/>
                        </a:spcAft>
                      </a:pPr>
                      <a:r>
                        <a:rPr lang="zh-CN" sz="1600">
                          <a:latin typeface="微软雅黑" panose="020B0503020204020204" charset="-122"/>
                          <a:ea typeface="微软雅黑" panose="020B0503020204020204" charset="-122"/>
                        </a:rPr>
                        <a:t>完成硕士学位论文撰写</a:t>
                      </a:r>
                      <a:endParaRPr lang="zh-CN" sz="1600">
                        <a:latin typeface="微软雅黑" panose="020B0503020204020204" charset="-122"/>
                        <a:ea typeface="微软雅黑" panose="020B0503020204020204" charset="-122"/>
                      </a:endParaRPr>
                    </a:p>
                  </a:txBody>
                  <a:tcPr marL="177800" marR="177800" marT="57150" marB="57150" anchor="ctr" anchorCtr="0"/>
                </a:tc>
                <a:tc>
                  <a:txBody>
                    <a:bodyPr/>
                    <a:p>
                      <a:pPr marL="0" indent="0" algn="ctr">
                        <a:lnSpc>
                          <a:spcPct val="120000"/>
                        </a:lnSpc>
                        <a:spcBef>
                          <a:spcPct val="0"/>
                        </a:spcBef>
                        <a:spcAft>
                          <a:spcPct val="0"/>
                        </a:spcAft>
                      </a:pPr>
                      <a:r>
                        <a:rPr lang="zh-CN" sz="1600">
                          <a:latin typeface="微软雅黑" panose="020B0503020204020204" charset="-122"/>
                          <a:ea typeface="微软雅黑" panose="020B0503020204020204" charset="-122"/>
                        </a:rPr>
                        <a:t>未完成</a:t>
                      </a:r>
                      <a:endParaRPr lang="zh-CN" sz="1600">
                        <a:latin typeface="微软雅黑" panose="020B0503020204020204" charset="-122"/>
                        <a:ea typeface="微软雅黑" panose="020B0503020204020204" charset="-122"/>
                      </a:endParaRPr>
                    </a:p>
                  </a:txBody>
                  <a:tcPr marL="177800" marR="177800" marT="57150" marB="57150" anchor="ctr" anchorCtr="0"/>
                </a:tc>
              </a:tr>
              <a:tr h="406400">
                <a:tc>
                  <a:txBody>
                    <a:bodyPr/>
                    <a:p>
                      <a:pPr marL="0" indent="0" algn="ctr">
                        <a:lnSpc>
                          <a:spcPct val="120000"/>
                        </a:lnSpc>
                        <a:spcBef>
                          <a:spcPct val="0"/>
                        </a:spcBef>
                        <a:spcAft>
                          <a:spcPct val="0"/>
                        </a:spcAft>
                      </a:pPr>
                      <a:r>
                        <a:rPr lang="en-US" altLang="zh-CN" sz="1600" b="1">
                          <a:latin typeface="Arial" panose="020B0604020202020204" pitchFamily="34" charset="0"/>
                          <a:cs typeface="Arial" panose="020B0604020202020204" pitchFamily="34" charset="0"/>
                        </a:rPr>
                        <a:t>2027.05–2027.06</a:t>
                      </a:r>
                      <a:endParaRPr lang="en-US" altLang="zh-CN" sz="1600" b="1">
                        <a:latin typeface="Arial" panose="020B0604020202020204" pitchFamily="34" charset="0"/>
                        <a:cs typeface="Arial" panose="020B0604020202020204" pitchFamily="34" charset="0"/>
                      </a:endParaRPr>
                    </a:p>
                  </a:txBody>
                  <a:tcPr marL="177800" marR="177800" marT="57150" marB="57150" anchor="ctr" anchorCtr="0"/>
                </a:tc>
                <a:tc>
                  <a:txBody>
                    <a:bodyPr/>
                    <a:p>
                      <a:pPr algn="l">
                        <a:lnSpc>
                          <a:spcPct val="120000"/>
                        </a:lnSpc>
                        <a:spcBef>
                          <a:spcPct val="0"/>
                        </a:spcBef>
                        <a:spcAft>
                          <a:spcPct val="0"/>
                        </a:spcAft>
                      </a:pPr>
                      <a:r>
                        <a:rPr lang="zh-CN" sz="1600">
                          <a:latin typeface="微软雅黑" panose="020B0503020204020204" charset="-122"/>
                          <a:ea typeface="微软雅黑" panose="020B0503020204020204" charset="-122"/>
                        </a:rPr>
                        <a:t>准备并完成毕业答辩</a:t>
                      </a:r>
                      <a:endParaRPr lang="zh-CN" sz="1600">
                        <a:latin typeface="微软雅黑" panose="020B0503020204020204" charset="-122"/>
                        <a:ea typeface="微软雅黑" panose="020B0503020204020204" charset="-122"/>
                      </a:endParaRPr>
                    </a:p>
                  </a:txBody>
                  <a:tcPr marL="177800" marR="177800" marT="57150" marB="57150" anchor="ctr" anchorCtr="0"/>
                </a:tc>
                <a:tc>
                  <a:txBody>
                    <a:bodyPr/>
                    <a:p>
                      <a:pPr marL="0" indent="0" algn="ctr">
                        <a:lnSpc>
                          <a:spcPct val="120000"/>
                        </a:lnSpc>
                        <a:spcBef>
                          <a:spcPct val="0"/>
                        </a:spcBef>
                        <a:spcAft>
                          <a:spcPct val="0"/>
                        </a:spcAft>
                      </a:pPr>
                      <a:r>
                        <a:rPr lang="zh-CN" sz="1600">
                          <a:latin typeface="微软雅黑" panose="020B0503020204020204" charset="-122"/>
                          <a:ea typeface="微软雅黑" panose="020B0503020204020204" charset="-122"/>
                        </a:rPr>
                        <a:t>未完成</a:t>
                      </a:r>
                      <a:endParaRPr lang="zh-CN" sz="1600">
                        <a:latin typeface="微软雅黑" panose="020B0503020204020204" charset="-122"/>
                        <a:ea typeface="微软雅黑" panose="020B0503020204020204" charset="-122"/>
                      </a:endParaRPr>
                    </a:p>
                  </a:txBody>
                  <a:tcPr marL="177800" marR="177800" marT="57150" marB="57150" anchor="ctr" anchorCtr="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100000"/>
            </a:srgbClr>
          </a:solidFill>
          <a:ln w="25400" cap="flat" cmpd="sng">
            <a:noFill/>
            <a:prstDash val="solid"/>
            <a:round/>
          </a:ln>
        </p:spPr>
        <p:txBody>
          <a:bodyPr vert="horz" wrap="square" lIns="0" tIns="0" rIns="0" bIns="0" rtlCol="0" anchor="ctr" anchorCtr="0"/>
          <a:lstStyle/>
          <a:p>
            <a:pPr algn="ctr">
              <a:defRPr/>
            </a:pPr>
          </a:p>
        </p:txBody>
      </p:sp>
      <p:sp>
        <p:nvSpPr>
          <p:cNvPr id="10" name="AutoShape 10"/>
          <p:cNvSpPr/>
          <p:nvPr/>
        </p:nvSpPr>
        <p:spPr>
          <a:xfrm>
            <a:off x="762000" y="762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06 总结</a:t>
            </a:r>
            <a:endParaRPr lang="en-US" sz="1100"/>
          </a:p>
        </p:txBody>
      </p:sp>
      <p:sp>
        <p:nvSpPr>
          <p:cNvPr id="11" name="AutoShape 11"/>
          <p:cNvSpPr/>
          <p:nvPr>
            <p:custDataLst>
              <p:tags r:id="rId1"/>
            </p:custDataLst>
          </p:nvPr>
        </p:nvSpPr>
        <p:spPr>
          <a:xfrm>
            <a:off x="762000" y="1694815"/>
            <a:ext cx="2540000" cy="4572000"/>
          </a:xfrm>
          <a:prstGeom prst="roundRect">
            <a:avLst>
              <a:gd name="adj" fmla="val 6000"/>
            </a:avLst>
          </a:prstGeom>
          <a:solidFill>
            <a:srgbClr val="FFFFFF">
              <a:alpha val="100000"/>
            </a:srgbClr>
          </a:solidFill>
          <a:ln w="12700" cap="flat" cmpd="sng">
            <a:solidFill>
              <a:srgbClr val="00529B">
                <a:alpha val="30000"/>
              </a:srgbClr>
            </a:solidFill>
            <a:prstDash val="solid"/>
            <a:round/>
          </a:ln>
        </p:spPr>
        <p:txBody>
          <a:bodyPr vert="horz" wrap="square" lIns="0" tIns="0" rIns="0" bIns="0" rtlCol="0" anchor="ctr" anchorCtr="0"/>
          <a:lstStyle/>
          <a:p>
            <a:pPr algn="ctr">
              <a:defRPr/>
            </a:pPr>
          </a:p>
        </p:txBody>
      </p:sp>
      <p:pic>
        <p:nvPicPr>
          <p:cNvPr id="12" name="Picture 12"/>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78000" y="1948815"/>
            <a:ext cx="508000" cy="508000"/>
          </a:xfrm>
          <a:prstGeom prst="rect">
            <a:avLst/>
          </a:prstGeom>
        </p:spPr>
      </p:pic>
      <p:sp>
        <p:nvSpPr>
          <p:cNvPr id="13" name="AutoShape 13"/>
          <p:cNvSpPr/>
          <p:nvPr>
            <p:custDataLst>
              <p:tags r:id="rId5"/>
            </p:custDataLst>
          </p:nvPr>
        </p:nvSpPr>
        <p:spPr>
          <a:xfrm>
            <a:off x="889000" y="2710815"/>
            <a:ext cx="2286000" cy="457200"/>
          </a:xfrm>
          <a:prstGeom prst="roundRect">
            <a:avLst>
              <a:gd name="adj" fmla="val 44444"/>
            </a:avLst>
          </a:prstGeom>
          <a:solidFill>
            <a:srgbClr val="00529B">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核心挑战</a:t>
            </a:r>
            <a:endPar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6"/>
            </p:custDataLst>
          </p:nvPr>
        </p:nvSpPr>
        <p:spPr>
          <a:xfrm>
            <a:off x="1016000" y="3345815"/>
            <a:ext cx="2032000" cy="12700"/>
          </a:xfrm>
          <a:prstGeom prst="roundRect">
            <a:avLst>
              <a:gd name="adj" fmla="val 0"/>
            </a:avLst>
          </a:prstGeom>
          <a:solidFill>
            <a:srgbClr val="00529B">
              <a:alpha val="50000"/>
            </a:srgb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custDataLst>
              <p:tags r:id="rId7"/>
            </p:custDataLst>
          </p:nvPr>
        </p:nvSpPr>
        <p:spPr>
          <a:xfrm>
            <a:off x="889000" y="3599815"/>
            <a:ext cx="2286000" cy="228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聚焦FBG解调两大瓶颈：环境变化导致的</a:t>
            </a:r>
            <a:r>
              <a:rPr lang="en-US" sz="2000" b="1" i="0" u="none" strike="noStrike">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温度稳定性</a:t>
            </a:r>
            <a:r>
              <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难题，以及现有技术难以突破的</a:t>
            </a:r>
            <a:r>
              <a:rPr lang="en-US" sz="2000" b="1" i="0" u="none" strike="noStrike">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解调精度极限</a:t>
            </a:r>
            <a:r>
              <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custDataLst>
              <p:tags r:id="rId8"/>
            </p:custDataLst>
          </p:nvPr>
        </p:nvSpPr>
        <p:spPr>
          <a:xfrm>
            <a:off x="3556000" y="1694815"/>
            <a:ext cx="2540000" cy="4572000"/>
          </a:xfrm>
          <a:prstGeom prst="roundRect">
            <a:avLst>
              <a:gd name="adj" fmla="val 6000"/>
            </a:avLst>
          </a:prstGeom>
          <a:solidFill>
            <a:srgbClr val="FFFFFF">
              <a:alpha val="100000"/>
            </a:srgbClr>
          </a:solidFill>
          <a:ln w="12700" cap="flat" cmpd="sng">
            <a:solidFill>
              <a:srgbClr val="00529B">
                <a:alpha val="30000"/>
              </a:srgbClr>
            </a:solidFill>
            <a:prstDash val="solid"/>
            <a:round/>
          </a:ln>
        </p:spPr>
        <p:txBody>
          <a:bodyPr vert="horz" wrap="square" lIns="0" tIns="0" rIns="0" bIns="0" rtlCol="0" anchor="ctr" anchorCtr="0"/>
          <a:lstStyle/>
          <a:p>
            <a:pPr algn="ctr">
              <a:defRPr/>
            </a:pPr>
          </a:p>
        </p:txBody>
      </p:sp>
      <p:pic>
        <p:nvPicPr>
          <p:cNvPr id="17" name="Picture 17"/>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72000" y="1948815"/>
            <a:ext cx="508000" cy="508000"/>
          </a:xfrm>
          <a:prstGeom prst="rect">
            <a:avLst/>
          </a:prstGeom>
        </p:spPr>
      </p:pic>
      <p:sp>
        <p:nvSpPr>
          <p:cNvPr id="18" name="AutoShape 18"/>
          <p:cNvSpPr/>
          <p:nvPr>
            <p:custDataLst>
              <p:tags r:id="rId12"/>
            </p:custDataLst>
          </p:nvPr>
        </p:nvSpPr>
        <p:spPr>
          <a:xfrm>
            <a:off x="3683000" y="2710815"/>
            <a:ext cx="2286000" cy="457200"/>
          </a:xfrm>
          <a:prstGeom prst="roundRect">
            <a:avLst>
              <a:gd name="adj" fmla="val 44444"/>
            </a:avLst>
          </a:prstGeom>
          <a:solidFill>
            <a:srgbClr val="00529B">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zh-CN" alt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温度</a:t>
            </a: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补偿</a:t>
            </a:r>
            <a:endPar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custDataLst>
              <p:tags r:id="rId13"/>
            </p:custDataLst>
          </p:nvPr>
        </p:nvSpPr>
        <p:spPr>
          <a:xfrm>
            <a:off x="3810000" y="3345815"/>
            <a:ext cx="2032000" cy="12700"/>
          </a:xfrm>
          <a:prstGeom prst="roundRect">
            <a:avLst>
              <a:gd name="adj" fmla="val 0"/>
            </a:avLst>
          </a:prstGeom>
          <a:solidFill>
            <a:srgbClr val="00529B">
              <a:alpha val="50000"/>
            </a:srgbClr>
          </a:solidFill>
          <a:ln w="25400" cap="flat" cmpd="sng">
            <a:noFill/>
            <a:prstDash val="solid"/>
            <a:round/>
          </a:ln>
        </p:spPr>
        <p:txBody>
          <a:bodyPr vert="horz" wrap="square" lIns="0" tIns="0" rIns="0" bIns="0" rtlCol="0" anchor="ctr" anchorCtr="0"/>
          <a:lstStyle/>
          <a:p>
            <a:pPr algn="ctr">
              <a:defRPr/>
            </a:pPr>
          </a:p>
        </p:txBody>
      </p:sp>
      <p:sp>
        <p:nvSpPr>
          <p:cNvPr id="20" name="AutoShape 20"/>
          <p:cNvSpPr/>
          <p:nvPr>
            <p:custDataLst>
              <p:tags r:id="rId14"/>
            </p:custDataLst>
          </p:nvPr>
        </p:nvSpPr>
        <p:spPr>
          <a:xfrm>
            <a:off x="3683000" y="3599815"/>
            <a:ext cx="2286000" cy="228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引入参考FBG传感器，通过算法实现对温度漂移的</a:t>
            </a:r>
            <a:r>
              <a:rPr lang="en-US" sz="2000" b="1" i="0" u="none" strike="noStrike">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实时动态补偿</a:t>
            </a:r>
            <a:r>
              <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，降低环境干扰。</a:t>
            </a:r>
            <a:endPar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custDataLst>
              <p:tags r:id="rId15"/>
            </p:custDataLst>
          </p:nvPr>
        </p:nvSpPr>
        <p:spPr>
          <a:xfrm>
            <a:off x="6350000" y="1694815"/>
            <a:ext cx="2540000" cy="4572000"/>
          </a:xfrm>
          <a:prstGeom prst="roundRect">
            <a:avLst>
              <a:gd name="adj" fmla="val 6000"/>
            </a:avLst>
          </a:prstGeom>
          <a:solidFill>
            <a:srgbClr val="FFFFFF">
              <a:alpha val="100000"/>
            </a:srgbClr>
          </a:solidFill>
          <a:ln w="12700" cap="flat" cmpd="sng">
            <a:solidFill>
              <a:srgbClr val="00529B">
                <a:alpha val="30000"/>
              </a:srgbClr>
            </a:solidFill>
            <a:prstDash val="solid"/>
            <a:round/>
          </a:ln>
        </p:spPr>
        <p:txBody>
          <a:bodyPr vert="horz" wrap="square" lIns="0" tIns="0" rIns="0" bIns="0" rtlCol="0" anchor="ctr" anchorCtr="0"/>
          <a:lstStyle/>
          <a:p>
            <a:pPr algn="ctr">
              <a:defRPr/>
            </a:pPr>
          </a:p>
        </p:txBody>
      </p:sp>
      <p:pic>
        <p:nvPicPr>
          <p:cNvPr id="22" name="Picture 22"/>
          <p:cNvPicPr>
            <a:picLocks noChangeAspect="1"/>
          </p:cNvPicPr>
          <p:nvPr>
            <p:custDataLst>
              <p:tags r:id="rId16"/>
            </p:custDataLst>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366000" y="1948815"/>
            <a:ext cx="508000" cy="508000"/>
          </a:xfrm>
          <a:prstGeom prst="rect">
            <a:avLst/>
          </a:prstGeom>
        </p:spPr>
      </p:pic>
      <p:sp>
        <p:nvSpPr>
          <p:cNvPr id="23" name="AutoShape 23"/>
          <p:cNvSpPr/>
          <p:nvPr>
            <p:custDataLst>
              <p:tags r:id="rId19"/>
            </p:custDataLst>
          </p:nvPr>
        </p:nvSpPr>
        <p:spPr>
          <a:xfrm>
            <a:off x="6477000" y="2710815"/>
            <a:ext cx="2286000" cy="457200"/>
          </a:xfrm>
          <a:prstGeom prst="roundRect">
            <a:avLst>
              <a:gd name="adj" fmla="val 44444"/>
            </a:avLst>
          </a:prstGeom>
          <a:solidFill>
            <a:srgbClr val="00529B">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zh-CN" alt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微波光子</a:t>
            </a:r>
            <a:endPar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custDataLst>
              <p:tags r:id="rId20"/>
            </p:custDataLst>
          </p:nvPr>
        </p:nvSpPr>
        <p:spPr>
          <a:xfrm>
            <a:off x="6604000" y="3345815"/>
            <a:ext cx="2032000" cy="12700"/>
          </a:xfrm>
          <a:prstGeom prst="roundRect">
            <a:avLst>
              <a:gd name="adj" fmla="val 0"/>
            </a:avLst>
          </a:prstGeom>
          <a:solidFill>
            <a:srgbClr val="00529B">
              <a:alpha val="50000"/>
            </a:srgbClr>
          </a:solidFill>
          <a:ln w="25400" cap="flat" cmpd="sng">
            <a:noFill/>
            <a:prstDash val="solid"/>
            <a:round/>
          </a:ln>
        </p:spPr>
        <p:txBody>
          <a:bodyPr vert="horz" wrap="square" lIns="0" tIns="0" rIns="0" bIns="0" rtlCol="0" anchor="ctr" anchorCtr="0"/>
          <a:lstStyle/>
          <a:p>
            <a:pPr algn="ctr">
              <a:defRPr/>
            </a:pPr>
          </a:p>
        </p:txBody>
      </p:sp>
      <p:sp>
        <p:nvSpPr>
          <p:cNvPr id="25" name="AutoShape 25"/>
          <p:cNvSpPr/>
          <p:nvPr>
            <p:custDataLst>
              <p:tags r:id="rId21"/>
            </p:custDataLst>
          </p:nvPr>
        </p:nvSpPr>
        <p:spPr>
          <a:xfrm>
            <a:off x="6477000" y="3599815"/>
            <a:ext cx="2286000" cy="228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a:t>
            </a:r>
            <a:r>
              <a:rPr lang="en-US" sz="2000" b="1" i="0" u="none" strike="noStrike">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微波光子学技术</a:t>
            </a:r>
            <a:r>
              <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，将光信号转至微波频段处理，突破传统精度</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100"/>
          </a:p>
        </p:txBody>
      </p:sp>
      <p:sp>
        <p:nvSpPr>
          <p:cNvPr id="26" name="AutoShape 26"/>
          <p:cNvSpPr/>
          <p:nvPr>
            <p:custDataLst>
              <p:tags r:id="rId22"/>
            </p:custDataLst>
          </p:nvPr>
        </p:nvSpPr>
        <p:spPr>
          <a:xfrm>
            <a:off x="9144000" y="1694815"/>
            <a:ext cx="2540000" cy="4572000"/>
          </a:xfrm>
          <a:prstGeom prst="roundRect">
            <a:avLst>
              <a:gd name="adj" fmla="val 6000"/>
            </a:avLst>
          </a:prstGeom>
          <a:solidFill>
            <a:srgbClr val="FFFFFF">
              <a:alpha val="100000"/>
            </a:srgbClr>
          </a:solidFill>
          <a:ln w="12700" cap="flat" cmpd="sng">
            <a:solidFill>
              <a:srgbClr val="00529B">
                <a:alpha val="30000"/>
              </a:srgbClr>
            </a:solidFill>
            <a:prstDash val="solid"/>
            <a:round/>
          </a:ln>
        </p:spPr>
        <p:txBody>
          <a:bodyPr vert="horz" wrap="square" lIns="0" tIns="0" rIns="0" bIns="0" rtlCol="0" anchor="ctr" anchorCtr="0"/>
          <a:lstStyle/>
          <a:p>
            <a:pPr algn="ctr">
              <a:defRPr/>
            </a:pPr>
          </a:p>
        </p:txBody>
      </p:sp>
      <p:pic>
        <p:nvPicPr>
          <p:cNvPr id="27" name="Picture 27"/>
          <p:cNvPicPr>
            <a:picLocks noChangeAspect="1"/>
          </p:cNvPicPr>
          <p:nvPr>
            <p:custDataLst>
              <p:tags r:id="rId23"/>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10160000" y="1948815"/>
            <a:ext cx="508000" cy="508000"/>
          </a:xfrm>
          <a:prstGeom prst="rect">
            <a:avLst/>
          </a:prstGeom>
        </p:spPr>
      </p:pic>
      <p:sp>
        <p:nvSpPr>
          <p:cNvPr id="28" name="AutoShape 28"/>
          <p:cNvSpPr/>
          <p:nvPr>
            <p:custDataLst>
              <p:tags r:id="rId26"/>
            </p:custDataLst>
          </p:nvPr>
        </p:nvSpPr>
        <p:spPr>
          <a:xfrm>
            <a:off x="9271000" y="2710815"/>
            <a:ext cx="2286000" cy="457200"/>
          </a:xfrm>
          <a:prstGeom prst="roundRect">
            <a:avLst>
              <a:gd name="adj" fmla="val 44444"/>
            </a:avLst>
          </a:prstGeom>
          <a:solidFill>
            <a:srgbClr val="00529B">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结论与展望</a:t>
            </a:r>
            <a:endPar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custDataLst>
              <p:tags r:id="rId27"/>
            </p:custDataLst>
          </p:nvPr>
        </p:nvSpPr>
        <p:spPr>
          <a:xfrm>
            <a:off x="9398000" y="3345815"/>
            <a:ext cx="2032000" cy="12700"/>
          </a:xfrm>
          <a:prstGeom prst="roundRect">
            <a:avLst>
              <a:gd name="adj" fmla="val 0"/>
            </a:avLst>
          </a:prstGeom>
          <a:solidFill>
            <a:srgbClr val="00529B">
              <a:alpha val="50000"/>
            </a:srgbClr>
          </a:solidFill>
          <a:ln w="25400" cap="flat" cmpd="sng">
            <a:noFill/>
            <a:prstDash val="solid"/>
            <a:round/>
          </a:ln>
        </p:spPr>
        <p:txBody>
          <a:bodyPr vert="horz" wrap="square" lIns="0" tIns="0" rIns="0" bIns="0" rtlCol="0" anchor="ctr" anchorCtr="0"/>
          <a:lstStyle/>
          <a:p>
            <a:pPr algn="ctr">
              <a:defRPr/>
            </a:pPr>
          </a:p>
        </p:txBody>
      </p:sp>
      <p:sp>
        <p:nvSpPr>
          <p:cNvPr id="30" name="AutoShape 30"/>
          <p:cNvSpPr/>
          <p:nvPr>
            <p:custDataLst>
              <p:tags r:id="rId28"/>
            </p:custDataLst>
          </p:nvPr>
        </p:nvSpPr>
        <p:spPr>
          <a:xfrm>
            <a:off x="9271000" y="3599815"/>
            <a:ext cx="2286000" cy="228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理论推导与实验验证表明，两种方案具备高度的</a:t>
            </a:r>
            <a:r>
              <a:rPr lang="en-US" sz="2000" b="1" i="0" u="none" strike="noStrike">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可行性与创新性</a:t>
            </a:r>
            <a:r>
              <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，为后续研究奠定基础。</a:t>
            </a:r>
            <a:endParaRPr lang="en-US" sz="20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nvSpPr>
        <p:spPr>
          <a:xfrm>
            <a:off x="0" y="0"/>
            <a:ext cx="12192000" cy="508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sp>
        <p:nvSpPr>
          <p:cNvPr id="39" name="AutoShape 4"/>
          <p:cNvSpPr/>
          <p:nvPr/>
        </p:nvSpPr>
        <p:spPr>
          <a:xfrm>
            <a:off x="204216" y="0"/>
            <a:ext cx="1397000" cy="508000"/>
          </a:xfrm>
          <a:prstGeom prst="rect">
            <a:avLst/>
          </a:prstGeom>
          <a:solidFill>
            <a:srgbClr val="1E6EBE"/>
          </a:solid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5"/>
          <p:cNvSpPr/>
          <p:nvPr/>
        </p:nvSpPr>
        <p:spPr>
          <a:xfrm>
            <a:off x="1855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zh-CN" altLang="en-US" sz="1800" dirty="0">
                <a:solidFill>
                  <a:srgbClr val="FFFFFF"/>
                </a:solidFill>
                <a:latin typeface="Noto Sans SC" panose="020B0200000000000000" charset="-122"/>
                <a:ea typeface="Noto Sans SC" panose="020B0200000000000000" charset="-122"/>
                <a:sym typeface="Noto Sans SC" panose="020B0200000000000000" charset="-122"/>
              </a:rPr>
              <a:t>研究挑战</a:t>
            </a:r>
            <a:endParaRPr lang="zh-CN" altLang="en-US" sz="1800" dirty="0">
              <a:solidFill>
                <a:srgbClr val="FFFFFF"/>
              </a:solidFill>
              <a:latin typeface="Noto Sans SC" panose="020B0200000000000000" charset="-122"/>
              <a:ea typeface="Noto Sans SC" panose="020B0200000000000000" charset="-122"/>
              <a:sym typeface="Noto Sans SC" panose="020B0200000000000000" charset="-122"/>
            </a:endParaRPr>
          </a:p>
        </p:txBody>
      </p:sp>
      <p:sp>
        <p:nvSpPr>
          <p:cNvPr id="41" name="AutoShape 6"/>
          <p:cNvSpPr/>
          <p:nvPr/>
        </p:nvSpPr>
        <p:spPr>
          <a:xfrm>
            <a:off x="3506216" y="0"/>
            <a:ext cx="1397000" cy="508000"/>
          </a:xfrm>
          <a:prstGeom prst="roundRect">
            <a:avLst>
              <a:gd name="adj" fmla="val 0"/>
            </a:avLst>
          </a:prstGeom>
          <a:solidFill>
            <a:srgbClr val="00529B"/>
          </a:solidFill>
          <a:ln w="25400" cap="flat" cmpd="sng">
            <a:noFill/>
            <a:prstDash val="solid"/>
            <a:round/>
          </a:ln>
        </p:spPr>
        <p:txBody>
          <a:bodyPr vert="horz" wrap="square" lIns="0" tIns="0" rIns="0" bIns="0" rtlCol="0" anchor="ctr" anchorCtr="0"/>
          <a:lstStyle/>
          <a:p>
            <a:pPr indent="0" algn="ctr">
              <a:lnSpc>
                <a:spcPct val="125000"/>
              </a:lnSpc>
              <a:defRPr/>
            </a:pPr>
            <a:r>
              <a:rPr lang="en-US" sz="1800"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endParaRPr lang="zh-CN" altLang="en-US" sz="1800"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2" name="AutoShape 7"/>
          <p:cNvSpPr/>
          <p:nvPr/>
        </p:nvSpPr>
        <p:spPr>
          <a:xfrm>
            <a:off x="3506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43" name="AutoShape 8"/>
          <p:cNvSpPr/>
          <p:nvPr/>
        </p:nvSpPr>
        <p:spPr>
          <a:xfrm>
            <a:off x="5411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研究内容</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二</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9"/>
          <p:cNvSpPr/>
          <p:nvPr/>
        </p:nvSpPr>
        <p:spPr>
          <a:xfrm>
            <a:off x="718921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进度</a:t>
            </a:r>
            <a:r>
              <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安排</a:t>
            </a:r>
            <a:endParaRPr lang="zh-CN" altLang="en-US" sz="1800" b="0" i="0" u="none" strike="noStrike" dirty="0">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5" name="AutoShape 10"/>
          <p:cNvSpPr/>
          <p:nvPr/>
        </p:nvSpPr>
        <p:spPr>
          <a:xfrm>
            <a:off x="8709406" y="0"/>
            <a:ext cx="139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a:t>
            </a:r>
            <a:endParaRPr lang="en-US" sz="1800" b="0" i="0" u="none" strike="noStrike" dirty="0" err="1">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 name="图片 3"/>
          <p:cNvPicPr>
            <a:picLocks noChangeAspect="1"/>
          </p:cNvPicPr>
          <p:nvPr/>
        </p:nvPicPr>
        <p:blipFill>
          <a:blip r:embed="rId29" cstate="print"/>
          <a:stretch>
            <a:fillRect/>
          </a:stretch>
        </p:blipFill>
        <p:spPr>
          <a:xfrm>
            <a:off x="10618470" y="43815"/>
            <a:ext cx="1321435" cy="42037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a:xfrm>
          <a:off x="0" y="0"/>
          <a:ext cx="0" cy="0"/>
          <a:chOff x="0" y="0"/>
          <a:chExt cx="0" cy="0"/>
        </a:xfrm>
      </p:grpSpPr>
      <p:sp>
        <p:nvSpPr>
          <p:cNvPr id="2" name="AutoShape 2"/>
          <p:cNvSpPr/>
          <p:nvPr/>
        </p:nvSpPr>
        <p:spPr>
          <a:xfrm>
            <a:off x="0" y="2232025"/>
            <a:ext cx="12192000" cy="1778000"/>
          </a:xfrm>
          <a:prstGeom prst="roundRect">
            <a:avLst>
              <a:gd name="adj" fmla="val 0"/>
            </a:avLst>
          </a:prstGeom>
          <a:solidFill>
            <a:srgbClr val="00529B">
              <a:alpha val="100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508000" y="2486025"/>
            <a:ext cx="11176000"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a:solidFill>
                  <a:srgbClr val="FFFFFF"/>
                </a:solidFill>
                <a:latin typeface="Noto Sans SC" panose="020B0200000000000000" charset="-122"/>
                <a:ea typeface="Noto Sans SC" panose="020B0200000000000000" charset="-122"/>
                <a:cs typeface="Noto Sans SC" panose="020B0200000000000000" charset="-122"/>
                <a:sym typeface="+mn-ea"/>
              </a:rPr>
              <a:t>感 谢 各 位 老 师 指 导 ！</a:t>
            </a:r>
            <a:endParaRPr lang="en-US" sz="36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4" name="AutoShape 4"/>
          <p:cNvSpPr/>
          <p:nvPr/>
        </p:nvSpPr>
        <p:spPr>
          <a:xfrm>
            <a:off x="3904615" y="4481195"/>
            <a:ext cx="4382770" cy="1397000"/>
          </a:xfrm>
          <a:prstGeom prst="roundRect">
            <a:avLst>
              <a:gd name="adj" fmla="val 10909"/>
            </a:avLst>
          </a:prstGeom>
          <a:solidFill>
            <a:srgbClr val="FFFFFF">
              <a:alpha val="100000"/>
            </a:srgbClr>
          </a:solidFill>
          <a:ln w="12700" cap="flat" cmpd="sng">
            <a:solidFill>
              <a:srgbClr val="00529B">
                <a:alpha val="100000"/>
              </a:srgbClr>
            </a:solidFill>
            <a:prstDash val="solid"/>
            <a:round/>
          </a:ln>
        </p:spPr>
        <p:txBody>
          <a:bodyPr vert="horz" wrap="square" lIns="0" tIns="0" rIns="0" bIns="0" rtlCol="0" anchor="ctr" anchorCtr="0"/>
          <a:lstStyle/>
          <a:p>
            <a:pPr algn="ctr">
              <a:defRPr/>
            </a:pPr>
          </a:p>
        </p:txBody>
      </p:sp>
      <p:sp>
        <p:nvSpPr>
          <p:cNvPr id="5" name="AutoShape 5"/>
          <p:cNvSpPr/>
          <p:nvPr/>
        </p:nvSpPr>
        <p:spPr>
          <a:xfrm>
            <a:off x="4456430" y="4671695"/>
            <a:ext cx="3189605" cy="1016000"/>
          </a:xfrm>
          <a:prstGeom prst="rect">
            <a:avLst/>
          </a:prstGeom>
          <a:noFill/>
          <a:ln w="12700" cap="flat" cmpd="sng">
            <a:noFill/>
            <a:prstDash val="solid"/>
            <a:round/>
          </a:ln>
        </p:spPr>
        <p:txBody>
          <a:bodyPr vert="horz" wrap="square" lIns="0" tIns="0" rIns="0" bIns="0" rtlCol="0" anchor="ctr" anchorCtr="0"/>
          <a:lstStyle/>
          <a:p>
            <a:pPr algn="ctr">
              <a:lnSpc>
                <a:spcPct val="125000"/>
              </a:lnSpc>
              <a:buSzTx/>
              <a:defRPr/>
            </a:pPr>
            <a:r>
              <a:rPr lang="en-US" sz="1800">
                <a:solidFill>
                  <a:srgbClr val="00529B"/>
                </a:solidFill>
                <a:latin typeface="Noto Sans SC" panose="020B0200000000000000" charset="-122"/>
                <a:ea typeface="Noto Sans SC" panose="020B0200000000000000" charset="-122"/>
                <a:cs typeface="Noto Sans SC" panose="020B0200000000000000" charset="-122"/>
              </a:rPr>
              <a:t>汇报人：</a:t>
            </a:r>
            <a:r>
              <a:rPr lang="en-US" sz="1800" i="0" u="none" strike="noStrike">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朱梓潇  </a:t>
            </a:r>
            <a:r>
              <a:rPr lang="en-US" sz="1800" i="0" u="none" strike="noStrike">
                <a:solidFill>
                  <a:srgbClr val="00529B"/>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241934</a:t>
            </a:r>
            <a:endParaRPr lang="en-US" sz="1800" i="0" u="none" strike="noStrike">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algn="ctr">
              <a:lnSpc>
                <a:spcPct val="125000"/>
              </a:lnSpc>
              <a:buSzTx/>
              <a:defRPr/>
            </a:pPr>
            <a:r>
              <a:rPr lang="en-US" sz="180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导师：胡国华 教授</a:t>
            </a:r>
            <a:endParaRPr lang="en-US" sz="1800" b="0" i="0" u="none" strike="noStrike">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sz="180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日期：</a:t>
            </a:r>
            <a:r>
              <a:rPr lang="en-US" sz="1800">
                <a:solidFill>
                  <a:srgbClr val="00529B"/>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2026</a:t>
            </a:r>
            <a:r>
              <a:rPr lang="en-US" sz="180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年</a:t>
            </a:r>
            <a:r>
              <a:rPr lang="en-US" sz="1800">
                <a:solidFill>
                  <a:srgbClr val="00529B"/>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5</a:t>
            </a:r>
            <a:r>
              <a:rPr lang="en-US" sz="180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月</a:t>
            </a:r>
            <a:r>
              <a:rPr lang="en-US" sz="1800">
                <a:solidFill>
                  <a:srgbClr val="00529B"/>
                </a:solidFill>
                <a:latin typeface="Arial" panose="020B0604020202020204" pitchFamily="34" charset="0"/>
                <a:ea typeface="Noto Sans SC" panose="020B0200000000000000" charset="-122"/>
                <a:cs typeface="Arial" panose="020B0604020202020204" pitchFamily="34" charset="0"/>
                <a:sym typeface="Noto Sans SC" panose="020B0200000000000000" charset="-122"/>
              </a:rPr>
              <a:t>22</a:t>
            </a:r>
            <a:r>
              <a:rPr lang="en-US" sz="1800">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rPr>
              <a:t>日</a:t>
            </a:r>
            <a:endParaRPr lang="en-US" altLang="en-US" sz="1800" b="1" i="0" u="none" strike="noStrike">
              <a:solidFill>
                <a:srgbClr val="00529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图片 10"/>
          <p:cNvPicPr>
            <a:picLocks noChangeAspect="1"/>
          </p:cNvPicPr>
          <p:nvPr/>
        </p:nvPicPr>
        <p:blipFill>
          <a:blip r:embed="rId1" cstate="print"/>
          <a:stretch>
            <a:fillRect/>
          </a:stretch>
        </p:blipFill>
        <p:spPr>
          <a:xfrm>
            <a:off x="4359275" y="738505"/>
            <a:ext cx="3473450" cy="1104900"/>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520.75,&quot;left&quot;:28.7,&quot;top&quot;:0,&quot;width&quot;:911.45}"/>
</p:tagLst>
</file>

<file path=ppt/tags/tag2.xml><?xml version="1.0" encoding="utf-8"?>
<p:tagLst xmlns:p="http://schemas.openxmlformats.org/presentationml/2006/main">
  <p:tag name="KSO_WM_DIAGRAM_VIRTUALLY_FRAME" val="{&quot;height&quot;:520.75,&quot;left&quot;:28.7,&quot;top&quot;:0,&quot;width&quot;:911.45}"/>
</p:tagLst>
</file>

<file path=ppt/tags/tag3.xml><?xml version="1.0" encoding="utf-8"?>
<p:tagLst xmlns:p="http://schemas.openxmlformats.org/presentationml/2006/main">
  <p:tag name="KSO_WM_DIAGRAM_VIRTUALLY_FRAME" val="{&quot;height&quot;:520.75,&quot;left&quot;:28.7,&quot;top&quot;:0,&quot;width&quot;:911.45}"/>
</p:tagLst>
</file>

<file path=ppt/tags/tag4.xml><?xml version="1.0" encoding="utf-8"?>
<p:tagLst xmlns:p="http://schemas.openxmlformats.org/presentationml/2006/main">
  <p:tag name="KSO_WM_DIAGRAM_VIRTUALLY_FRAME" val="{&quot;height&quot;:520.75,&quot;left&quot;:28.7,&quot;top&quot;:0,&quot;width&quot;:911.45}"/>
</p:tagLst>
</file>

<file path=ppt/tags/tag5.xml><?xml version="1.0" encoding="utf-8"?>
<p:tagLst xmlns:p="http://schemas.openxmlformats.org/presentationml/2006/main">
  <p:tag name="KSO_WM_DIAGRAM_VIRTUALLY_FRAME" val="{&quot;height&quot;:520.75,&quot;left&quot;:28.7,&quot;top&quot;:0,&quot;width&quot;:911.45}"/>
</p:tagLst>
</file>

<file path=ppt/tags/tag6.xml><?xml version="1.0" encoding="utf-8"?>
<p:tagLst xmlns:p="http://schemas.openxmlformats.org/presentationml/2006/main">
  <p:tag name="KSO_WM_DIAGRAM_VIRTUALLY_FRAME" val="{&quot;height&quot;:520.75,&quot;left&quot;:28.7,&quot;top&quot;:0,&quot;width&quot;:911.45}"/>
</p:tagLst>
</file>

<file path=ppt/tags/tag7.xml><?xml version="1.0" encoding="utf-8"?>
<p:tagLst xmlns:p="http://schemas.openxmlformats.org/presentationml/2006/main">
  <p:tag name="KSO_WM_DIAGRAM_VIRTUALLY_FRAME" val="{&quot;height&quot;:520.75,&quot;left&quot;:28.7,&quot;top&quot;:0,&quot;width&quot;:911.45}"/>
</p:tagLst>
</file>

<file path=ppt/tags/tag8.xml><?xml version="1.0" encoding="utf-8"?>
<p:tagLst xmlns:p="http://schemas.openxmlformats.org/presentationml/2006/main">
  <p:tag name="KSO_WM_DIAGRAM_VIRTUALLY_FRAME" val="{&quot;height&quot;:520.75,&quot;left&quot;:28.7,&quot;top&quot;:0,&quot;width&quot;:911.45}"/>
</p:tagLst>
</file>

<file path=ppt/tags/tag9.xml><?xml version="1.0" encoding="utf-8"?>
<p:tagLst xmlns:p="http://schemas.openxmlformats.org/presentationml/2006/main">
  <p:tag name="KSO_WM_DIAGRAM_VIRTUALLY_FRAME" val="{&quot;height&quot;:520.75,&quot;left&quot;:28.7,&quot;top&quot;:0,&quot;width&quot;:911.45}"/>
</p:tagLst>
</file>

<file path=ppt/tags/tag10.xml><?xml version="1.0" encoding="utf-8"?>
<p:tagLst xmlns:p="http://schemas.openxmlformats.org/presentationml/2006/main">
  <p:tag name="TABLE_ENDDRAG_ORIGIN_RECT" val="912*418"/>
  <p:tag name="TABLE_ENDDRAG_RECT" val="10*105*912*418"/>
</p:tagLst>
</file>

<file path=ppt/tags/tag11.xml><?xml version="1.0" encoding="utf-8"?>
<p:tagLst xmlns:p="http://schemas.openxmlformats.org/presentationml/2006/main">
  <p:tag name="KSO_WM_DIAGRAM_VIRTUALLY_FRAME" val="{&quot;height&quot;:360,&quot;left&quot;:60,&quot;top&quot;:160,&quot;width&quot;:860}"/>
</p:tagLst>
</file>

<file path=ppt/tags/tag12.xml><?xml version="1.0" encoding="utf-8"?>
<p:tagLst xmlns:p="http://schemas.openxmlformats.org/presentationml/2006/main">
  <p:tag name="KSO_WM_DIAGRAM_VIRTUALLY_FRAME" val="{&quot;height&quot;:360,&quot;left&quot;:60,&quot;top&quot;:160,&quot;width&quot;:860}"/>
</p:tagLst>
</file>

<file path=ppt/tags/tag13.xml><?xml version="1.0" encoding="utf-8"?>
<p:tagLst xmlns:p="http://schemas.openxmlformats.org/presentationml/2006/main">
  <p:tag name="KSO_WM_DIAGRAM_VIRTUALLY_FRAME" val="{&quot;height&quot;:360,&quot;left&quot;:60,&quot;top&quot;:160,&quot;width&quot;:860}"/>
</p:tagLst>
</file>

<file path=ppt/tags/tag14.xml><?xml version="1.0" encoding="utf-8"?>
<p:tagLst xmlns:p="http://schemas.openxmlformats.org/presentationml/2006/main">
  <p:tag name="KSO_WM_DIAGRAM_VIRTUALLY_FRAME" val="{&quot;height&quot;:360,&quot;left&quot;:60,&quot;top&quot;:160,&quot;width&quot;:860}"/>
</p:tagLst>
</file>

<file path=ppt/tags/tag15.xml><?xml version="1.0" encoding="utf-8"?>
<p:tagLst xmlns:p="http://schemas.openxmlformats.org/presentationml/2006/main">
  <p:tag name="KSO_WM_DIAGRAM_VIRTUALLY_FRAME" val="{&quot;height&quot;:360,&quot;left&quot;:60,&quot;top&quot;:160,&quot;width&quot;:860}"/>
</p:tagLst>
</file>

<file path=ppt/tags/tag16.xml><?xml version="1.0" encoding="utf-8"?>
<p:tagLst xmlns:p="http://schemas.openxmlformats.org/presentationml/2006/main">
  <p:tag name="KSO_WM_DIAGRAM_VIRTUALLY_FRAME" val="{&quot;height&quot;:360,&quot;left&quot;:60,&quot;top&quot;:160,&quot;width&quot;:860}"/>
</p:tagLst>
</file>

<file path=ppt/tags/tag17.xml><?xml version="1.0" encoding="utf-8"?>
<p:tagLst xmlns:p="http://schemas.openxmlformats.org/presentationml/2006/main">
  <p:tag name="KSO_WM_DIAGRAM_VIRTUALLY_FRAME" val="{&quot;height&quot;:360,&quot;left&quot;:60,&quot;top&quot;:160,&quot;width&quot;:860}"/>
</p:tagLst>
</file>

<file path=ppt/tags/tag18.xml><?xml version="1.0" encoding="utf-8"?>
<p:tagLst xmlns:p="http://schemas.openxmlformats.org/presentationml/2006/main">
  <p:tag name="KSO_WM_DIAGRAM_VIRTUALLY_FRAME" val="{&quot;height&quot;:360,&quot;left&quot;:60,&quot;top&quot;:160,&quot;width&quot;:860}"/>
</p:tagLst>
</file>

<file path=ppt/tags/tag19.xml><?xml version="1.0" encoding="utf-8"?>
<p:tagLst xmlns:p="http://schemas.openxmlformats.org/presentationml/2006/main">
  <p:tag name="KSO_WM_DIAGRAM_VIRTUALLY_FRAME" val="{&quot;height&quot;:360,&quot;left&quot;:60,&quot;top&quot;:160,&quot;width&quot;:860}"/>
</p:tagLst>
</file>

<file path=ppt/tags/tag20.xml><?xml version="1.0" encoding="utf-8"?>
<p:tagLst xmlns:p="http://schemas.openxmlformats.org/presentationml/2006/main">
  <p:tag name="KSO_WM_DIAGRAM_VIRTUALLY_FRAME" val="{&quot;height&quot;:360,&quot;left&quot;:60,&quot;top&quot;:160,&quot;width&quot;:860}"/>
</p:tagLst>
</file>

<file path=ppt/tags/tag21.xml><?xml version="1.0" encoding="utf-8"?>
<p:tagLst xmlns:p="http://schemas.openxmlformats.org/presentationml/2006/main">
  <p:tag name="KSO_WM_DIAGRAM_VIRTUALLY_FRAME" val="{&quot;height&quot;:360,&quot;left&quot;:60,&quot;top&quot;:160,&quot;width&quot;:860}"/>
</p:tagLst>
</file>

<file path=ppt/tags/tag22.xml><?xml version="1.0" encoding="utf-8"?>
<p:tagLst xmlns:p="http://schemas.openxmlformats.org/presentationml/2006/main">
  <p:tag name="KSO_WM_DIAGRAM_VIRTUALLY_FRAME" val="{&quot;height&quot;:360,&quot;left&quot;:60,&quot;top&quot;:160,&quot;width&quot;:860}"/>
</p:tagLst>
</file>

<file path=ppt/tags/tag23.xml><?xml version="1.0" encoding="utf-8"?>
<p:tagLst xmlns:p="http://schemas.openxmlformats.org/presentationml/2006/main">
  <p:tag name="KSO_WM_DIAGRAM_VIRTUALLY_FRAME" val="{&quot;height&quot;:360,&quot;left&quot;:60,&quot;top&quot;:160,&quot;width&quot;:860}"/>
</p:tagLst>
</file>

<file path=ppt/tags/tag24.xml><?xml version="1.0" encoding="utf-8"?>
<p:tagLst xmlns:p="http://schemas.openxmlformats.org/presentationml/2006/main">
  <p:tag name="KSO_WM_DIAGRAM_VIRTUALLY_FRAME" val="{&quot;height&quot;:360,&quot;left&quot;:60,&quot;top&quot;:160,&quot;width&quot;:860}"/>
</p:tagLst>
</file>

<file path=ppt/tags/tag25.xml><?xml version="1.0" encoding="utf-8"?>
<p:tagLst xmlns:p="http://schemas.openxmlformats.org/presentationml/2006/main">
  <p:tag name="KSO_WM_DIAGRAM_VIRTUALLY_FRAME" val="{&quot;height&quot;:360,&quot;left&quot;:60,&quot;top&quot;:160,&quot;width&quot;:860}"/>
</p:tagLst>
</file>

<file path=ppt/tags/tag26.xml><?xml version="1.0" encoding="utf-8"?>
<p:tagLst xmlns:p="http://schemas.openxmlformats.org/presentationml/2006/main">
  <p:tag name="KSO_WM_DIAGRAM_VIRTUALLY_FRAME" val="{&quot;height&quot;:360,&quot;left&quot;:60,&quot;top&quot;:160,&quot;width&quot;:860}"/>
</p:tagLst>
</file>

<file path=ppt/tags/tag27.xml><?xml version="1.0" encoding="utf-8"?>
<p:tagLst xmlns:p="http://schemas.openxmlformats.org/presentationml/2006/main">
  <p:tag name="KSO_WM_DIAGRAM_VIRTUALLY_FRAME" val="{&quot;height&quot;:360,&quot;left&quot;:60,&quot;top&quot;:160,&quot;width&quot;:860}"/>
</p:tagLst>
</file>

<file path=ppt/tags/tag28.xml><?xml version="1.0" encoding="utf-8"?>
<p:tagLst xmlns:p="http://schemas.openxmlformats.org/presentationml/2006/main">
  <p:tag name="KSO_WM_DIAGRAM_VIRTUALLY_FRAME" val="{&quot;height&quot;:360,&quot;left&quot;:60,&quot;top&quot;:160,&quot;width&quot;:860}"/>
</p:tagLst>
</file>

<file path=ppt/tags/tag29.xml><?xml version="1.0" encoding="utf-8"?>
<p:tagLst xmlns:p="http://schemas.openxmlformats.org/presentationml/2006/main">
  <p:tag name="KSO_WM_DIAGRAM_VIRTUALLY_FRAME" val="{&quot;height&quot;:360,&quot;left&quot;:60,&quot;top&quot;:160,&quot;width&quot;:860}"/>
</p:tagLst>
</file>

<file path=ppt/tags/tag30.xml><?xml version="1.0" encoding="utf-8"?>
<p:tagLst xmlns:p="http://schemas.openxmlformats.org/presentationml/2006/main">
  <p:tag name="KSO_WM_DIAGRAM_VIRTUALLY_FRAME" val="{&quot;height&quot;:360,&quot;left&quot;:60,&quot;top&quot;:160,&quot;width&quot;:86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100000"/>
          </a:srgbClr>
        </a:solidFill>
        <a:ln w="12700" cap="flat" cmpd="sng">
          <a:solidFill>
            <a:srgbClr val="00529B">
              <a:alpha val="30000"/>
            </a:srgbClr>
          </a:solidFill>
          <a:prstDash val="solid"/>
          <a:round/>
        </a:ln>
        <a:effectLst>
          <a:outerShdw blurRad="444500" dist="190500" dir="2700000" algn="tl" rotWithShape="0">
            <a:srgbClr val="000000">
              <a:alpha val="25000"/>
            </a:srgbClr>
          </a:outerShdw>
        </a:effectLst>
      </a:spPr>
      <a:bodyPr vert="horz" wrap="square" lIns="0" tIns="0" rIns="0" bIns="0" rtlCol="0" anchor="ctr" anchorCtr="0"/>
      <a:lstStyle>
        <a:defPPr algn="ctr">
          <a:defRPr/>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3241</Words>
  <Application>WPS 演示</Application>
  <PresentationFormat>Widescreen</PresentationFormat>
  <Paragraphs>401</Paragraphs>
  <Slides>14</Slides>
  <Notes>9</Notes>
  <HiddenSlides>0</HiddenSlides>
  <MMClips>0</MMClips>
  <ScaleCrop>false</ScaleCrop>
  <HeadingPairs>
    <vt:vector size="6" baseType="variant">
      <vt:variant>
        <vt:lpstr>已用的字体</vt:lpstr>
      </vt:variant>
      <vt:variant>
        <vt:i4>8</vt:i4>
      </vt:variant>
      <vt:variant>
        <vt:lpstr>主题</vt:lpstr>
      </vt:variant>
      <vt:variant>
        <vt:i4>8</vt:i4>
      </vt:variant>
      <vt:variant>
        <vt:lpstr>幻灯片标题</vt:lpstr>
      </vt:variant>
      <vt:variant>
        <vt:i4>14</vt:i4>
      </vt:variant>
    </vt:vector>
  </HeadingPairs>
  <TitlesOfParts>
    <vt:vector size="30" baseType="lpstr">
      <vt:lpstr>Arial</vt:lpstr>
      <vt:lpstr>宋体</vt:lpstr>
      <vt:lpstr>Wingdings</vt:lpstr>
      <vt:lpstr>Arial</vt:lpstr>
      <vt:lpstr>Noto Sans SC</vt:lpstr>
      <vt:lpstr>微软雅黑</vt:lpstr>
      <vt:lpstr>Arial Unicode MS</vt:lpstr>
      <vt:lpstr>Times New Roman</vt:lpstr>
      <vt:lpstr>Office 主题​​</vt:lpstr>
      <vt:lpstr>默认主题</vt:lpstr>
      <vt:lpstr>1_默认主题</vt:lpstr>
      <vt:lpstr>2_默认主题</vt:lpstr>
      <vt:lpstr>3_默认主题</vt:lpstr>
      <vt:lpstr>4_默认主题</vt:lpstr>
      <vt:lpstr>5_默认主题</vt:lpstr>
      <vt:lpstr>6_默认主题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朱梓潇</cp:lastModifiedBy>
  <cp:revision>4</cp:revision>
  <dcterms:created xsi:type="dcterms:W3CDTF">2026-05-18T10:21:16Z</dcterms:created>
  <dcterms:modified xsi:type="dcterms:W3CDTF">2026-05-18T14:52:59Z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012D055145004B2AB58B51360B5126EE_12</vt:lpwstr>
  </property>
  <property fmtid="{D5CDD505-2E9C-101B-9397-08002B2CF9AE}" pid="3" name="KSOProductBuildVer">
    <vt:lpwstr>2052-12.1.0.23542</vt:lpwstr>
  </property>
</Properties>
</file>