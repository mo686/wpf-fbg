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6"/>
  </p:notesMasterIdLst>
  <p:sldIdLst>
    <p:sldId id="307" r:id="rId4"/>
    <p:sldId id="386" r:id="rId5"/>
    <p:sldId id="393" r:id="rId7"/>
    <p:sldId id="387" r:id="rId8"/>
    <p:sldId id="389" r:id="rId9"/>
    <p:sldId id="391" r:id="rId10"/>
    <p:sldId id="388" r:id="rId11"/>
    <p:sldId id="392" r:id="rId12"/>
    <p:sldId id="394" r:id="rId13"/>
    <p:sldId id="396" r:id="rId14"/>
    <p:sldId id="395" r:id="rId15"/>
  </p:sldIdLst>
  <p:sldSz cx="18288000" cy="10287000"/>
  <p:notesSz cx="6858000" cy="9144000"/>
  <p:embeddedFontLst>
    <p:embeddedFont>
      <p:font typeface="微软雅黑" panose="020B0503020204020204" pitchFamily="34" charset="-122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  <p:embeddedFont>
      <p:font typeface="等线" panose="02010600030101010101" charset="-122"/>
      <p:regular r:id="rId24"/>
    </p:embeddedFont>
  </p:embeddedFontLst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003985"/>
    <a:srgbClr val="FCD301"/>
    <a:srgbClr val="003C87"/>
    <a:srgbClr val="FAD1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7884" autoAdjust="0"/>
  </p:normalViewPr>
  <p:slideViewPr>
    <p:cSldViewPr showGuides="1">
      <p:cViewPr varScale="1">
        <p:scale>
          <a:sx n="43" d="100"/>
          <a:sy n="43" d="100"/>
        </p:scale>
        <p:origin x="477" y="54"/>
      </p:cViewPr>
      <p:guideLst>
        <p:guide orient="horz" pos="2265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4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1836C-1561-4E57-9F0E-30E34CB69C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58821-F9C8-4010-951C-784E7E0514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7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603" y="585652"/>
            <a:ext cx="18288000" cy="8475523"/>
            <a:chOff x="0" y="0"/>
            <a:chExt cx="24384000" cy="11300696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1">
              <a:alphaModFix amt="25000"/>
            </a:blip>
            <a:srcRect t="60877"/>
            <a:stretch>
              <a:fillRect/>
            </a:stretch>
          </p:blipFill>
          <p:spPr>
            <a:xfrm>
              <a:off x="0" y="9774370"/>
              <a:ext cx="24384000" cy="1526326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1">
              <a:alphaModFix amt="9999"/>
            </a:blip>
            <a:srcRect t="60877"/>
            <a:stretch>
              <a:fillRect/>
            </a:stretch>
          </p:blipFill>
          <p:spPr>
            <a:xfrm rot="-10800000">
              <a:off x="0" y="0"/>
              <a:ext cx="24384000" cy="1526326"/>
            </a:xfrm>
            <a:prstGeom prst="rect">
              <a:avLst/>
            </a:prstGeom>
          </p:spPr>
        </p:pic>
      </p:grpSp>
      <p:pic>
        <p:nvPicPr>
          <p:cNvPr id="23" name="图片 22" descr="封面"/>
          <p:cNvPicPr>
            <a:picLocks noChangeAspect="1"/>
          </p:cNvPicPr>
          <p:nvPr/>
        </p:nvPicPr>
        <p:blipFill>
          <a:blip r:embed="rId2"/>
          <a:srcRect l="8826" t="44930" r="23588" b="-216"/>
          <a:stretch>
            <a:fillRect/>
          </a:stretch>
        </p:blipFill>
        <p:spPr>
          <a:xfrm>
            <a:off x="5549900" y="2418080"/>
            <a:ext cx="12738100" cy="5857875"/>
          </a:xfrm>
          <a:prstGeom prst="rect">
            <a:avLst/>
          </a:prstGeom>
        </p:spPr>
      </p:pic>
      <p:sp>
        <p:nvSpPr>
          <p:cNvPr id="13" name="AutoShape 3"/>
          <p:cNvSpPr/>
          <p:nvPr/>
        </p:nvSpPr>
        <p:spPr>
          <a:xfrm>
            <a:off x="186" y="2400140"/>
            <a:ext cx="18288000" cy="5852659"/>
          </a:xfrm>
          <a:prstGeom prst="rect">
            <a:avLst/>
          </a:prstGeom>
          <a:gradFill flip="none" rotWithShape="1">
            <a:gsLst>
              <a:gs pos="5000">
                <a:schemeClr val="accent1">
                  <a:lumMod val="5000"/>
                  <a:lumOff val="95000"/>
                  <a:alpha val="0"/>
                </a:schemeClr>
              </a:gs>
              <a:gs pos="95000">
                <a:srgbClr val="003C87"/>
              </a:gs>
              <a:gs pos="42000">
                <a:schemeClr val="accent2">
                  <a:lumMod val="60000"/>
                  <a:lumOff val="40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96000">
                <a:schemeClr val="accent3"/>
              </a:gs>
            </a:gsLst>
            <a:lin ang="10800000" scaled="1"/>
            <a:tileRect/>
          </a:gra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1447800" y="4185285"/>
            <a:ext cx="10338435" cy="12757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zh-CN" altLang="en-US" sz="8000" b="1" spc="600" dirty="0">
                <a:solidFill>
                  <a:schemeClr val="bg1"/>
                </a:solidFill>
                <a:cs typeface="+mn-ea"/>
                <a:sym typeface="+mn-lt"/>
              </a:rPr>
              <a:t>组会汇报</a:t>
            </a:r>
            <a:endParaRPr lang="en-US" altLang="zh-CN" sz="8000" b="1" spc="6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zh-CN" altLang="en-US" sz="3600" b="1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2800" y="6591300"/>
            <a:ext cx="66357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日期： 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2026.3.11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 descr="u=2878896961,2728261761&amp;fm=253&amp;fmt=auto&amp;app=138&amp;f=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15" y="199390"/>
            <a:ext cx="2262505" cy="2187575"/>
          </a:xfrm>
          <a:prstGeom prst="rect">
            <a:avLst/>
          </a:prstGeom>
        </p:spPr>
      </p:pic>
      <p:pic>
        <p:nvPicPr>
          <p:cNvPr id="22" name="图片 21" descr="/Users/yuziyu/Library/Containers/com.kingsoft.wpsoffice.mac/Data/tmp/photoeditapp/20240424200053/temp.pngtem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30" y="73660"/>
            <a:ext cx="2570480" cy="257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595245" y="1747520"/>
            <a:ext cx="14664055" cy="635"/>
          </a:xfrm>
          <a:prstGeom prst="line">
            <a:avLst/>
          </a:prstGeom>
          <a:ln w="19050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15"/>
          <p:cNvSpPr txBox="1"/>
          <p:nvPr/>
        </p:nvSpPr>
        <p:spPr>
          <a:xfrm>
            <a:off x="3048000" y="800100"/>
            <a:ext cx="10720070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zh-CN" altLang="en-US" sz="4400" b="1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zh-CN" altLang="en-US" sz="4400" b="1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2400" y="220345"/>
            <a:ext cx="1682750" cy="1626870"/>
            <a:chOff x="6560" y="-1567"/>
            <a:chExt cx="5438" cy="5258"/>
          </a:xfrm>
        </p:grpSpPr>
        <p:sp>
          <p:nvSpPr>
            <p:cNvPr id="12" name="Freeform 13"/>
            <p:cNvSpPr/>
            <p:nvPr>
              <p:custDataLst>
                <p:tags r:id="rId2"/>
              </p:custDataLst>
            </p:nvPr>
          </p:nvSpPr>
          <p:spPr>
            <a:xfrm>
              <a:off x="6607" y="-1489"/>
              <a:ext cx="5345" cy="5102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zh-CN" altLang="en-US" dirty="0"/>
            </a:p>
          </p:txBody>
        </p:sp>
        <p:pic>
          <p:nvPicPr>
            <p:cNvPr id="49" name="图片 48" descr="u=2878896961,2728261761&amp;fm=253&amp;fmt=auto&amp;app=138&amp;f=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0" y="-1567"/>
              <a:ext cx="5439" cy="5259"/>
            </a:xfrm>
            <a:prstGeom prst="rect">
              <a:avLst/>
            </a:prstGeom>
          </p:spPr>
        </p:pic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554200" y="600075"/>
            <a:ext cx="2736215" cy="869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847215"/>
            <a:ext cx="11579225" cy="8336280"/>
          </a:xfrm>
          <a:prstGeom prst="rect">
            <a:avLst/>
          </a:prstGeom>
        </p:spPr>
      </p:pic>
      <p:pic>
        <p:nvPicPr>
          <p:cNvPr id="19" name="图片 18" descr="Graph1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53800" y="3162300"/>
            <a:ext cx="8388350" cy="6421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8600" y="8877300"/>
            <a:ext cx="17747615" cy="11195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最开始直接用微环的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drop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端和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through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端来产生效果，微环的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drop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端也可以产生通带，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through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端却产生的效果不是很稳定，有时是通带，有时是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阻带。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MM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4295775"/>
            <a:ext cx="6646545" cy="4488815"/>
          </a:xfrm>
          <a:prstGeom prst="rect">
            <a:avLst/>
          </a:prstGeom>
        </p:spPr>
      </p:pic>
      <p:pic>
        <p:nvPicPr>
          <p:cNvPr id="5" name="图片 4" descr="微环S21参数图_四个文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500"/>
            <a:ext cx="5478780" cy="3959225"/>
          </a:xfrm>
          <a:prstGeom prst="rect">
            <a:avLst/>
          </a:prstGeom>
        </p:spPr>
      </p:pic>
      <p:pic>
        <p:nvPicPr>
          <p:cNvPr id="6" name="图片 5" descr="微环S21参数图_四个文件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0" y="316865"/>
            <a:ext cx="5146675" cy="3719195"/>
          </a:xfrm>
          <a:prstGeom prst="rect">
            <a:avLst/>
          </a:prstGeom>
        </p:spPr>
      </p:pic>
      <p:pic>
        <p:nvPicPr>
          <p:cNvPr id="7" name="图片 6" descr="mrr_drop_S21_参数图_对齐频率_4文件_2026-01-13_09-26-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16865"/>
            <a:ext cx="5657215" cy="3959860"/>
          </a:xfrm>
          <a:prstGeom prst="rect">
            <a:avLst/>
          </a:prstGeom>
        </p:spPr>
      </p:pic>
      <p:pic>
        <p:nvPicPr>
          <p:cNvPr id="10" name="图片 9" descr="mrr_through_S21_参数图_按边带分组_9文件_2026-01-18_21-19-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4276725"/>
            <a:ext cx="6670040" cy="4446270"/>
          </a:xfrm>
          <a:prstGeom prst="rect">
            <a:avLst/>
          </a:prstGeom>
        </p:spPr>
      </p:pic>
      <p:pic>
        <p:nvPicPr>
          <p:cNvPr id="11" name="图片 10" descr="mrr_drop_S21_参数图_对齐频率_6文件_2026-01-18_21-22-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035" y="266700"/>
            <a:ext cx="6817995" cy="4772025"/>
          </a:xfrm>
          <a:prstGeom prst="rect">
            <a:avLst/>
          </a:prstGeom>
        </p:spPr>
      </p:pic>
      <p:pic>
        <p:nvPicPr>
          <p:cNvPr id="12" name="图片 11" descr="mrr_through_S21_参数图_对齐频率_9文件_2026-01-18_21-20-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6035" y="190500"/>
            <a:ext cx="6906895" cy="4834890"/>
          </a:xfrm>
          <a:prstGeom prst="rect">
            <a:avLst/>
          </a:prstGeom>
        </p:spPr>
      </p:pic>
      <p:pic>
        <p:nvPicPr>
          <p:cNvPr id="13" name="图片 12" descr="mrr_drop_S21_参数图_对齐频率_6文件_2026-01-19_20-16-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835" y="4915535"/>
            <a:ext cx="6609715" cy="4625975"/>
          </a:xfrm>
          <a:prstGeom prst="rect">
            <a:avLst/>
          </a:prstGeom>
        </p:spPr>
      </p:pic>
      <p:pic>
        <p:nvPicPr>
          <p:cNvPr id="14" name="图片 13" descr="mrr_through_S21_参数图_对齐频率_6文件_2026-01-19_20-17-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3510" y="4789170"/>
            <a:ext cx="6789420" cy="4752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5"/>
          <p:cNvSpPr txBox="1"/>
          <p:nvPr/>
        </p:nvSpPr>
        <p:spPr>
          <a:xfrm>
            <a:off x="3048000" y="800100"/>
            <a:ext cx="10720070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zh-CN" altLang="en-US" sz="4400" b="1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zh-CN" altLang="en-US" sz="4400" b="1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MRR_F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66700"/>
            <a:ext cx="15043150" cy="85610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8600" y="8877300"/>
            <a:ext cx="17747615" cy="11195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测量了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与微环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drop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端的光谱图，发现当微环谐振峰靠近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中心波长处时，损耗较小，可以用来产生通带。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</a:pPr>
            <a:endParaRPr lang="en-US" altLang="zh-CN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PM_MRR_FBG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50850"/>
            <a:ext cx="6324600" cy="3712210"/>
          </a:xfrm>
          <a:prstGeom prst="rect">
            <a:avLst/>
          </a:prstGeom>
        </p:spPr>
      </p:pic>
      <p:pic>
        <p:nvPicPr>
          <p:cNvPr id="22" name="图片 21" descr="mrr_drop_S21_参数图_对齐频率_4文件_2026-01-17_15-51-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206375"/>
            <a:ext cx="6269355" cy="4389120"/>
          </a:xfrm>
          <a:prstGeom prst="rect">
            <a:avLst/>
          </a:prstGeom>
        </p:spPr>
      </p:pic>
      <p:pic>
        <p:nvPicPr>
          <p:cNvPr id="21" name="图片 20" descr="mrr_drop_S21_参数图_对齐频率_4文件_2026-01-17_15-53-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0" y="130175"/>
            <a:ext cx="6210935" cy="4347210"/>
          </a:xfrm>
          <a:prstGeom prst="rect">
            <a:avLst/>
          </a:prstGeom>
        </p:spPr>
      </p:pic>
      <p:pic>
        <p:nvPicPr>
          <p:cNvPr id="20" name="图片 19" descr="mrr_drop_S21_参数图_对齐频率_4文件_2026-01-17_15-53-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321175"/>
            <a:ext cx="6118860" cy="4283075"/>
          </a:xfrm>
          <a:prstGeom prst="rect">
            <a:avLst/>
          </a:prstGeom>
        </p:spPr>
      </p:pic>
      <p:pic>
        <p:nvPicPr>
          <p:cNvPr id="19" name="图片 18" descr="mrr_drop_S21_参数图_对齐频率_4文件_2026-01-17_15-53-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590" y="4411980"/>
            <a:ext cx="6044565" cy="4231640"/>
          </a:xfrm>
          <a:prstGeom prst="rect">
            <a:avLst/>
          </a:prstGeom>
        </p:spPr>
      </p:pic>
      <p:pic>
        <p:nvPicPr>
          <p:cNvPr id="3" name="图片 2" descr="mrr_drop_S21_参数图_对齐频率_14文件_2026-01-17_15-54-0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0565" y="4380865"/>
            <a:ext cx="6082030" cy="4257040"/>
          </a:xfrm>
          <a:prstGeom prst="rect">
            <a:avLst/>
          </a:prstGeom>
        </p:spPr>
      </p:pic>
      <p:pic>
        <p:nvPicPr>
          <p:cNvPr id="8" name="图片 7" descr="mrr_drop_S21_参数图_对齐频率_9文件_2026-01-17_15-54-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90500"/>
            <a:ext cx="7463790" cy="5225415"/>
          </a:xfrm>
          <a:prstGeom prst="rect">
            <a:avLst/>
          </a:prstGeom>
        </p:spPr>
      </p:pic>
      <p:pic>
        <p:nvPicPr>
          <p:cNvPr id="7" name="图片 6" descr="mrr_drop_S21_参数图_对齐频率_10文件_2026-01-17_15-54-5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7400" y="190500"/>
            <a:ext cx="7291705" cy="5104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8600" y="8648700"/>
            <a:ext cx="17747615" cy="15195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0.4-0.7V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，激光的光功率只用了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-10dbm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，微环谐振峰作用于下边带时观察到现象的频率范围更大；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0.75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0.8V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，发现现象也不明显，后改为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10dbm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，上下边带较为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对称；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0.85-1.2V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微环谐振峰作用于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上边带时观察到现象的频率范围更大。</a:t>
            </a:r>
            <a:endParaRPr lang="en-US" altLang="zh-CN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441285" y="853821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" name="图片 3" descr="mrr_drop_S21_参数图_对齐频率_11文件_2026-01-17_15-55-0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6975" y="5295900"/>
            <a:ext cx="6921500" cy="4846955"/>
          </a:xfrm>
          <a:prstGeom prst="rect">
            <a:avLst/>
          </a:prstGeom>
        </p:spPr>
      </p:pic>
      <p:pic>
        <p:nvPicPr>
          <p:cNvPr id="18" name="图片 17" descr="mrr_drop_S21_参数图_对齐频率_7文件_2026-01-17_15-55-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9800" y="5219700"/>
            <a:ext cx="7068820" cy="4949190"/>
          </a:xfrm>
          <a:prstGeom prst="rect">
            <a:avLst/>
          </a:prstGeom>
        </p:spPr>
      </p:pic>
      <p:pic>
        <p:nvPicPr>
          <p:cNvPr id="17" name="图片 16" descr="mrr_drop_S21_参数图_对齐频率_7文件_2026-01-17_15-56-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218440"/>
            <a:ext cx="7425690" cy="5197475"/>
          </a:xfrm>
          <a:prstGeom prst="rect">
            <a:avLst/>
          </a:prstGeom>
        </p:spPr>
      </p:pic>
      <p:pic>
        <p:nvPicPr>
          <p:cNvPr id="13" name="图片 12" descr="mrr_drop_S21_参数图_对齐频率_7文件_2026-01-17_15-57-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5295265"/>
            <a:ext cx="6962775" cy="4873625"/>
          </a:xfrm>
          <a:prstGeom prst="rect">
            <a:avLst/>
          </a:prstGeom>
        </p:spPr>
      </p:pic>
      <p:pic>
        <p:nvPicPr>
          <p:cNvPr id="15" name="图片 14" descr="mrr_drop_S21_参数图_对齐频率_7文件_2026-01-17_15-56-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6400" y="206375"/>
            <a:ext cx="7465695" cy="5226050"/>
          </a:xfrm>
          <a:prstGeom prst="rect">
            <a:avLst/>
          </a:prstGeom>
        </p:spPr>
      </p:pic>
      <p:pic>
        <p:nvPicPr>
          <p:cNvPr id="11" name="图片 10" descr="mrr_drop_S21_参数图_对齐频率_7文件_2026-01-17_15-57-5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5219700"/>
            <a:ext cx="6951345" cy="4865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551.675n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114300"/>
            <a:ext cx="8538845" cy="5246370"/>
          </a:xfrm>
          <a:prstGeom prst="rect">
            <a:avLst/>
          </a:prstGeom>
        </p:spPr>
      </p:pic>
      <p:pic>
        <p:nvPicPr>
          <p:cNvPr id="5" name="图片 4" descr="1551.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100"/>
            <a:ext cx="8829675" cy="5386070"/>
          </a:xfrm>
          <a:prstGeom prst="rect">
            <a:avLst/>
          </a:prstGeom>
        </p:spPr>
      </p:pic>
      <p:pic>
        <p:nvPicPr>
          <p:cNvPr id="7" name="图片 6" descr="1551.7n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95900"/>
            <a:ext cx="8102600" cy="49752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247505" y="5524500"/>
            <a:ext cx="8963025" cy="44640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固定载波的波长，调整微环电压大小来改变谐振峰的位置，最初发现，靠近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中心波长处的微环谐振峰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(0.875V)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，产生的通道峰值更高；后改变载波固定的波长，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发现该现象不能作为判断的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依据。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实验时，测量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S21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参数，高频不稳定，容易跳变；所以测量范围最大到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25GHz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左右。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1551.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38100"/>
            <a:ext cx="8144510" cy="4968240"/>
          </a:xfrm>
          <a:prstGeom prst="rect">
            <a:avLst/>
          </a:prstGeom>
        </p:spPr>
      </p:pic>
      <p:pic>
        <p:nvPicPr>
          <p:cNvPr id="3" name="图片 2" descr="1551.7n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" y="4907280"/>
            <a:ext cx="8549640" cy="5250180"/>
          </a:xfrm>
          <a:prstGeom prst="rect">
            <a:avLst/>
          </a:prstGeom>
        </p:spPr>
      </p:pic>
      <p:pic>
        <p:nvPicPr>
          <p:cNvPr id="23" name="图片 22" descr="MRR_FBG_S21_参数图_15文件_2026-01-18_21-26-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835" y="4533900"/>
            <a:ext cx="8034655" cy="562356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4267835" y="6576695"/>
            <a:ext cx="427355" cy="3062605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2954635" y="6210300"/>
            <a:ext cx="381635" cy="3276600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153400" y="6604635"/>
            <a:ext cx="1393825" cy="374015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924800" y="4012565"/>
            <a:ext cx="1393825" cy="240665"/>
          </a:xfrm>
          <a:prstGeom prst="rect">
            <a:avLst/>
          </a:prstGeom>
          <a:noFill/>
          <a:ln w="63500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715635" y="2019300"/>
            <a:ext cx="495300" cy="1620520"/>
          </a:xfrm>
          <a:prstGeom prst="rect">
            <a:avLst/>
          </a:prstGeom>
          <a:noFill/>
          <a:ln w="63500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4097635" y="7866380"/>
            <a:ext cx="334010" cy="1620520"/>
          </a:xfrm>
          <a:prstGeom prst="rect">
            <a:avLst/>
          </a:prstGeom>
          <a:noFill/>
          <a:ln w="63500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1551.675n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550" y="114300"/>
            <a:ext cx="7694930" cy="4728210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16002000" y="2781300"/>
            <a:ext cx="1393825" cy="328930"/>
          </a:xfrm>
          <a:prstGeom prst="rect">
            <a:avLst/>
          </a:prstGeom>
          <a:noFill/>
          <a:ln w="635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2743180" y="1028700"/>
            <a:ext cx="349885" cy="2378710"/>
          </a:xfrm>
          <a:prstGeom prst="rect">
            <a:avLst/>
          </a:prstGeom>
          <a:noFill/>
          <a:ln w="635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3563600" y="6918325"/>
            <a:ext cx="349885" cy="2559685"/>
          </a:xfrm>
          <a:prstGeom prst="rect">
            <a:avLst/>
          </a:prstGeom>
          <a:noFill/>
          <a:ln w="635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456815" y="571500"/>
            <a:ext cx="14641195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目前想到的方法：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首先给在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中心波长处的微环谐振峰进行定标，即固定谐振峰的电压（波长），改变激光器的波长，得到在不同频率处的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S21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当温度改变，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波长变化，改变微环电压，观察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S21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在当前频率处是否与定标得到的峰值一致，若一致则使得微环谐振峰再一次处于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中心波长；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最后可以求出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Δf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，得到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Δλ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，推出的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ΔT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8420100"/>
            <a:ext cx="17747615" cy="11893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随着温度从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20.0</a:t>
            </a:r>
            <a:r>
              <a:rPr lang="en-US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升高到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50.0</a:t>
            </a:r>
            <a:r>
              <a:rPr lang="en-US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的反射峰的中心波长从约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1551.81 nm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1552.08 nm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移动，呈现明显的红移。从拟合斜率可知，该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FBG 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的温度灵敏度约为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9.08 pm/</a:t>
            </a:r>
            <a:r>
              <a:rPr lang="en-US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endParaRPr lang="en-US" altLang="zh-CN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F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28700"/>
            <a:ext cx="8784590" cy="6804660"/>
          </a:xfrm>
          <a:prstGeom prst="rect">
            <a:avLst/>
          </a:prstGeom>
        </p:spPr>
      </p:pic>
      <p:pic>
        <p:nvPicPr>
          <p:cNvPr id="5" name="图片 4" descr="FBG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190" y="1104900"/>
            <a:ext cx="9157335" cy="6481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8191500"/>
            <a:ext cx="17747615" cy="19881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先对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中心波长处的微环谐振峰进行定标，然后将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温度从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提高到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，温度稳定后，固定激光器波长为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1551.8nm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，提高微环电压，得到右图不同电压下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S21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参数图，与定标所得图像进行比对，发现大致在电压为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1.02V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时与定标图像一致，频率在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7GHz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左右，得到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波长移动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56pm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，根据之前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温度对波长的影响，最后得到温度为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26.16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r>
              <a:rPr lang="en-US" altLang="zh-CN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8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8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900"/>
            <a:ext cx="10356850" cy="7395210"/>
          </a:xfrm>
          <a:prstGeom prst="rect">
            <a:avLst/>
          </a:prstGeom>
        </p:spPr>
      </p:pic>
      <p:pic>
        <p:nvPicPr>
          <p:cNvPr id="6" name="图片 5" descr="FBG-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600" y="1790700"/>
            <a:ext cx="7790815" cy="627888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209800" y="1638300"/>
            <a:ext cx="427355" cy="3062605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4735175" y="3695700"/>
            <a:ext cx="626745" cy="3062605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1524000" y="876300"/>
            <a:ext cx="1755140" cy="9963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定标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901565" y="342900"/>
            <a:ext cx="12376150" cy="21539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固定微环电压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V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（使谐振峰对准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FBG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中心波长）；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改变激光器波长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λ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=λ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+Δλ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k=1,…,M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），记录每条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定标曲线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(f)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对每条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定标曲线，精确提取其峰值频率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peak,k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建立映射表：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Δλ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en-US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↔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peak,k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，以及存储完整的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定标曲线数据。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524000" y="3238500"/>
            <a:ext cx="1755140" cy="9963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测量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00930" y="3009900"/>
            <a:ext cx="12376150" cy="12973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固定激光器波长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λ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扫描微环电压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V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j=1,…,N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记录每条实测曲线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M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(f)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524000" y="5829300"/>
            <a:ext cx="1755140" cy="9963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匹配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74260" y="4657090"/>
            <a:ext cx="12403455" cy="3769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对每条实测曲线，提取其峰值频率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peak,j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根据峰值频率筛选候选定标曲线，计算峰值频率与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peak,k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的差值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δf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jk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=∣f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peak,j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−​f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peak,k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∣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；选择差值最小的一个或若干个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曲线作为候选定标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曲线；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对每个候选定标曲线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，与实测曲线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，计算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归一化互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相关系数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ρ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jk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；记录该电压下的最大相关系数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ρ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j,max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在所有电压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中，找出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ρ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j,max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最大的那个电压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altLang="zh-CN" sz="2400" spc="350" baseline="30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∗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，该电压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下的实测曲线即为最佳匹配曲线。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524000" y="8690610"/>
            <a:ext cx="1755140" cy="9963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00295" y="9029700"/>
            <a:ext cx="12377420" cy="6572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最佳匹配曲线得到其峰值频率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f</a:t>
            </a:r>
            <a:r>
              <a:rPr lang="en-US" altLang="zh-CN" sz="2400" spc="350" baseline="-25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peak,k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，得到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Δλ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，推出的当前温度</a:t>
            </a:r>
            <a:r>
              <a:rPr lang="en-US" altLang="zh-CN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2400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27" name="直接箭头连接符 26"/>
          <p:cNvCxnSpPr>
            <a:stCxn id="15" idx="2"/>
            <a:endCxn id="16" idx="0"/>
          </p:cNvCxnSpPr>
          <p:nvPr/>
        </p:nvCxnSpPr>
        <p:spPr>
          <a:xfrm>
            <a:off x="2401570" y="1872615"/>
            <a:ext cx="0" cy="1365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6" idx="2"/>
            <a:endCxn id="18" idx="0"/>
          </p:cNvCxnSpPr>
          <p:nvPr/>
        </p:nvCxnSpPr>
        <p:spPr>
          <a:xfrm>
            <a:off x="2401570" y="4234815"/>
            <a:ext cx="0" cy="1594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8" idx="2"/>
            <a:endCxn id="24" idx="0"/>
          </p:cNvCxnSpPr>
          <p:nvPr/>
        </p:nvCxnSpPr>
        <p:spPr>
          <a:xfrm>
            <a:off x="2401570" y="6825615"/>
            <a:ext cx="0" cy="18649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  <p:bldP spid="17" grpId="0" bldLvl="0" animBg="1"/>
      <p:bldP spid="22" grpId="0" bldLvl="0" animBg="1"/>
      <p:bldP spid="2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/>
          <p:cNvSpPr/>
          <p:nvPr/>
        </p:nvSpPr>
        <p:spPr>
          <a:xfrm>
            <a:off x="11041181" y="2534537"/>
            <a:ext cx="7096111" cy="1062499"/>
          </a:xfrm>
          <a:custGeom>
            <a:avLst/>
            <a:gdLst>
              <a:gd name="connsiteX0" fmla="*/ 0 w 7096111"/>
              <a:gd name="connsiteY0" fmla="*/ 0 h 1062499"/>
              <a:gd name="connsiteX1" fmla="*/ 7096111 w 7096111"/>
              <a:gd name="connsiteY1" fmla="*/ 0 h 1062499"/>
              <a:gd name="connsiteX2" fmla="*/ 7096111 w 7096111"/>
              <a:gd name="connsiteY2" fmla="*/ 1062499 h 1062499"/>
              <a:gd name="connsiteX3" fmla="*/ 0 w 7096111"/>
              <a:gd name="connsiteY3" fmla="*/ 1062499 h 1062499"/>
              <a:gd name="connsiteX4" fmla="*/ 0 w 7096111"/>
              <a:gd name="connsiteY4" fmla="*/ 0 h 106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96111" h="1062499">
                <a:moveTo>
                  <a:pt x="0" y="0"/>
                </a:moveTo>
                <a:lnTo>
                  <a:pt x="7096111" y="0"/>
                </a:lnTo>
                <a:lnTo>
                  <a:pt x="7096111" y="1062499"/>
                </a:lnTo>
                <a:lnTo>
                  <a:pt x="0" y="106249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2000" kern="1200" dirty="0"/>
          </a:p>
        </p:txBody>
      </p:sp>
      <p:sp>
        <p:nvSpPr>
          <p:cNvPr id="34" name="任意多边形: 形状 33"/>
          <p:cNvSpPr/>
          <p:nvPr/>
        </p:nvSpPr>
        <p:spPr>
          <a:xfrm>
            <a:off x="12151946" y="2534537"/>
            <a:ext cx="5985346" cy="1062499"/>
          </a:xfrm>
          <a:custGeom>
            <a:avLst/>
            <a:gdLst>
              <a:gd name="connsiteX0" fmla="*/ 0 w 5985346"/>
              <a:gd name="connsiteY0" fmla="*/ 0 h 1062499"/>
              <a:gd name="connsiteX1" fmla="*/ 5985346 w 5985346"/>
              <a:gd name="connsiteY1" fmla="*/ 0 h 1062499"/>
              <a:gd name="connsiteX2" fmla="*/ 5985346 w 5985346"/>
              <a:gd name="connsiteY2" fmla="*/ 1062499 h 1062499"/>
              <a:gd name="connsiteX3" fmla="*/ 0 w 5985346"/>
              <a:gd name="connsiteY3" fmla="*/ 1062499 h 1062499"/>
              <a:gd name="connsiteX4" fmla="*/ 0 w 5985346"/>
              <a:gd name="connsiteY4" fmla="*/ 0 h 106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5346" h="1062499">
                <a:moveTo>
                  <a:pt x="0" y="0"/>
                </a:moveTo>
                <a:lnTo>
                  <a:pt x="5985346" y="0"/>
                </a:lnTo>
                <a:lnTo>
                  <a:pt x="5985346" y="1062499"/>
                </a:lnTo>
                <a:lnTo>
                  <a:pt x="0" y="106249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2000" kern="1200" dirty="0"/>
          </a:p>
        </p:txBody>
      </p:sp>
      <p:sp>
        <p:nvSpPr>
          <p:cNvPr id="14" name="AutoShape 14"/>
          <p:cNvSpPr/>
          <p:nvPr/>
        </p:nvSpPr>
        <p:spPr>
          <a:xfrm>
            <a:off x="2595245" y="1747520"/>
            <a:ext cx="14664055" cy="635"/>
          </a:xfrm>
          <a:prstGeom prst="line">
            <a:avLst/>
          </a:prstGeom>
          <a:ln w="19050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15"/>
          <p:cNvSpPr txBox="1"/>
          <p:nvPr/>
        </p:nvSpPr>
        <p:spPr>
          <a:xfrm>
            <a:off x="3048000" y="800100"/>
            <a:ext cx="10720070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zh-CN" altLang="en-US" sz="4400" b="1" spc="35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学期计划</a:t>
            </a:r>
            <a:endParaRPr lang="zh-CN" altLang="en-US" sz="4400" b="1" spc="3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2400" y="220345"/>
            <a:ext cx="1682750" cy="1626870"/>
            <a:chOff x="6560" y="-1567"/>
            <a:chExt cx="5438" cy="5258"/>
          </a:xfrm>
        </p:grpSpPr>
        <p:sp>
          <p:nvSpPr>
            <p:cNvPr id="12" name="Freeform 13"/>
            <p:cNvSpPr/>
            <p:nvPr>
              <p:custDataLst>
                <p:tags r:id="rId2"/>
              </p:custDataLst>
            </p:nvPr>
          </p:nvSpPr>
          <p:spPr>
            <a:xfrm>
              <a:off x="6607" y="-1489"/>
              <a:ext cx="5345" cy="5102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zh-CN" altLang="en-US" dirty="0"/>
            </a:p>
          </p:txBody>
        </p:sp>
        <p:pic>
          <p:nvPicPr>
            <p:cNvPr id="49" name="图片 48" descr="u=2878896961,2728261761&amp;fm=253&amp;fmt=auto&amp;app=138&amp;f=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0" y="-1567"/>
              <a:ext cx="5439" cy="5259"/>
            </a:xfrm>
            <a:prstGeom prst="rect">
              <a:avLst/>
            </a:prstGeom>
          </p:spPr>
        </p:pic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554200" y="600075"/>
            <a:ext cx="2736215" cy="86995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>
            <p:custDataLst>
              <p:tags r:id="rId5"/>
            </p:custDataLst>
          </p:nvPr>
        </p:nvGraphicFramePr>
        <p:xfrm>
          <a:off x="1066800" y="2095500"/>
          <a:ext cx="16505555" cy="747395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769870"/>
                <a:gridCol w="11121390"/>
                <a:gridCol w="2614295"/>
              </a:tblGrid>
              <a:tr h="83121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80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endParaRPr 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</a:t>
                      </a:r>
                      <a:endParaRPr 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80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endParaRPr 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</a:tr>
              <a:tr h="8299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3.11-3.22</a:t>
                      </a:r>
                      <a:endParaRPr 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学习</a:t>
                      </a: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pcb(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电路板</a:t>
                      </a: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绘制，绘制封装</a:t>
                      </a: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PD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所需的电路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板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8305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3.23-4.5</a:t>
                      </a: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元器件焊接，对电路板进行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测试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row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4.6-4.19</a:t>
                      </a: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831215"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开题报告的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撰写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4.20-5.3</a:t>
                      </a: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830580">
                <a:tc vMerge="1"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WPF-FBG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实验，使用</a:t>
                      </a: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FPGA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对微环的电压控制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PC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对</a:t>
                      </a: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VNA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数据的采集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82931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5.4-5.17</a:t>
                      </a: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WPF-FBG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实验的自动化测试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rowSpan="2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83121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5.18-6.7</a:t>
                      </a: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2800" spc="6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基于参考光栅的</a:t>
                      </a: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AWG-FBG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实验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82931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6.8-6.21</a:t>
                      </a: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</a:tr>
              <a:tr h="0">
                <a:tc vMerge="1">
                  <a:tcPr marL="25400" marR="25400" marT="6350" marB="635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提高系统的传输</a:t>
                      </a:r>
                      <a:r>
                        <a:rPr lang="zh-CN" alt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速率</a:t>
                      </a:r>
                      <a:endParaRPr lang="zh-CN" altLang="en-US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  <a:tr h="83058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6.22-</a:t>
                      </a:r>
                      <a:r>
                        <a:rPr lang="en-US" sz="2800" spc="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7.6</a:t>
                      </a:r>
                      <a:endParaRPr lang="en-US" altLang="zh-CN" sz="2800" spc="6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  <a:tc vMerge="1">
                  <a:tcPr marL="25400" marR="25400" marT="6350" marB="63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1299*588"/>
  <p:tag name="TABLE_ENDDRAG_RECT" val="102*159*1299*588"/>
</p:tagLst>
</file>

<file path=ppt/tags/tag4.xml><?xml version="1.0" encoding="utf-8"?>
<p:tagLst xmlns:p="http://schemas.openxmlformats.org/presentationml/2006/main">
  <p:tag name="KSO_WPP_MARK_KEY" val="ed1b427f-5fbd-4749-9247-dc00e377406d"/>
  <p:tag name="COMMONDATA" val="eyJoZGlkIjoiNzZkNzhlYjZhZTFjNWRmYmExODA3M2RkM2RlOGQ4MzIifQ=="/>
</p:tagLst>
</file>

<file path=ppt/theme/theme1.xml><?xml version="1.0" encoding="utf-8"?>
<a:theme xmlns:a="http://schemas.openxmlformats.org/drawingml/2006/main" name="Office Theme">
  <a:themeElements>
    <a:clrScheme name="自定义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46713"/>
      </a:accent1>
      <a:accent2>
        <a:srgbClr val="E46713"/>
      </a:accent2>
      <a:accent3>
        <a:srgbClr val="E46713"/>
      </a:accent3>
      <a:accent4>
        <a:srgbClr val="E46713"/>
      </a:accent4>
      <a:accent5>
        <a:srgbClr val="E46713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3C87"/>
      </a:accent1>
      <a:accent2>
        <a:srgbClr val="003C87"/>
      </a:accent2>
      <a:accent3>
        <a:srgbClr val="003C87"/>
      </a:accent3>
      <a:accent4>
        <a:srgbClr val="003C87"/>
      </a:accent4>
      <a:accent5>
        <a:srgbClr val="003C87"/>
      </a:accent5>
      <a:accent6>
        <a:srgbClr val="003C8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WPS 演示</Application>
  <PresentationFormat>自定义</PresentationFormat>
  <Paragraphs>143</Paragraphs>
  <Slides>11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蓝灰色理工科论文答辩通用模板简约教育分享中文演示文稿</dc:title>
  <dc:creator/>
  <cp:lastModifiedBy>zzx</cp:lastModifiedBy>
  <cp:revision>86</cp:revision>
  <dcterms:created xsi:type="dcterms:W3CDTF">2006-08-16T00:00:00Z</dcterms:created>
  <dcterms:modified xsi:type="dcterms:W3CDTF">2026-03-11T05:48:34Z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14132DC2454443DDAAAA0793938FA15B_12</vt:lpwstr>
  </property>
</Properties>
</file>